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1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5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1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7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69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5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50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93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19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1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70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9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8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418" y="1012342"/>
            <a:ext cx="10515600" cy="4843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. Muta</a:t>
            </a:r>
            <a:r>
              <a:rPr lang="en-US" sz="2000" b="1" dirty="0" err="1"/>
              <a:t>tion</a:t>
            </a:r>
            <a:endParaRPr lang="ro-RO" sz="2000" b="1" dirty="0"/>
          </a:p>
          <a:p>
            <a:pPr marL="0" indent="0">
              <a:buNone/>
            </a:pPr>
            <a:endParaRPr lang="ro-RO" sz="2000" b="1" dirty="0"/>
          </a:p>
          <a:p>
            <a:r>
              <a:rPr lang="en-US" sz="2000" dirty="0"/>
              <a:t>With low probability; </a:t>
            </a:r>
            <a:r>
              <a:rPr lang="en-US" sz="2000" i="1" dirty="0"/>
              <a:t>pm</a:t>
            </a:r>
            <a:r>
              <a:rPr lang="en-US" sz="2000" dirty="0"/>
              <a:t> = mutation probability</a:t>
            </a:r>
            <a:br>
              <a:rPr lang="en-US" sz="2000" dirty="0"/>
            </a:br>
            <a:r>
              <a:rPr lang="en-US" sz="2000" dirty="0"/>
              <a:t>The problem uses permutation representations → </a:t>
            </a:r>
            <a:r>
              <a:rPr lang="en-US" sz="2000" dirty="0">
                <a:solidFill>
                  <a:srgbClr val="FF0000"/>
                </a:solidFill>
              </a:rPr>
              <a:t>mutation is applied at the individual level</a:t>
            </a:r>
          </a:p>
          <a:p>
            <a:r>
              <a:rPr lang="en-US" sz="2000" i="1" dirty="0">
                <a:solidFill>
                  <a:srgbClr val="FF0000"/>
                </a:solidFill>
              </a:rPr>
              <a:t>Pm = k / Dim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→ on average, the number of individuals undergoing mutation is </a:t>
            </a:r>
            <a:r>
              <a:rPr lang="en-US" sz="2000" i="1" dirty="0"/>
              <a:t>k</a:t>
            </a:r>
          </a:p>
          <a:p>
            <a:endParaRPr lang="en-US" sz="2000" dirty="0"/>
          </a:p>
          <a:p>
            <a:r>
              <a:rPr lang="en-US" sz="2000" dirty="0"/>
              <a:t>At the population level – general mutation scheme for unconstrained problems with permutation representation</a:t>
            </a:r>
          </a:p>
          <a:p>
            <a:r>
              <a:rPr lang="en-US" sz="2000" dirty="0"/>
              <a:t>At the individual level</a:t>
            </a:r>
            <a:br>
              <a:rPr lang="en-US" sz="2000" dirty="0"/>
            </a:br>
            <a:r>
              <a:rPr lang="en-US" sz="2000" dirty="0">
                <a:solidFill>
                  <a:srgbClr val="FF0000"/>
                </a:solidFill>
              </a:rPr>
              <a:t>The problem has adjacency dependency – mutation is performed through inversion</a:t>
            </a:r>
          </a:p>
          <a:p>
            <a:pPr lvl="1">
              <a:buFontTx/>
              <a:buChar char="-"/>
            </a:pPr>
            <a:endParaRPr lang="ro-RO" sz="20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TRAVELING SALESMAN PROBLEM - TSP</a:t>
            </a:r>
          </a:p>
        </p:txBody>
      </p:sp>
    </p:spTree>
    <p:extLst>
      <p:ext uri="{BB962C8B-B14F-4D97-AF65-F5344CB8AC3E}">
        <p14:creationId xmlns:p14="http://schemas.microsoft.com/office/powerpoint/2010/main" val="3936933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963" y="868219"/>
            <a:ext cx="10515600" cy="554889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VI. Crossover</a:t>
            </a:r>
            <a:endParaRPr lang="ro-RO" sz="2000" b="1" dirty="0"/>
          </a:p>
          <a:p>
            <a:pPr>
              <a:buFontTx/>
              <a:buChar char="-"/>
            </a:pPr>
            <a:endParaRPr lang="ro-RO" altLang="en-US" sz="2000" dirty="0"/>
          </a:p>
          <a:p>
            <a:r>
              <a:rPr lang="en-US" sz="2000" dirty="0"/>
              <a:t>With high probability; </a:t>
            </a:r>
            <a:r>
              <a:rPr lang="en-US" sz="2000" i="1" dirty="0"/>
              <a:t>pc</a:t>
            </a:r>
            <a:r>
              <a:rPr lang="en-US" sz="2000" dirty="0"/>
              <a:t> = crossover probability (0.6, 0.7, …)</a:t>
            </a:r>
            <a:br>
              <a:rPr lang="en-US" sz="2000" dirty="0"/>
            </a:br>
            <a:r>
              <a:rPr lang="en-US" sz="2000" dirty="0"/>
              <a:t>The generational model → </a:t>
            </a:r>
            <a:r>
              <a:rPr lang="en-US" sz="2000" dirty="0">
                <a:solidFill>
                  <a:srgbClr val="FF0000"/>
                </a:solidFill>
              </a:rPr>
              <a:t>it must ensure the generation of </a:t>
            </a:r>
            <a:r>
              <a:rPr lang="en-US" sz="2000" i="1" dirty="0">
                <a:solidFill>
                  <a:srgbClr val="FF0000"/>
                </a:solidFill>
              </a:rPr>
              <a:t>Dim</a:t>
            </a:r>
            <a:r>
              <a:rPr lang="en-US" sz="2000" dirty="0">
                <a:solidFill>
                  <a:srgbClr val="FF0000"/>
                </a:solidFill>
              </a:rPr>
              <a:t> offspring</a:t>
            </a:r>
          </a:p>
          <a:p>
            <a:r>
              <a:rPr lang="en-US" sz="2000" i="1" dirty="0"/>
              <a:t>Dim parents → Dim offspring</a:t>
            </a:r>
            <a:r>
              <a:rPr lang="en-US" sz="2000" dirty="0"/>
              <a:t> (with probability </a:t>
            </a:r>
            <a:r>
              <a:rPr lang="en-US" sz="2000" i="1" dirty="0"/>
              <a:t>pc</a:t>
            </a:r>
            <a:r>
              <a:rPr lang="en-US" sz="2000" dirty="0"/>
              <a:t>, the resulting individuals are new; the rest come directly from the parent population, through asexual recombination)</a:t>
            </a:r>
          </a:p>
          <a:p>
            <a:r>
              <a:rPr lang="en-US" sz="2000" dirty="0"/>
              <a:t>General scheme at the population level → for unconstrained problems</a:t>
            </a:r>
            <a:br>
              <a:rPr lang="en-US" sz="2000" dirty="0"/>
            </a:br>
            <a:r>
              <a:rPr lang="en-US" sz="2000" dirty="0"/>
              <a:t>The specific operator used, chosen for problems with adjacency dependency – </a:t>
            </a:r>
            <a:r>
              <a:rPr lang="en-US" sz="2000" b="1" dirty="0"/>
              <a:t>PMX (Partially Mapped Crossover)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TRAVELING SALESMAN PROBLEM - TSP</a:t>
            </a:r>
          </a:p>
        </p:txBody>
      </p:sp>
    </p:spTree>
    <p:extLst>
      <p:ext uri="{BB962C8B-B14F-4D97-AF65-F5344CB8AC3E}">
        <p14:creationId xmlns:p14="http://schemas.microsoft.com/office/powerpoint/2010/main" val="307419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171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Vera</dc:creator>
  <cp:lastModifiedBy>Lavinia Roxana Toma</cp:lastModifiedBy>
  <cp:revision>27</cp:revision>
  <dcterms:created xsi:type="dcterms:W3CDTF">2020-03-19T11:04:16Z</dcterms:created>
  <dcterms:modified xsi:type="dcterms:W3CDTF">2026-03-19T17:56:42Z</dcterms:modified>
</cp:coreProperties>
</file>