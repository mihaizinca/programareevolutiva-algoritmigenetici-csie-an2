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1304"/>
            <a:ext cx="10515600" cy="5845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b="1" dirty="0"/>
              <a:t>V. Muta</a:t>
            </a:r>
            <a:r>
              <a:rPr lang="en-US" sz="2000" b="1" dirty="0" err="1"/>
              <a:t>tion</a:t>
            </a:r>
            <a:endParaRPr lang="ro-RO" sz="2000" b="1" dirty="0"/>
          </a:p>
          <a:p>
            <a:pPr marL="0" indent="0">
              <a:buNone/>
            </a:pPr>
            <a:endParaRPr lang="ro-RO" sz="2000" b="1" dirty="0"/>
          </a:p>
          <a:p>
            <a:r>
              <a:rPr lang="en-US" sz="2000" dirty="0"/>
              <a:t>With low probability; </a:t>
            </a:r>
            <a:r>
              <a:rPr lang="en-US" sz="2000" i="1" dirty="0"/>
              <a:t>pm</a:t>
            </a:r>
            <a:r>
              <a:rPr lang="en-US" sz="2000" dirty="0"/>
              <a:t> = mutation probability</a:t>
            </a:r>
            <a:br>
              <a:rPr lang="en-US" sz="2000" dirty="0"/>
            </a:br>
            <a:r>
              <a:rPr lang="en-US" sz="2000" i="1" dirty="0"/>
              <a:t>Dim</a:t>
            </a:r>
            <a:r>
              <a:rPr lang="en-US" sz="2000" dirty="0"/>
              <a:t> = number of individuals → </a:t>
            </a:r>
            <a:r>
              <a:rPr lang="en-US" sz="2000" i="1" dirty="0">
                <a:solidFill>
                  <a:srgbClr val="FF0000"/>
                </a:solidFill>
              </a:rPr>
              <a:t>pm ∈ [1/(</a:t>
            </a:r>
            <a:r>
              <a:rPr lang="en-US" sz="2000" i="1" dirty="0" err="1">
                <a:solidFill>
                  <a:srgbClr val="FF0000"/>
                </a:solidFill>
              </a:rPr>
              <a:t>Dim·n</a:t>
            </a:r>
            <a:r>
              <a:rPr lang="en-US" sz="2000" i="1" dirty="0">
                <a:solidFill>
                  <a:srgbClr val="FF0000"/>
                </a:solidFill>
              </a:rPr>
              <a:t>), 1/n]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For constrained problems → </a:t>
            </a:r>
            <a:r>
              <a:rPr lang="en-US" sz="2000" i="1" dirty="0">
                <a:solidFill>
                  <a:srgbClr val="FF0000"/>
                </a:solidFill>
              </a:rPr>
              <a:t>pm</a:t>
            </a:r>
            <a:r>
              <a:rPr lang="en-US" sz="2000" dirty="0">
                <a:solidFill>
                  <a:srgbClr val="FF0000"/>
                </a:solidFill>
              </a:rPr>
              <a:t> is closer to </a:t>
            </a:r>
            <a:r>
              <a:rPr lang="en-US" sz="2000" i="1" dirty="0">
                <a:solidFill>
                  <a:srgbClr val="FF0000"/>
                </a:solidFill>
              </a:rPr>
              <a:t>1/n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At the population level – general mutation scheme for constrained problems</a:t>
            </a:r>
            <a:br>
              <a:rPr lang="en-US" sz="2000" dirty="0"/>
            </a:br>
            <a:r>
              <a:rPr lang="en-US" sz="2000" dirty="0"/>
              <a:t>If a result is infeasible, it is not considered and will not be replaced with another one – no additional mutation is applied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At the gene level:</a:t>
            </a:r>
          </a:p>
          <a:p>
            <a:r>
              <a:rPr lang="en-US" sz="2000" b="1" dirty="0"/>
              <a:t>0–1 problem</a:t>
            </a:r>
            <a:r>
              <a:rPr lang="en-US" sz="2000" dirty="0"/>
              <a:t> – </a:t>
            </a:r>
            <a:r>
              <a:rPr lang="en-US" sz="2000" dirty="0">
                <a:solidFill>
                  <a:srgbClr val="FF0000"/>
                </a:solidFill>
              </a:rPr>
              <a:t>bit flip</a:t>
            </a:r>
          </a:p>
          <a:p>
            <a:r>
              <a:rPr lang="en-US" sz="2000" b="1" dirty="0"/>
              <a:t>Continuous case problem</a:t>
            </a:r>
            <a:r>
              <a:rPr lang="en-US" sz="2000" dirty="0"/>
              <a:t> – </a:t>
            </a:r>
            <a:r>
              <a:rPr lang="en-US" sz="2000" dirty="0">
                <a:solidFill>
                  <a:srgbClr val="FF0000"/>
                </a:solidFill>
              </a:rPr>
              <a:t>non-uniform mutation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2191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1304"/>
            <a:ext cx="10515600" cy="58456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b="1" dirty="0"/>
              <a:t>VI. </a:t>
            </a:r>
            <a:r>
              <a:rPr lang="en-US" sz="2000" b="1" dirty="0"/>
              <a:t>Crossover</a:t>
            </a:r>
          </a:p>
          <a:p>
            <a:pPr>
              <a:buFontTx/>
              <a:buChar char="-"/>
            </a:pPr>
            <a:endParaRPr lang="ro-RO" sz="2000" dirty="0"/>
          </a:p>
          <a:p>
            <a:r>
              <a:rPr lang="en-US" sz="2200" dirty="0"/>
              <a:t>With high probability; </a:t>
            </a:r>
            <a:r>
              <a:rPr lang="en-US" sz="2200" i="1" dirty="0"/>
              <a:t>pc</a:t>
            </a:r>
            <a:r>
              <a:rPr lang="en-US" sz="2200" dirty="0"/>
              <a:t> = crossover probability (0.6, 0.7, …)</a:t>
            </a:r>
            <a:br>
              <a:rPr lang="en-US" sz="2200" dirty="0"/>
            </a:br>
            <a:r>
              <a:rPr lang="en-US" sz="2200" dirty="0"/>
              <a:t>The generational model → </a:t>
            </a:r>
            <a:r>
              <a:rPr lang="en-US" sz="2200" dirty="0">
                <a:solidFill>
                  <a:srgbClr val="FF0000"/>
                </a:solidFill>
              </a:rPr>
              <a:t>the generation of </a:t>
            </a:r>
            <a:r>
              <a:rPr lang="en-US" sz="2200" i="1" dirty="0">
                <a:solidFill>
                  <a:srgbClr val="FF0000"/>
                </a:solidFill>
              </a:rPr>
              <a:t>Dim</a:t>
            </a:r>
            <a:r>
              <a:rPr lang="en-US" sz="2200" dirty="0">
                <a:solidFill>
                  <a:srgbClr val="FF0000"/>
                </a:solidFill>
              </a:rPr>
              <a:t> offspring must be ensured</a:t>
            </a:r>
          </a:p>
          <a:p>
            <a:r>
              <a:rPr lang="en-US" sz="2200" dirty="0"/>
              <a:t>The problem has constraints → </a:t>
            </a:r>
            <a:r>
              <a:rPr lang="en-US" sz="2200" dirty="0">
                <a:solidFill>
                  <a:srgbClr val="FF0000"/>
                </a:solidFill>
              </a:rPr>
              <a:t>not all offspring are feasible</a:t>
            </a:r>
            <a:br>
              <a:rPr lang="en-US" sz="2200" dirty="0"/>
            </a:br>
            <a:r>
              <a:rPr lang="en-US" sz="2200" dirty="0"/>
              <a:t>If an offspring is not feasible, it is replaced by its parent</a:t>
            </a:r>
            <a:br>
              <a:rPr lang="en-US" sz="2200" dirty="0"/>
            </a:br>
            <a:r>
              <a:rPr lang="en-US" sz="2200" dirty="0"/>
              <a:t>Asexual recombination is implemented</a:t>
            </a:r>
          </a:p>
          <a:p>
            <a:r>
              <a:rPr lang="en-US" sz="2200" dirty="0"/>
              <a:t>At the population level – general crossover scheme for constrained problems (if a result is infeasible, it is not considered and its parent is propagated further)</a:t>
            </a:r>
          </a:p>
          <a:p>
            <a:r>
              <a:rPr lang="en-US" sz="2200" dirty="0"/>
              <a:t>At the parent pair level:</a:t>
            </a:r>
          </a:p>
          <a:p>
            <a:r>
              <a:rPr lang="en-US" sz="2200" b="1" dirty="0"/>
              <a:t>0–1 problem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FF0000"/>
                </a:solidFill>
              </a:rPr>
              <a:t>uniform crossover </a:t>
            </a:r>
            <a:r>
              <a:rPr lang="en-US" sz="2200" dirty="0"/>
              <a:t>(alternatively, one-point or multi-point crossover could also be used)</a:t>
            </a:r>
          </a:p>
          <a:p>
            <a:r>
              <a:rPr lang="en-US" sz="2200" b="1" dirty="0"/>
              <a:t>Continuous case problem</a:t>
            </a:r>
            <a:r>
              <a:rPr lang="en-US" sz="2200" dirty="0"/>
              <a:t> – </a:t>
            </a:r>
            <a:r>
              <a:rPr lang="en-US" sz="2200" dirty="0">
                <a:solidFill>
                  <a:srgbClr val="FF0000"/>
                </a:solidFill>
              </a:rPr>
              <a:t>simple or single arithmetic mean crossover. </a:t>
            </a:r>
            <a:r>
              <a:rPr lang="en-US" sz="2200" dirty="0"/>
              <a:t>Using the total mean is incorrect because the fitness function is linear.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683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231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Lavinia Roxana Toma</cp:lastModifiedBy>
  <cp:revision>23</cp:revision>
  <dcterms:created xsi:type="dcterms:W3CDTF">2020-03-19T11:04:16Z</dcterms:created>
  <dcterms:modified xsi:type="dcterms:W3CDTF">2026-03-19T17:59:59Z</dcterms:modified>
</cp:coreProperties>
</file>