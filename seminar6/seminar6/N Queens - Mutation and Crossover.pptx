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6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1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61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17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8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9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78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9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69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60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3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FDA91-A1AF-44FC-9E08-CE7DF184B86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3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210491" y="891693"/>
                <a:ext cx="8921931" cy="525344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2000" b="1" dirty="0">
                    <a:sym typeface="Wingdings" panose="05000000000000000000" pitchFamily="2" charset="2"/>
                  </a:rPr>
                  <a:t>V.</a:t>
                </a:r>
                <a:r>
                  <a:rPr lang="en-US" sz="2000" b="1" dirty="0"/>
                  <a:t> </a:t>
                </a:r>
                <a:r>
                  <a:rPr lang="ro-RO" sz="2000" b="1" dirty="0"/>
                  <a:t>Muta</a:t>
                </a:r>
                <a:r>
                  <a:rPr lang="en-US" sz="2000" b="1" dirty="0" err="1"/>
                  <a:t>tion</a:t>
                </a:r>
                <a:endParaRPr lang="ro-RO" sz="2000" b="1" dirty="0"/>
              </a:p>
              <a:p>
                <a:pPr>
                  <a:buFontTx/>
                  <a:buChar char="-"/>
                </a:pPr>
                <a:endParaRPr lang="ro-RO" sz="2000" dirty="0"/>
              </a:p>
              <a:p>
                <a:r>
                  <a:rPr lang="en-US" sz="1800" dirty="0"/>
                  <a:t>With low probability;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/>
                        </m:ctrlPr>
                      </m:sSubPr>
                      <m:e>
                        <m:r>
                          <a:rPr lang="ar-AE" sz="1800" i="1"/>
                          <m:t>𝑝</m:t>
                        </m:r>
                      </m:e>
                      <m:sub>
                        <m:r>
                          <a:rPr lang="ar-AE" sz="1800" i="1"/>
                          <m:t>𝑚</m:t>
                        </m:r>
                      </m:sub>
                    </m:sSub>
                  </m:oMath>
                </a14:m>
                <a:r>
                  <a:rPr lang="ar-AE" sz="1800" dirty="0"/>
                  <a:t>= </a:t>
                </a:r>
                <a:r>
                  <a:rPr lang="en-US" sz="1800" dirty="0"/>
                  <a:t>mutation probability</a:t>
                </a:r>
              </a:p>
              <a:p>
                <a:r>
                  <a:rPr lang="en-US" sz="1800" dirty="0"/>
                  <a:t>The issue with permutation-based representations → mutation is applied at the individual level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800"/>
                        </m:ctrlPr>
                      </m:sSubPr>
                      <m:e>
                        <m:r>
                          <a:rPr lang="ar-AE" sz="1800" i="1"/>
                          <m:t>𝑝</m:t>
                        </m:r>
                      </m:e>
                      <m:sub>
                        <m:r>
                          <a:rPr lang="ar-AE" sz="1800" i="1"/>
                          <m:t>𝑚</m:t>
                        </m:r>
                      </m:sub>
                    </m:sSub>
                    <m:r>
                      <a:rPr lang="ar-AE" sz="1800"/>
                      <m:t>=</m:t>
                    </m:r>
                    <m:r>
                      <a:rPr lang="ar-AE" sz="1800" i="1"/>
                      <m:t>𝑘</m:t>
                    </m:r>
                    <m:r>
                      <a:rPr lang="ar-AE" sz="1800"/>
                      <m:t>/</m:t>
                    </m:r>
                    <m:r>
                      <m:rPr>
                        <m:nor/>
                      </m:rPr>
                      <a:rPr lang="en-US" sz="1800" i="1"/>
                      <m:t>Dim</m:t>
                    </m:r>
                  </m:oMath>
                </a14:m>
                <a:r>
                  <a:rPr lang="en-US" sz="1800" dirty="0"/>
                  <a:t>→ on average, the number of individuals undergoing mutation is </a:t>
                </a:r>
                <a14:m>
                  <m:oMath xmlns:m="http://schemas.openxmlformats.org/officeDocument/2006/math">
                    <m:r>
                      <a:rPr lang="en-US" sz="1800" i="1"/>
                      <m:t>𝑘</m:t>
                    </m:r>
                  </m:oMath>
                </a14:m>
                <a:endParaRPr lang="en-US" sz="1800" dirty="0"/>
              </a:p>
              <a:p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/>
                  <a:t>At the population level</a:t>
                </a:r>
                <a:r>
                  <a:rPr lang="en-US" sz="1800" dirty="0"/>
                  <a:t> – general mutation scheme for unconstrained problems with permutation representation</a:t>
                </a:r>
              </a:p>
              <a:p>
                <a:pPr marL="0" indent="0">
                  <a:buNone/>
                </a:pPr>
                <a:endParaRPr lang="en-US" sz="1800" b="1"/>
              </a:p>
              <a:p>
                <a:pPr marL="0" indent="0">
                  <a:buNone/>
                </a:pPr>
                <a:r>
                  <a:rPr lang="en-US" sz="1800" b="1"/>
                  <a:t>At </a:t>
                </a:r>
                <a:r>
                  <a:rPr lang="en-US" sz="1800" b="1" dirty="0"/>
                  <a:t>the individual level</a:t>
                </a:r>
                <a:endParaRPr lang="en-US" sz="1800" dirty="0"/>
              </a:p>
              <a:p>
                <a:r>
                  <a:rPr lang="en-US" sz="1800" dirty="0"/>
                  <a:t>The problem is order-based → mutation by insertion (swap operator can also be used)</a:t>
                </a: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210491" y="891693"/>
                <a:ext cx="8921931" cy="5253446"/>
              </a:xfrm>
              <a:blipFill>
                <a:blip r:embed="rId2"/>
                <a:stretch>
                  <a:fillRect l="-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32411" y="348343"/>
            <a:ext cx="937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 Queens Problem</a:t>
            </a:r>
          </a:p>
        </p:txBody>
      </p:sp>
    </p:spTree>
    <p:extLst>
      <p:ext uri="{BB962C8B-B14F-4D97-AF65-F5344CB8AC3E}">
        <p14:creationId xmlns:p14="http://schemas.microsoft.com/office/powerpoint/2010/main" val="1087031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3737" y="1301234"/>
            <a:ext cx="8229600" cy="4985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 b="1" dirty="0">
                <a:sym typeface="Wingdings" panose="05000000000000000000" pitchFamily="2" charset="2"/>
              </a:rPr>
              <a:t>V</a:t>
            </a:r>
            <a:r>
              <a:rPr lang="en-US" sz="2400" b="1" dirty="0">
                <a:sym typeface="Wingdings" panose="05000000000000000000" pitchFamily="2" charset="2"/>
              </a:rPr>
              <a:t>I</a:t>
            </a:r>
            <a:r>
              <a:rPr lang="ro-RO" sz="2400" b="1" dirty="0">
                <a:sym typeface="Wingdings" panose="05000000000000000000" pitchFamily="2" charset="2"/>
              </a:rPr>
              <a:t>.</a:t>
            </a:r>
            <a:r>
              <a:rPr lang="en-US" b="1" dirty="0"/>
              <a:t> </a:t>
            </a:r>
            <a:r>
              <a:rPr lang="ro-RO" sz="2000" b="1" dirty="0"/>
              <a:t>Recombinarea</a:t>
            </a:r>
          </a:p>
          <a:p>
            <a:pPr marL="457200" lvl="1" indent="0" algn="just">
              <a:buNone/>
            </a:pPr>
            <a:endParaRPr lang="ro-RO" altLang="en-US" sz="2600" dirty="0"/>
          </a:p>
          <a:p>
            <a:pPr marL="457200" lvl="1" indent="0" algn="just">
              <a:buNone/>
            </a:pPr>
            <a:r>
              <a:rPr lang="ro-RO" altLang="en-US" sz="2600" dirty="0"/>
              <a:t>- </a:t>
            </a:r>
            <a:r>
              <a:rPr lang="ro-RO" altLang="en-US" sz="2000" dirty="0"/>
              <a:t>Cu probabilitate mare; pc = probabilitatea de crossover ( 0.6,0.7…)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Modelul generațional </a:t>
            </a:r>
            <a:r>
              <a:rPr lang="ro-RO" altLang="en-US" sz="2000" dirty="0">
                <a:sym typeface="Wingdings" panose="05000000000000000000" pitchFamily="2" charset="2"/>
              </a:rPr>
              <a:t>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trebuie asigurată generarea a dim copii</a:t>
            </a:r>
            <a:endParaRPr lang="ro-RO" altLang="en-US" sz="2000" dirty="0">
              <a:solidFill>
                <a:srgbClr val="FF0000"/>
              </a:solidFill>
            </a:endParaRPr>
          </a:p>
          <a:p>
            <a:pPr lvl="1" algn="just">
              <a:buFontTx/>
              <a:buChar char="-"/>
            </a:pPr>
            <a:r>
              <a:rPr lang="ro-RO" altLang="en-US" sz="2000" dirty="0"/>
              <a:t>dim părinți</a:t>
            </a:r>
            <a:r>
              <a:rPr lang="ro-RO" altLang="en-US" sz="2000" dirty="0">
                <a:sym typeface="Wingdings" panose="05000000000000000000" pitchFamily="2" charset="2"/>
              </a:rPr>
              <a:t>dim copii : cu probabilitatea pc indivizii rezultați sunt noi, restul sunt chiar din populația de părinți, prin recombinare asexuată</a:t>
            </a:r>
          </a:p>
          <a:p>
            <a:pPr lvl="1" algn="just">
              <a:buFontTx/>
              <a:buChar char="-"/>
            </a:pPr>
            <a:endParaRPr lang="ro-RO" altLang="en-US" sz="2000" dirty="0">
              <a:sym typeface="Wingdings" panose="05000000000000000000" pitchFamily="2" charset="2"/>
            </a:endParaRPr>
          </a:p>
          <a:p>
            <a:pPr lvl="1"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Schema generală la nivel de populatie este pentru probleme fără constrângeri</a:t>
            </a:r>
          </a:p>
          <a:p>
            <a:pPr lvl="1"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Operatorul particular utilizat ține cont de faptul că problema este cu dependență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de ordine </a:t>
            </a:r>
            <a:r>
              <a:rPr lang="ro-RO" altLang="en-US" sz="2000" dirty="0">
                <a:sym typeface="Wingdings" panose="05000000000000000000" pitchFamily="2" charset="2"/>
              </a:rPr>
              <a:t>– </a:t>
            </a:r>
            <a:r>
              <a:rPr lang="ro-RO" altLang="en-US" sz="2000" b="1" dirty="0">
                <a:sym typeface="Wingdings" panose="05000000000000000000" pitchFamily="2" charset="2"/>
              </a:rPr>
              <a:t>OCX </a:t>
            </a:r>
            <a:r>
              <a:rPr lang="ro-RO" altLang="en-US" sz="2000" dirty="0">
                <a:sym typeface="Wingdings" panose="05000000000000000000" pitchFamily="2" charset="2"/>
              </a:rPr>
              <a:t>(order crossover – recombinare de ordine)</a:t>
            </a:r>
            <a:r>
              <a:rPr lang="en-US" altLang="en-US" sz="2000" dirty="0">
                <a:sym typeface="Wingdings" panose="05000000000000000000" pitchFamily="2" charset="2"/>
              </a:rPr>
              <a:t>; pot fi </a:t>
            </a:r>
            <a:r>
              <a:rPr lang="en-US" altLang="en-US" sz="2000" dirty="0" err="1">
                <a:sym typeface="Wingdings" panose="05000000000000000000" pitchFamily="2" charset="2"/>
              </a:rPr>
              <a:t>utiliza</a:t>
            </a:r>
            <a:r>
              <a:rPr lang="ro-RO" altLang="en-US" sz="2000" dirty="0">
                <a:sym typeface="Wingdings" panose="05000000000000000000" pitchFamily="2" charset="2"/>
              </a:rPr>
              <a:t>ți și CX sau PMX.</a:t>
            </a:r>
            <a:endParaRPr lang="ro-RO" alt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57074" y="396631"/>
            <a:ext cx="25805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N Queens Problem</a:t>
            </a:r>
          </a:p>
        </p:txBody>
      </p:sp>
    </p:spTree>
    <p:extLst>
      <p:ext uri="{BB962C8B-B14F-4D97-AF65-F5344CB8AC3E}">
        <p14:creationId xmlns:p14="http://schemas.microsoft.com/office/powerpoint/2010/main" val="2702116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178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Garamond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</dc:creator>
  <cp:lastModifiedBy>Lavinia Roxana Toma</cp:lastModifiedBy>
  <cp:revision>23</cp:revision>
  <dcterms:created xsi:type="dcterms:W3CDTF">2020-03-26T12:54:00Z</dcterms:created>
  <dcterms:modified xsi:type="dcterms:W3CDTF">2026-03-19T06:14:50Z</dcterms:modified>
</cp:coreProperties>
</file>