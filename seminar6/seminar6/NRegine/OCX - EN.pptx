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sldIdLst>
    <p:sldId id="393" r:id="rId2"/>
    <p:sldId id="412" r:id="rId3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51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AA429-E82A-4305-933C-CAE105F4E8E3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9988" y="1243013"/>
            <a:ext cx="4475162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4725"/>
            <a:ext cx="5453062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9302A-CA2B-499D-92B8-D24375EC0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5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839AA-D38C-4336-A36A-72D28A4136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1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OCX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228600" y="1371600"/>
                <a:ext cx="8229600" cy="49530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Order Crossover Operator (Order Crossover):</a:t>
                </a:r>
                <a:r>
                  <a:rPr lang="en-US" sz="1800" dirty="0"/>
                  <a:t> problems in which the genotype space is defined by a set of permutations representing the order of occurrence of certain events.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Step </a:t>
                </a:r>
                <a:r>
                  <a:rPr lang="ro-RO" sz="1800" dirty="0"/>
                  <a:t>1. </a:t>
                </a:r>
                <a:r>
                  <a:rPr lang="en-US" sz="1800" dirty="0"/>
                  <a:t>Randomly choose crossover points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, perform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fr-FR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, </m:t>
                    </m:r>
                    <m:r>
                      <a:rPr lang="ro-RO" sz="1800" i="1">
                        <a:latin typeface="Cambria Math"/>
                      </a:rPr>
                      <m:t>𝑝</m:t>
                    </m:r>
                    <m:r>
                      <a:rPr lang="fr-FR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fr-FR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fr-FR" sz="18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Steps </a:t>
                </a:r>
                <a:r>
                  <a:rPr lang="ro-RO" sz="1800" dirty="0"/>
                  <a:t>2. Cop</a:t>
                </a:r>
                <a:r>
                  <a:rPr lang="en-US" sz="1800" dirty="0"/>
                  <a:t>y into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the values from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that have not already been copied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in step 1</a:t>
                </a:r>
                <a:r>
                  <a:rPr lang="ro-RO" sz="1800" dirty="0"/>
                  <a:t>, </a:t>
                </a:r>
                <a:r>
                  <a:rPr lang="en-US" sz="1800" dirty="0"/>
                  <a:t>starting from gene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to gene</a:t>
                </a:r>
                <a:r>
                  <a:rPr lang="ro-RO" sz="1800" dirty="0"/>
                  <a:t> </a:t>
                </a:r>
                <a:r>
                  <a:rPr lang="ro-RO" sz="1800" i="1" dirty="0"/>
                  <a:t>m</a:t>
                </a:r>
                <a:r>
                  <a:rPr lang="ro-RO" sz="1800" dirty="0"/>
                  <a:t> </a:t>
                </a:r>
                <a:r>
                  <a:rPr lang="en-US" sz="1800" dirty="0"/>
                  <a:t>and then from position</a:t>
                </a:r>
                <a:r>
                  <a:rPr lang="ro-RO" sz="1800" dirty="0"/>
                  <a:t> 1 </a:t>
                </a:r>
                <a:r>
                  <a:rPr lang="en-US" sz="1800" dirty="0"/>
                  <a:t>to position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−1</m:t>
                    </m:r>
                  </m:oMath>
                </a14:m>
                <a:r>
                  <a:rPr lang="ro-RO" sz="1800" dirty="0"/>
                  <a:t> 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The second child is constructed in a </a:t>
                </a:r>
                <a:r>
                  <a:rPr lang="en-US" sz="1800" b="1"/>
                  <a:t>similar manner.</a:t>
                </a:r>
                <a:endParaRPr lang="ro-RO" sz="18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228600" y="1371600"/>
                <a:ext cx="8229600" cy="4953000"/>
              </a:xfrm>
              <a:blipFill>
                <a:blip r:embed="rId2"/>
                <a:stretch>
                  <a:fillRect l="-74" t="-615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350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6"/>
          <p:cNvSpPr>
            <a:spLocks noGrp="1"/>
          </p:cNvSpPr>
          <p:nvPr>
            <p:ph idx="1"/>
          </p:nvPr>
        </p:nvSpPr>
        <p:spPr>
          <a:xfrm>
            <a:off x="381001" y="838200"/>
            <a:ext cx="8763000" cy="5287963"/>
          </a:xfrm>
        </p:spPr>
        <p:txBody>
          <a:bodyPr/>
          <a:lstStyle/>
          <a:p>
            <a:pPr lvl="1"/>
            <a:endParaRPr lang="en-US" sz="2000" dirty="0">
              <a:latin typeface="Arial" charset="0"/>
            </a:endParaRPr>
          </a:p>
          <a:p>
            <a:pPr lvl="1"/>
            <a:r>
              <a:rPr lang="en-US" sz="2000" dirty="0">
                <a:latin typeface="Arial" charset="0"/>
              </a:rPr>
              <a:t>Example</a:t>
            </a:r>
          </a:p>
          <a:p>
            <a:pPr lvl="1"/>
            <a:r>
              <a:rPr lang="en-US" sz="2000" dirty="0">
                <a:latin typeface="Arial" charset="0"/>
              </a:rPr>
              <a:t>m=10, p1=4, p2=7</a:t>
            </a: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endParaRPr lang="en-US" sz="2000" dirty="0">
              <a:latin typeface="Arial" charset="0"/>
            </a:endParaRPr>
          </a:p>
          <a:p>
            <a:pPr lvl="1"/>
            <a:r>
              <a:rPr lang="en-US" sz="2000" dirty="0">
                <a:latin typeface="Arial" charset="0"/>
              </a:rPr>
              <a:t>(4,10,1,7,8,2,5,9,6,3)</a:t>
            </a:r>
            <a:endParaRPr lang="ro-RO" sz="2000" dirty="0">
              <a:latin typeface="Arial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57187" y="2971800"/>
          <a:ext cx="3652838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653278" imgH="1493196" progId="Visio.Drawing.11">
                  <p:embed/>
                </p:oleObj>
              </mc:Choice>
              <mc:Fallback>
                <p:oleObj name="Visio" r:id="rId3" imgW="3653278" imgH="1493196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" y="2971800"/>
                        <a:ext cx="3652838" cy="149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173537" y="2971800"/>
          <a:ext cx="4589463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589289" imgH="1493196" progId="Visio.Drawing.11">
                  <p:embed/>
                </p:oleObj>
              </mc:Choice>
              <mc:Fallback>
                <p:oleObj name="Visio" r:id="rId5" imgW="4589289" imgH="1493196" progId="Visio.Drawing.11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7" y="2971800"/>
                        <a:ext cx="4589463" cy="149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14600" y="3514725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13303" imgH="413155" progId="Visio.Drawing.11">
                  <p:embed/>
                </p:oleObj>
              </mc:Choice>
              <mc:Fallback>
                <p:oleObj name="Visio" r:id="rId7" imgW="413303" imgH="413155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14725"/>
                        <a:ext cx="412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867025" y="3514725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413303" imgH="413155" progId="Visio.Drawing.11">
                  <p:embed/>
                </p:oleObj>
              </mc:Choice>
              <mc:Fallback>
                <p:oleObj name="Visio" r:id="rId9" imgW="413303" imgH="413155" progId="Visio.Drawing.11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3514725"/>
                        <a:ext cx="412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52425" y="3514725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413303" imgH="413155" progId="Visio.Drawing.11">
                  <p:embed/>
                </p:oleObj>
              </mc:Choice>
              <mc:Fallback>
                <p:oleObj name="Visio" r:id="rId11" imgW="413303" imgH="413155" progId="Visio.Drawing.11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" y="3514725"/>
                        <a:ext cx="412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076325" y="3514725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413303" imgH="413155" progId="Visio.Drawing.11">
                  <p:embed/>
                </p:oleObj>
              </mc:Choice>
              <mc:Fallback>
                <p:oleObj name="Visio" r:id="rId13" imgW="413303" imgH="413155" progId="Visio.Drawing.11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3514725"/>
                        <a:ext cx="412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428750" y="3514725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413303" imgH="413155" progId="Visio.Drawing.11">
                  <p:embed/>
                </p:oleObj>
              </mc:Choice>
              <mc:Fallback>
                <p:oleObj name="Visio" r:id="rId15" imgW="413303" imgH="413155" progId="Visio.Drawing.11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514725"/>
                        <a:ext cx="412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152650" y="3514725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7" imgW="413303" imgH="413155" progId="Visio.Drawing.11">
                  <p:embed/>
                </p:oleObj>
              </mc:Choice>
              <mc:Fallback>
                <p:oleObj name="Visio" r:id="rId17" imgW="413303" imgH="413155" progId="Visio.Drawing.11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3514725"/>
                        <a:ext cx="412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928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0278 L 0.2783 -0.00278 C 0.40399 -0.00278 0.55868 -0.02384 0.55868 -0.04074 L 0.55868 -0.0787 " pathEditMode="relative" rAng="0" ptsTypes="FfFF"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38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278 L 0.28021 -0.00278 C 0.40521 -0.00278 0.55938 -0.02407 0.55938 -0.04074 L 0.55938 -0.0787 " pathEditMode="relative" rAng="0" ptsTypes="FfFF">
                                      <p:cBhvr>
                                        <p:cTn id="3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17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278 L 0.43715 -0.00278 C 0.63264 -0.00278 0.87327 -0.02407 0.87327 -0.04074 L 0.87327 -0.0787 " pathEditMode="relative" rAng="0" ptsTypes="FfFF">
                                      <p:cBhvr>
                                        <p:cTn id="4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611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-0.00278 L 0.21944 -0.00278 C 0.31875 -0.00278 0.44097 -0.02384 0.44097 -0.04074 L 0.44097 -0.0787 " pathEditMode="relative" rAng="0" ptsTypes="FfFF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53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278 L 0.21892 -0.00278 C 0.31858 -0.00278 0.44201 -0.02384 0.44201 -0.04074 L 0.44201 -0.0787 " pathEditMode="relative" rAng="0" ptsTypes="FfFF"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09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278 L 0.20121 -0.00278 C 0.29097 -0.00278 0.40139 -0.02384 0.40139 -0.04074 L 0.40139 -0.0787 " pathEditMode="relative" rAng="0" ptsTypes="FfFF">
                                      <p:cBhvr>
                                        <p:cTn id="6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17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bldLvl="2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3893</TotalTime>
  <Words>116</Words>
  <Application>Microsoft Office PowerPoint</Application>
  <PresentationFormat>On-screen Show (4:3)</PresentationFormat>
  <Paragraphs>21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Arial Black</vt:lpstr>
      <vt:lpstr>Calibri</vt:lpstr>
      <vt:lpstr>Cambria Math</vt:lpstr>
      <vt:lpstr>Garamond</vt:lpstr>
      <vt:lpstr>Times New Roman</vt:lpstr>
      <vt:lpstr>Wingdings</vt:lpstr>
      <vt:lpstr>Pixel</vt:lpstr>
      <vt:lpstr>Visio</vt:lpstr>
      <vt:lpstr>OCX Operator</vt:lpstr>
      <vt:lpstr>PowerPoint Presentation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Lavinia Roxana Toma</cp:lastModifiedBy>
  <cp:revision>406</cp:revision>
  <dcterms:created xsi:type="dcterms:W3CDTF">2007-06-04T09:28:42Z</dcterms:created>
  <dcterms:modified xsi:type="dcterms:W3CDTF">2026-03-19T05:41:23Z</dcterms:modified>
</cp:coreProperties>
</file>