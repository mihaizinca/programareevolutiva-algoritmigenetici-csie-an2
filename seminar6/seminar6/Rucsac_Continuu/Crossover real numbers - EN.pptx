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211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3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0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53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86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0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43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1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80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02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71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6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DB57F-297A-4D75-AA60-61A6BA64886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0871B-0813-4E2F-B3C1-147121991C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900" y="3810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/>
              <a:t>Recombina</a:t>
            </a:r>
            <a:r>
              <a:rPr lang="en-US" altLang="en-US" sz="2600" b="1" dirty="0" err="1"/>
              <a:t>tion</a:t>
            </a:r>
            <a:r>
              <a:rPr lang="en-US" altLang="en-US" sz="2600" b="1" dirty="0"/>
              <a:t> in real-number representation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866900" y="1156216"/>
                <a:ext cx="8229600" cy="47244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Discrete recombination </a:t>
                </a:r>
                <a:r>
                  <a:rPr lang="en-US" sz="1800" b="1" dirty="0">
                    <a:sym typeface="Wingdings" panose="05000000000000000000" pitchFamily="2" charset="2"/>
                  </a:rPr>
                  <a:t></a:t>
                </a:r>
                <a:r>
                  <a:rPr lang="ro-RO" sz="1800" dirty="0"/>
                  <a:t> similar</a:t>
                </a:r>
                <a:r>
                  <a:rPr lang="en-US" sz="1800" dirty="0"/>
                  <a:t> to uniform recombination</a:t>
                </a: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</a:t>
                </a:r>
                <a:r>
                  <a:rPr lang="en-US" sz="1800" dirty="0" err="1"/>
                  <a:t>isadvantage</a:t>
                </a:r>
                <a:r>
                  <a:rPr lang="ro-RO" sz="1800" dirty="0"/>
                  <a:t>: n</a:t>
                </a:r>
                <a:r>
                  <a:rPr lang="en-US" sz="1800" dirty="0"/>
                  <a:t>o new values are generated for the genes of the offspring </a:t>
                </a:r>
                <a:r>
                  <a:rPr lang="en-US" sz="1800" dirty="0" err="1"/>
                  <a:t>cromosomes</a:t>
                </a:r>
                <a:r>
                  <a:rPr lang="en-US" sz="1800" dirty="0"/>
                  <a:t>.</a:t>
                </a:r>
                <a:endParaRPr lang="ro-RO" sz="1800" dirty="0"/>
              </a:p>
              <a:p>
                <a:pPr marL="0" indent="0" algn="just">
                  <a:buNone/>
                </a:pPr>
                <a:endParaRPr lang="ro-RO" sz="1800" i="1" dirty="0"/>
              </a:p>
              <a:p>
                <a:pPr marL="0" indent="0" algn="just">
                  <a:buNone/>
                </a:pPr>
                <a:r>
                  <a:rPr lang="ro-RO" sz="1800" i="1" dirty="0"/>
                  <a:t>m</a:t>
                </a:r>
                <a:r>
                  <a:rPr lang="ro-RO" sz="1800" dirty="0"/>
                  <a:t> l</a:t>
                </a:r>
                <a:r>
                  <a:rPr lang="en-US" sz="1800" dirty="0" err="1"/>
                  <a:t>ength</a:t>
                </a:r>
                <a:r>
                  <a:rPr lang="en-US" sz="1800" dirty="0"/>
                  <a:t> of a chromosome</a:t>
                </a:r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𝛼</m:t>
                    </m:r>
                    <m:r>
                      <a:rPr lang="ro-RO" sz="1800" i="1">
                        <a:latin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0,1</m:t>
                        </m:r>
                      </m:e>
                    </m:d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p</a:t>
                </a:r>
                <a:r>
                  <a:rPr lang="en-US" sz="1800" dirty="0" err="1"/>
                  <a:t>arents</a:t>
                </a:r>
                <a:r>
                  <a:rPr lang="ro-RO" sz="1800" dirty="0"/>
                  <a:t> </a:t>
                </a:r>
                <a:r>
                  <a:rPr lang="ro-RO" sz="1800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1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children</a:t>
                </a: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Simple arithmetic recombination</a:t>
                </a:r>
                <a:r>
                  <a:rPr lang="ro-RO" sz="1800" dirty="0"/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Algorit</a:t>
                </a:r>
                <a:r>
                  <a:rPr lang="en-US" sz="1800" dirty="0"/>
                  <a:t>hm</a:t>
                </a:r>
                <a:r>
                  <a:rPr lang="ro-RO" sz="18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Select a gene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, 1≤</m:t>
                    </m:r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</m:oMath>
                </a14:m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Copy the first </a:t>
                </a:r>
                <a:r>
                  <a:rPr lang="ro-RO" sz="1800" i="1" dirty="0"/>
                  <a:t>i</a:t>
                </a:r>
                <a:r>
                  <a:rPr lang="en-US" sz="1800" dirty="0"/>
                  <a:t>-1</a:t>
                </a:r>
                <a:r>
                  <a:rPr lang="ro-RO" sz="1800" dirty="0"/>
                  <a:t> element</a:t>
                </a:r>
                <a:r>
                  <a:rPr lang="en-US" sz="1800" dirty="0"/>
                  <a:t>s from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/>
                  <a:t>, respectiv</a:t>
                </a:r>
                <a:r>
                  <a:rPr lang="en-US" sz="1800" dirty="0" err="1"/>
                  <a:t>ely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into</m:t>
                    </m:r>
                  </m:oMath>
                </a14:m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, re</a:t>
                </a:r>
                <a:r>
                  <a:rPr lang="en-US" sz="1800" dirty="0" err="1"/>
                  <a:t>spectively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75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75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750" i="1">
                        <a:latin typeface="Cambria Math"/>
                      </a:rPr>
                      <m:t>=</m:t>
                    </m:r>
                    <m:r>
                      <a:rPr lang="ro-RO" sz="1750" i="1"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75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75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75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1−</m:t>
                        </m:r>
                        <m:r>
                          <a:rPr lang="ro-RO" sz="1750" i="1">
                            <a:latin typeface="Cambria Math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75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75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750" i="1">
                        <a:latin typeface="Cambria Math"/>
                      </a:rPr>
                      <m:t>; </m:t>
                    </m:r>
                    <m:sSub>
                      <m:sSub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75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75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750" i="1">
                        <a:latin typeface="Cambria Math"/>
                      </a:rPr>
                      <m:t>=</m:t>
                    </m:r>
                    <m:r>
                      <a:rPr lang="ro-RO" sz="1750" i="1"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75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75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75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1−</m:t>
                        </m:r>
                        <m:r>
                          <a:rPr lang="ro-RO" sz="1750" i="1">
                            <a:latin typeface="Cambria Math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75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75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7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750" i="1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ro-RO" sz="1750" i="1">
                        <a:latin typeface="Cambria Math"/>
                      </a:rPr>
                      <m:t>, </m:t>
                    </m:r>
                    <m:r>
                      <a:rPr lang="ro-RO" sz="1750" i="1">
                        <a:latin typeface="Cambria Math"/>
                      </a:rPr>
                      <m:t>𝑖</m:t>
                    </m:r>
                    <m:r>
                      <a:rPr lang="ro-RO" sz="1750" i="1">
                        <a:latin typeface="Cambria Math"/>
                      </a:rPr>
                      <m:t>≤</m:t>
                    </m:r>
                    <m:r>
                      <a:rPr lang="ro-RO" sz="1750" i="1">
                        <a:latin typeface="Cambria Math"/>
                      </a:rPr>
                      <m:t>𝑝</m:t>
                    </m:r>
                    <m:r>
                      <a:rPr lang="ro-RO" sz="1750" i="1">
                        <a:latin typeface="Cambria Math"/>
                      </a:rPr>
                      <m:t>≤</m:t>
                    </m:r>
                    <m:r>
                      <a:rPr lang="ro-RO" sz="1750" i="1">
                        <a:latin typeface="Cambria Math"/>
                      </a:rPr>
                      <m:t>𝑚</m:t>
                    </m:r>
                  </m:oMath>
                </a14:m>
                <a:endParaRPr lang="ro-RO" sz="175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en-US" sz="16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16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866900" y="1156216"/>
                <a:ext cx="8229600" cy="4724400"/>
              </a:xfrm>
              <a:blipFill>
                <a:blip r:embed="rId2"/>
                <a:stretch>
                  <a:fillRect l="-593" t="-1419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419879"/>
              </p:ext>
            </p:extLst>
          </p:nvPr>
        </p:nvGraphicFramePr>
        <p:xfrm>
          <a:off x="1929606" y="3610208"/>
          <a:ext cx="8332788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3331" imgH="2753198" progId="Visio.Drawing.11">
                  <p:embed/>
                </p:oleObj>
              </mc:Choice>
              <mc:Fallback>
                <p:oleObj name="Visio" r:id="rId3" imgW="8333331" imgH="2753198" progId="Visio.Drawing.11">
                  <p:embed/>
                  <p:pic>
                    <p:nvPicPr>
                      <p:cNvPr id="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9606" y="3610208"/>
                        <a:ext cx="8332788" cy="2752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0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794707" y="590550"/>
                <a:ext cx="8229600" cy="5486400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Single arithmetic recombination</a:t>
                </a:r>
                <a:r>
                  <a:rPr lang="ro-RO" sz="1800" b="1" dirty="0"/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Algoritm: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selectează aleator o genă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, 1≤</m:t>
                    </m:r>
                    <m:r>
                      <a:rPr lang="ro-RO" sz="1800" i="1">
                        <a:latin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</a:rPr>
                      <m:t>𝑚</m:t>
                    </m:r>
                  </m:oMath>
                </a14:m>
                <a:endParaRPr lang="ro-RO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copiază primele </a:t>
                </a:r>
                <a:r>
                  <a:rPr lang="ro-RO" sz="1800" i="1" dirty="0"/>
                  <a:t>i</a:t>
                </a:r>
                <a:r>
                  <a:rPr lang="en-US" sz="1800" dirty="0"/>
                  <a:t>-1</a:t>
                </a:r>
                <a:r>
                  <a:rPr lang="ro-RO" sz="1800" dirty="0"/>
                  <a:t>, respectiv ultimele </a:t>
                </a:r>
                <a:r>
                  <a:rPr lang="ro-RO" sz="1800" i="1" dirty="0"/>
                  <a:t>m-i</a:t>
                </a:r>
                <a:r>
                  <a:rPr lang="ro-RO" sz="1800" dirty="0"/>
                  <a:t> elemente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/>
                  <a:t>, 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/>
                  <a:t>în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/>
                  <a:t>, 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1−</m:t>
                        </m:r>
                        <m:r>
                          <a:rPr lang="ro-RO" sz="1800" i="1">
                            <a:latin typeface="Cambria Math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;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𝛼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1−</m:t>
                        </m:r>
                        <m:r>
                          <a:rPr lang="ro-RO" sz="1800" i="1">
                            <a:latin typeface="Cambria Math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endParaRPr lang="en-US" sz="1800" dirty="0"/>
              </a:p>
              <a:p>
                <a:pPr marL="457200" lvl="1" indent="0" algn="just">
                  <a:buNone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Whole arithmetic recombination</a:t>
                </a:r>
                <a:endParaRPr lang="ro-RO" sz="1800" b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r>
                        <a:rPr lang="ro-RO" sz="1800" i="1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1−</m:t>
                          </m:r>
                          <m:r>
                            <a:rPr lang="ro-RO" sz="1800" i="1">
                              <a:latin typeface="Cambria Math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r>
                        <a:rPr lang="ro-RO" sz="1800" i="1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1−</m:t>
                          </m:r>
                          <m:r>
                            <a:rPr lang="ro-RO" sz="1800" i="1">
                              <a:latin typeface="Cambria Math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,</m:t>
                      </m:r>
                      <m:r>
                        <a:rPr lang="ro-RO" sz="18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ro-RO" sz="1800" i="1">
                          <a:latin typeface="Cambria Math"/>
                        </a:rPr>
                        <m:t>1≤</m:t>
                      </m:r>
                      <m:r>
                        <a:rPr lang="ro-RO" sz="1800" i="1">
                          <a:latin typeface="Cambria Math"/>
                        </a:rPr>
                        <m:t>𝑖</m:t>
                      </m:r>
                      <m:r>
                        <a:rPr lang="ro-RO" sz="1800" i="1">
                          <a:latin typeface="Cambria Math"/>
                        </a:rPr>
                        <m:t>≤</m:t>
                      </m:r>
                      <m:r>
                        <a:rPr lang="ro-RO" sz="1800" i="1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lvl="1" algn="just">
                  <a:buFont typeface="Wingdings" panose="05000000000000000000" pitchFamily="2" charset="2"/>
                  <a:buChar char="q"/>
                </a:pPr>
                <a:endParaRPr lang="ro-RO" sz="16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794707" y="590550"/>
                <a:ext cx="8229600" cy="5486400"/>
              </a:xfrm>
              <a:blipFill>
                <a:blip r:embed="rId2"/>
                <a:stretch>
                  <a:fillRect l="-444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825861"/>
              </p:ext>
            </p:extLst>
          </p:nvPr>
        </p:nvGraphicFramePr>
        <p:xfrm>
          <a:off x="1846082" y="980716"/>
          <a:ext cx="8332788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33331" imgH="2753198" progId="Visio.Drawing.11">
                  <p:embed/>
                </p:oleObj>
              </mc:Choice>
              <mc:Fallback>
                <p:oleObj name="Visio" r:id="rId3" imgW="8333331" imgH="2753198" progId="Visio.Drawing.11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082" y="980716"/>
                        <a:ext cx="8332788" cy="2752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713507"/>
              </p:ext>
            </p:extLst>
          </p:nvPr>
        </p:nvGraphicFramePr>
        <p:xfrm>
          <a:off x="1846082" y="4250287"/>
          <a:ext cx="8332788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8315417" imgH="2743002" progId="Visio.Drawing.11">
                  <p:embed/>
                </p:oleObj>
              </mc:Choice>
              <mc:Fallback>
                <p:oleObj name="Visio" r:id="rId5" imgW="8315417" imgH="2743002" progId="Visio.Drawing.11">
                  <p:embed/>
                  <p:pic>
                    <p:nvPicPr>
                      <p:cNvPr id="2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082" y="4250287"/>
                        <a:ext cx="8332788" cy="2752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234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194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Visio</vt:lpstr>
      <vt:lpstr>Recombination in real-number representation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Recombinarea în reprezentarea în numere reale</dc:title>
  <dc:creator>Catalina</dc:creator>
  <cp:lastModifiedBy>Lavinia Roxana Toma</cp:lastModifiedBy>
  <cp:revision>3</cp:revision>
  <dcterms:created xsi:type="dcterms:W3CDTF">2022-03-29T07:30:48Z</dcterms:created>
  <dcterms:modified xsi:type="dcterms:W3CDTF">2026-03-19T05:58:13Z</dcterms:modified>
</cp:coreProperties>
</file>