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"/>
  </p:notesMasterIdLst>
  <p:sldIdLst>
    <p:sldId id="427" r:id="rId2"/>
    <p:sldId id="413" r:id="rId3"/>
    <p:sldId id="414" r:id="rId4"/>
    <p:sldId id="415" r:id="rId5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46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AA429-E82A-4305-933C-CAE105F4E8E3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9988" y="1243013"/>
            <a:ext cx="4475162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4725"/>
            <a:ext cx="5453062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9302A-CA2B-499D-92B8-D24375EC0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5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8A464-CBBD-46EF-916C-F94F91424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7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9D355-B647-491B-B98A-E87E712D8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C4549-F086-4B3D-85C6-A4C5C74A0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9392-376C-42ED-B472-4CE3E609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58B8-7ABC-487C-8AFE-82F03791E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F6519-5001-4FF9-848F-7305CF455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C2F85-2599-451F-B8B2-832600078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1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6940-F289-4763-843B-976885DDE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AE45-71CE-4085-82FF-11ACD501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2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6AD17-FD54-4210-991F-E86B1B3F8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5EC44-6F90-461D-93F9-A499A2BDB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8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C64D7-A370-40E0-BD06-6004A548D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2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EA8E899-540B-4134-8F83-C0647B0C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PMX Operator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04800" y="1295400"/>
                <a:ext cx="8229600" cy="49530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(</a:t>
                </a:r>
                <a:r>
                  <a:rPr lang="ro-RO" sz="1800" b="1" dirty="0"/>
                  <a:t>P</a:t>
                </a:r>
                <a:r>
                  <a:rPr lang="ro-RO" sz="1800" dirty="0"/>
                  <a:t>artially </a:t>
                </a:r>
                <a:r>
                  <a:rPr lang="ro-RO" sz="1800" b="1" dirty="0"/>
                  <a:t>M</a:t>
                </a:r>
                <a:r>
                  <a:rPr lang="ro-RO" sz="1800" dirty="0"/>
                  <a:t>apped Crossover) –</a:t>
                </a:r>
                <a:r>
                  <a:rPr lang="en-US" sz="1800" dirty="0"/>
                  <a:t> problems with adjacency dependency</a:t>
                </a:r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,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/>
                  <a:t> p</a:t>
                </a:r>
                <a:r>
                  <a:rPr lang="en-US" sz="1800" dirty="0" err="1"/>
                  <a:t>arents</a:t>
                </a:r>
                <a:r>
                  <a:rPr lang="en-US" sz="1800" dirty="0"/>
                  <a:t> </a:t>
                </a:r>
                <a:r>
                  <a:rPr lang="en-US" sz="1800" dirty="0">
                    <a:sym typeface="Wingdings" panose="05000000000000000000" pitchFamily="2" charset="2"/>
                  </a:rPr>
                  <a:t>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children</a:t>
                </a: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crossover points</a:t>
                </a:r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, </m:t>
                    </m:r>
                    <m:r>
                      <a:rPr lang="ro-RO" sz="1800" i="1">
                        <a:latin typeface="Cambria Math"/>
                      </a:rPr>
                      <m:t>𝑝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 elsewhere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2.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𝐴</m:t>
                    </m:r>
                    <m:r>
                      <a:rPr lang="fr-FR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𝑎</m:t>
                            </m:r>
                            <m:r>
                              <a:rPr lang="fr-FR" sz="18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𝑝</m:t>
                            </m:r>
                          </m:e>
                        </m:d>
                      </m:e>
                      <m:e>
                        <m:r>
                          <a:rPr lang="en-US" sz="1800" i="1">
                            <a:latin typeface="Cambria Math"/>
                          </a:rPr>
                          <m:t>𝑎</m:t>
                        </m:r>
                        <m:r>
                          <a:rPr lang="fr-FR" sz="180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𝑝</m:t>
                            </m:r>
                          </m:e>
                        </m:d>
                        <m:r>
                          <a:rPr lang="ro-RO" sz="1800" i="1">
                            <a:latin typeface="Cambria Math"/>
                          </a:rPr>
                          <m:t>, </m:t>
                        </m:r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  <m:r>
                          <a:rPr lang="fr-FR" sz="180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1800" i="1">
                        <a:latin typeface="Cambria Math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𝑎</m:t>
                            </m:r>
                            <m:r>
                              <a:rPr lang="fr-FR" sz="18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𝑝</m:t>
                            </m:r>
                          </m:e>
                        </m:d>
                      </m:e>
                      <m:e>
                        <m:r>
                          <a:rPr lang="en-US" sz="1800" i="1">
                            <a:latin typeface="Cambria Math"/>
                          </a:rPr>
                          <m:t>𝑎</m:t>
                        </m:r>
                        <m:r>
                          <a:rPr lang="fr-FR" sz="180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𝑝</m:t>
                            </m:r>
                          </m:e>
                        </m:d>
                        <m:r>
                          <a:rPr lang="ro-RO" sz="1800" i="1">
                            <a:latin typeface="Cambria Math"/>
                          </a:rPr>
                          <m:t>, </m:t>
                        </m:r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  <m:r>
                          <a:rPr lang="fr-FR" sz="180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3. Pla</a:t>
                </a:r>
                <a:r>
                  <a:rPr lang="en-US" sz="1800" dirty="0"/>
                  <a:t>cement of alleles from A</a:t>
                </a: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𝑎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∈</m:t>
                    </m:r>
                    <m:r>
                      <a:rPr lang="ro-RO" sz="1800" i="1">
                        <a:latin typeface="Cambria Math"/>
                      </a:rPr>
                      <m:t>𝐴</m:t>
                    </m:r>
                  </m:oMath>
                </a14:m>
                <a:r>
                  <a:rPr lang="ro-RO" sz="1800" dirty="0"/>
                  <a:t>, pla</a:t>
                </a:r>
                <a:r>
                  <a:rPr lang="en-US" sz="1800" dirty="0" err="1"/>
                  <a:t>ce</a:t>
                </a:r>
                <a:r>
                  <a:rPr lang="en-US" sz="1800" dirty="0"/>
                  <a:t> value </a:t>
                </a:r>
                <a:r>
                  <a:rPr lang="en-US" sz="1800" i="1" dirty="0"/>
                  <a:t>a</a:t>
                </a:r>
                <a:r>
                  <a:rPr lang="en-US" sz="1800" dirty="0"/>
                  <a:t> into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: 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ro-RO" sz="1800" dirty="0"/>
                  <a:t>,</a:t>
                </a:r>
                <a:r>
                  <a:rPr lang="en-US" sz="1800" dirty="0"/>
                  <a:t> find </a:t>
                </a:r>
                <a:r>
                  <a:rPr lang="en-US" sz="1800" i="1" dirty="0" err="1"/>
                  <a:t>i</a:t>
                </a:r>
                <a:r>
                  <a:rPr lang="en-US" sz="1800" dirty="0"/>
                  <a:t> such that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/>
                  <a:t>; placed=0</a:t>
                </a:r>
                <a:r>
                  <a:rPr lang="ro-RO" sz="1800" dirty="0"/>
                  <a:t> </a:t>
                </a:r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While not placed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If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ro-RO" sz="1800" dirty="0"/>
                  <a:t>, </a:t>
                </a:r>
                <a:r>
                  <a:rPr lang="en-US" sz="1800" dirty="0"/>
                  <a:t>then set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1800" dirty="0"/>
                  <a:t> and placed</a:t>
                </a:r>
                <a:r>
                  <a:rPr lang="ro-RO" sz="1800" dirty="0"/>
                  <a:t>=1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Otherwise let </a:t>
                </a:r>
                <a:r>
                  <a:rPr lang="ro-RO" sz="1800" dirty="0"/>
                  <a:t>c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, find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𝑗</m:t>
                    </m:r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such that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i="1">
                        <a:latin typeface="Cambria Math"/>
                      </a:rPr>
                      <m:t>𝑐</m:t>
                    </m:r>
                    <m:r>
                      <a:rPr lang="en-US" sz="1800" b="0" i="0" smtClean="0">
                        <a:latin typeface="Cambria Math"/>
                      </a:rPr>
                      <m:t>;</m:t>
                    </m:r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set </a:t>
                </a:r>
                <a:r>
                  <a:rPr lang="ro-RO" sz="1800" dirty="0"/>
                  <a:t>i=j .</a:t>
                </a: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4. </a:t>
                </a:r>
                <a:r>
                  <a:rPr lang="en-US" sz="1800" b="1" dirty="0"/>
                  <a:t>Placement of alleles outside A:</a:t>
                </a:r>
                <a:r>
                  <a:rPr lang="en-US" sz="1800" dirty="0"/>
                  <a:t> the remaining empty positions in the first offspring are filled, in order, with the alleles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/>
                        </m:ctrlPr>
                      </m:sSubPr>
                      <m:e>
                        <m:r>
                          <a:rPr lang="ar-AE" sz="1800" i="1"/>
                          <m:t>𝑦</m:t>
                        </m:r>
                      </m:e>
                      <m:sub>
                        <m:r>
                          <a:rPr lang="ar-AE" sz="1800" i="1"/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that have not yet been copied.</a:t>
                </a:r>
                <a:endParaRPr lang="ro-RO" sz="18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04800" y="1295400"/>
                <a:ext cx="8229600" cy="4953000"/>
              </a:xfrm>
              <a:blipFill>
                <a:blip r:embed="rId2"/>
                <a:stretch>
                  <a:fillRect l="-74" t="-739" b="-6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22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85762" y="2438400"/>
          <a:ext cx="3652838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653278" imgH="1493196" progId="Visio.Drawing.11">
                  <p:embed/>
                </p:oleObj>
              </mc:Choice>
              <mc:Fallback>
                <p:oleObj name="Visio" r:id="rId2" imgW="3653278" imgH="1493196" progId="Visio.Drawing.11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" y="2438400"/>
                        <a:ext cx="3652838" cy="149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858365"/>
              </p:ext>
            </p:extLst>
          </p:nvPr>
        </p:nvGraphicFramePr>
        <p:xfrm>
          <a:off x="4178011" y="2475011"/>
          <a:ext cx="4589463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589289" imgH="1493196" progId="Visio.Drawing.11">
                  <p:embed/>
                </p:oleObj>
              </mc:Choice>
              <mc:Fallback>
                <p:oleObj name="Visio" r:id="rId4" imgW="4589289" imgH="1493196" progId="Visio.Drawing.11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011" y="2475011"/>
                        <a:ext cx="4589463" cy="149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1381125" y="290512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Oval 8"/>
          <p:cNvSpPr/>
          <p:nvPr/>
        </p:nvSpPr>
        <p:spPr>
          <a:xfrm>
            <a:off x="6096000" y="237172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Oval 9"/>
          <p:cNvSpPr/>
          <p:nvPr/>
        </p:nvSpPr>
        <p:spPr>
          <a:xfrm>
            <a:off x="3543300" y="290512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Oval 10"/>
          <p:cNvSpPr/>
          <p:nvPr/>
        </p:nvSpPr>
        <p:spPr>
          <a:xfrm>
            <a:off x="8267700" y="237172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2" name="Oval 11"/>
          <p:cNvSpPr/>
          <p:nvPr/>
        </p:nvSpPr>
        <p:spPr>
          <a:xfrm>
            <a:off x="2105025" y="290512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Oval 12"/>
          <p:cNvSpPr/>
          <p:nvPr/>
        </p:nvSpPr>
        <p:spPr>
          <a:xfrm>
            <a:off x="5391150" y="235267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0575" y="2475011"/>
            <a:ext cx="22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7</a:t>
            </a:r>
            <a:endParaRPr lang="ro-RO" b="1" dirty="0"/>
          </a:p>
        </p:txBody>
      </p:sp>
      <p:sp>
        <p:nvSpPr>
          <p:cNvPr id="16" name="Oval 15"/>
          <p:cNvSpPr/>
          <p:nvPr/>
        </p:nvSpPr>
        <p:spPr>
          <a:xfrm>
            <a:off x="666750" y="2895600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" name="TextBox 16"/>
          <p:cNvSpPr txBox="1"/>
          <p:nvPr/>
        </p:nvSpPr>
        <p:spPr>
          <a:xfrm>
            <a:off x="5543550" y="2477988"/>
            <a:ext cx="22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2</a:t>
            </a:r>
            <a:endParaRPr lang="ro-RO" b="1" dirty="0"/>
          </a:p>
        </p:txBody>
      </p:sp>
      <p:sp>
        <p:nvSpPr>
          <p:cNvPr id="18" name="Oval 17"/>
          <p:cNvSpPr/>
          <p:nvPr/>
        </p:nvSpPr>
        <p:spPr>
          <a:xfrm>
            <a:off x="2466975" y="2914650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Oval 18"/>
          <p:cNvSpPr/>
          <p:nvPr/>
        </p:nvSpPr>
        <p:spPr>
          <a:xfrm>
            <a:off x="7915275" y="2362200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9100" y="2477988"/>
            <a:ext cx="22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5</a:t>
            </a:r>
            <a:endParaRPr lang="ro-RO" b="1" dirty="0"/>
          </a:p>
        </p:txBody>
      </p:sp>
      <p:sp>
        <p:nvSpPr>
          <p:cNvPr id="21" name="Oval 20"/>
          <p:cNvSpPr/>
          <p:nvPr/>
        </p:nvSpPr>
        <p:spPr>
          <a:xfrm>
            <a:off x="7181850" y="2362200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Oval 21"/>
          <p:cNvSpPr/>
          <p:nvPr/>
        </p:nvSpPr>
        <p:spPr>
          <a:xfrm>
            <a:off x="1752600" y="290512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3" name="Oval 22"/>
          <p:cNvSpPr/>
          <p:nvPr/>
        </p:nvSpPr>
        <p:spPr>
          <a:xfrm>
            <a:off x="6477000" y="237172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4" name="Oval 23"/>
          <p:cNvSpPr/>
          <p:nvPr/>
        </p:nvSpPr>
        <p:spPr>
          <a:xfrm>
            <a:off x="3200400" y="2886075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5" name="Oval 24"/>
          <p:cNvSpPr/>
          <p:nvPr/>
        </p:nvSpPr>
        <p:spPr>
          <a:xfrm>
            <a:off x="6858000" y="2362200"/>
            <a:ext cx="533400" cy="533400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6" name="TextBox 25"/>
          <p:cNvSpPr txBox="1"/>
          <p:nvPr/>
        </p:nvSpPr>
        <p:spPr>
          <a:xfrm>
            <a:off x="438150" y="2998886"/>
            <a:ext cx="22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6</a:t>
            </a:r>
            <a:endParaRPr lang="ro-RO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162050" y="3003351"/>
            <a:ext cx="22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9</a:t>
            </a:r>
            <a:endParaRPr lang="ro-RO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971800" y="2998886"/>
            <a:ext cx="22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3</a:t>
            </a:r>
            <a:endParaRPr lang="ro-RO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638425" y="4181693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=7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p=4,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b=4 </a:t>
            </a:r>
            <a:endParaRPr lang="ro-RO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2638425" y="4480432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x2(10)=0 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x2(10)=7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o-RO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2638425" y="4835304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p=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b=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o-RO" sz="1600" dirty="0"/>
          </a:p>
          <a:p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o-RO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2638425" y="5092071"/>
            <a:ext cx="3257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i=2, x2(2)=0 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x2(2)=2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o-RO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2667000" y="5410200"/>
            <a:ext cx="198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a=5, p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7, b=8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o-RO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2667000" y="5638800"/>
            <a:ext cx="365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i=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x2(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 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≠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=9</a:t>
            </a:r>
            <a:endParaRPr lang="ro-RO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2667000" y="5897606"/>
            <a:ext cx="365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i=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x2(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x2(9)=5</a:t>
            </a:r>
            <a:endParaRPr lang="ro-RO" sz="1600" dirty="0"/>
          </a:p>
        </p:txBody>
      </p:sp>
      <p:sp>
        <p:nvSpPr>
          <p:cNvPr id="14" name="Rectangle 13"/>
          <p:cNvSpPr/>
          <p:nvPr/>
        </p:nvSpPr>
        <p:spPr>
          <a:xfrm>
            <a:off x="1060450" y="111670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dirty="0">
                <a:latin typeface="Arial" charset="0"/>
              </a:rPr>
              <a:t>Example 1</a:t>
            </a:r>
          </a:p>
          <a:p>
            <a:pPr lvl="1"/>
            <a:r>
              <a:rPr lang="en-US" dirty="0">
                <a:latin typeface="Arial" charset="0"/>
              </a:rPr>
              <a:t>m=10, p1=4, p2=7</a:t>
            </a:r>
            <a:endParaRPr lang="ro-RO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66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0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8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6 0.00209 L 0.09514 0.09954 L 0.43368 0.09815 L 0.51857 -0.075 " pathEditMode="relative" rAng="0" ptsTypes="AAAA">
                                      <p:cBhvr>
                                        <p:cTn id="18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712" y="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1 -0.00139 L 0.05816 0.09051 L 0.44723 0.09051 L 0.51545 -0.07686 " pathEditMode="relative" rAng="0" ptsTypes="AAAA">
                                      <p:cBhvr>
                                        <p:cTn id="19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03" y="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0.00139 L 0.04896 0.10417 L 0.53438 0.10556 L 0.51875 -0.07639 " pathEditMode="relative" rAng="0" ptsTypes="AAAA">
                                      <p:cBhvr>
                                        <p:cTn id="20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19" y="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1" grpId="2" animBg="1"/>
      <p:bldP spid="12" grpId="0" animBg="1"/>
      <p:bldP spid="12" grpId="1" animBg="1"/>
      <p:bldP spid="13" grpId="0" animBg="1"/>
      <p:bldP spid="13" grpId="1" animBg="1"/>
      <p:bldP spid="13" grpId="2" animBg="1"/>
      <p:bldP spid="5" grpId="0"/>
      <p:bldP spid="16" grpId="0" animBg="1"/>
      <p:bldP spid="16" grpId="1" animBg="1"/>
      <p:bldP spid="17" grpId="0"/>
      <p:bldP spid="18" grpId="0" animBg="1"/>
      <p:bldP spid="18" grpId="1" animBg="1"/>
      <p:bldP spid="19" grpId="0" animBg="1"/>
      <p:bldP spid="19" grpId="1" animBg="1"/>
      <p:bldP spid="19" grpId="2" animBg="1"/>
      <p:bldP spid="20" grpId="0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/>
      <p:bldP spid="26" grpId="1"/>
      <p:bldP spid="27" grpId="0"/>
      <p:bldP spid="27" grpId="1"/>
      <p:bldP spid="28" grpId="0"/>
      <p:bldP spid="28" grpId="1"/>
      <p:bldP spid="7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8229600" cy="4953000"/>
          </a:xfrm>
        </p:spPr>
        <p:txBody>
          <a:bodyPr/>
          <a:lstStyle/>
          <a:p>
            <a:pPr marL="0" indent="0" algn="just">
              <a:buNone/>
            </a:pPr>
            <a:endParaRPr lang="ro-RO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35" name="Picture 34"/>
          <p:cNvPicPr/>
          <p:nvPr/>
        </p:nvPicPr>
        <p:blipFill rotWithShape="1">
          <a:blip r:embed="rId2"/>
          <a:srcRect l="12660" t="23291" r="2564" b="18377"/>
          <a:stretch/>
        </p:blipFill>
        <p:spPr bwMode="auto">
          <a:xfrm>
            <a:off x="0" y="474784"/>
            <a:ext cx="9144000" cy="640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19600" y="105557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dirty="0" err="1">
                <a:latin typeface="Arial" charset="0"/>
              </a:rPr>
              <a:t>Exemplul</a:t>
            </a:r>
            <a:r>
              <a:rPr lang="en-US" dirty="0">
                <a:latin typeface="Arial" charset="0"/>
              </a:rPr>
              <a:t> 2</a:t>
            </a:r>
          </a:p>
          <a:p>
            <a:pPr lvl="1"/>
            <a:r>
              <a:rPr lang="en-US" dirty="0">
                <a:latin typeface="Arial" charset="0"/>
              </a:rPr>
              <a:t>m=8, p1=1, p2=4</a:t>
            </a:r>
            <a:endParaRPr lang="ro-RO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856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" name="Picture 23"/>
          <p:cNvPicPr/>
          <p:nvPr/>
        </p:nvPicPr>
        <p:blipFill rotWithShape="1">
          <a:blip r:embed="rId2"/>
          <a:srcRect l="3205" t="27350" r="17949" b="21368"/>
          <a:stretch/>
        </p:blipFill>
        <p:spPr bwMode="auto">
          <a:xfrm>
            <a:off x="381000" y="457200"/>
            <a:ext cx="8382000" cy="5715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54131052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3899</TotalTime>
  <Words>275</Words>
  <Application>Microsoft Office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Arial Black</vt:lpstr>
      <vt:lpstr>Calibri</vt:lpstr>
      <vt:lpstr>Cambria Math</vt:lpstr>
      <vt:lpstr>Courier New</vt:lpstr>
      <vt:lpstr>Garamond</vt:lpstr>
      <vt:lpstr>Times New Roman</vt:lpstr>
      <vt:lpstr>Wingdings</vt:lpstr>
      <vt:lpstr>Pixel</vt:lpstr>
      <vt:lpstr>Visio</vt:lpstr>
      <vt:lpstr>PMX Operator</vt:lpstr>
      <vt:lpstr>PowerPoint Presentation</vt:lpstr>
      <vt:lpstr>PowerPoint Presentation</vt:lpstr>
      <vt:lpstr>PowerPoint Presentation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Lavinia Roxana Toma</cp:lastModifiedBy>
  <cp:revision>408</cp:revision>
  <dcterms:created xsi:type="dcterms:W3CDTF">2007-06-04T09:28:42Z</dcterms:created>
  <dcterms:modified xsi:type="dcterms:W3CDTF">2026-03-19T05:49:30Z</dcterms:modified>
</cp:coreProperties>
</file>