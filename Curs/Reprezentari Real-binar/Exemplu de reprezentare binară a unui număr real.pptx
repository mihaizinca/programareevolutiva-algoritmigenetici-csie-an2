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357" r:id="rId2"/>
    <p:sldId id="375" r:id="rId3"/>
    <p:sldId id="376" r:id="rId4"/>
    <p:sldId id="373" r:id="rId5"/>
    <p:sldId id="3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AF173B-04D9-457F-BECF-6F9C2D047A8B}" type="datetimeFigureOut">
              <a:rPr lang="ro-RO" smtClean="0"/>
              <a:t>03.03.2025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D6C01A-2579-44BB-9892-CEF644EE39AD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33803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BD849E0-D4AD-456D-9950-B493D663DF2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6448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CA271-DEE3-81E1-EB8D-62DB223407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80B01A-168B-5282-0753-5F7A55FE01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DD235-6077-7D54-E19B-58263625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1FF30-19B6-4411-82BB-8C045385959A}" type="datetimeFigureOut">
              <a:rPr lang="ro-RO" smtClean="0"/>
              <a:t>03.03.2025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26643F-612C-5B36-3CF2-D10C5DEBC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9F0547-855D-EFE8-4201-1CC0B014E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B5849-9732-4257-A40A-DE60CE9FFB3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3961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132EC-21E0-B986-B9EC-E5A221418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B513A-DA70-7BEF-87F7-DE1FEE4D3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9F399D-0D0E-DCCC-BE59-A9C3ABB13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1FF30-19B6-4411-82BB-8C045385959A}" type="datetimeFigureOut">
              <a:rPr lang="ro-RO" smtClean="0"/>
              <a:t>03.03.2025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343B18-072E-17BB-0F2C-68DB097FF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33617-F089-79ED-5160-3A0BC419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B5849-9732-4257-A40A-DE60CE9FFB3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80827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08832-93B9-2654-3876-3C9603399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14C623-9056-D600-7EA7-165A0682EB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191F0-1938-04BF-542A-184DF189B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1FF30-19B6-4411-82BB-8C045385959A}" type="datetimeFigureOut">
              <a:rPr lang="ro-RO" smtClean="0"/>
              <a:t>03.03.2025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86088-376F-C55C-4BE5-8AE46DCF1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15230-CE7D-27AB-DB62-4DBCC9D8E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B5849-9732-4257-A40A-DE60CE9FFB3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56946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0E43E-CB1B-A93E-6CB6-D9AFB7526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41EDF-02E5-526E-24A7-5382C47E30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99518C-CE9A-1AD0-F3B7-477E07989B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642642-2833-D11C-7BF5-E71BBB252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1FF30-19B6-4411-82BB-8C045385959A}" type="datetimeFigureOut">
              <a:rPr lang="ro-RO" smtClean="0"/>
              <a:t>03.03.2025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B45BDC-7356-BFB4-56EB-53ABCC55D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23E047-48F1-D0F6-8A80-7E04E4227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B5849-9732-4257-A40A-DE60CE9FFB3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47886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9A1EF-9F7C-C75B-FE35-9695BA0FD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71E967-ABEB-5185-F5FC-79992A4D55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7B1CD9-BC89-35A0-C10E-1F8E1F8869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83EBC8-8DE9-8618-3109-26BA73A273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A059E9-94DF-2D92-2814-2B15A7EF92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826A69-64FA-A962-E07C-93EDA2F02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1FF30-19B6-4411-82BB-8C045385959A}" type="datetimeFigureOut">
              <a:rPr lang="ro-RO" smtClean="0"/>
              <a:t>03.03.2025</a:t>
            </a:fld>
            <a:endParaRPr lang="ro-R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164588-C407-782C-4455-388DD2334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AA271E-6C80-0866-0527-38FA4A78C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B5849-9732-4257-A40A-DE60CE9FFB3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15692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13ECE-47DD-AC19-39CA-4AE92394E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9D905D-86BD-6B21-7994-891978179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1FF30-19B6-4411-82BB-8C045385959A}" type="datetimeFigureOut">
              <a:rPr lang="ro-RO" smtClean="0"/>
              <a:t>03.03.2025</a:t>
            </a:fld>
            <a:endParaRPr lang="ro-R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AFC6BC-67EC-AF9B-9325-E55492F45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7BA99-ED4E-FBD9-2726-D44DBE247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B5849-9732-4257-A40A-DE60CE9FFB3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92685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2DD15C-D525-3577-96B5-3ABEDE21D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1FF30-19B6-4411-82BB-8C045385959A}" type="datetimeFigureOut">
              <a:rPr lang="ro-RO" smtClean="0"/>
              <a:t>03.03.2025</a:t>
            </a:fld>
            <a:endParaRPr lang="ro-R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5343C6-B21B-DAC5-5D51-A3C972199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3A3EF-F82E-051C-A58A-93B138F33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B5849-9732-4257-A40A-DE60CE9FFB3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14129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9144F-044F-B540-CF56-BE76EB173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60D95-8836-8016-9F71-B50009D77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397915-6347-67AA-B542-E0E9E746C3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D1656B-E9E3-DAD2-A501-9335D9AC6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1FF30-19B6-4411-82BB-8C045385959A}" type="datetimeFigureOut">
              <a:rPr lang="ro-RO" smtClean="0"/>
              <a:t>03.03.2025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09961C-1D6D-ACA9-31A6-2DD1DEB46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67341C-9AC6-B476-99FC-514405E35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B5849-9732-4257-A40A-DE60CE9FFB3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48085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51669-6465-A877-CE38-F59A395F7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B54E3A-08C6-C98E-3286-9FC59B3D04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455354-16E1-F4A6-FF93-C144074C5F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73E9AE-3EBC-C2D9-2F94-805D1EFCE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1FF30-19B6-4411-82BB-8C045385959A}" type="datetimeFigureOut">
              <a:rPr lang="ro-RO" smtClean="0"/>
              <a:t>03.03.2025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A93AAF-1528-F072-384E-0DE8CB0B6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EB48EB-2EB1-CB52-B3C7-F779496A0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B5849-9732-4257-A40A-DE60CE9FFB3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455997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D2257-E383-8CEB-6575-CBF2634BA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CB8F4-248F-CDEA-20F5-A653A4B0C3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EA117-2A21-F158-3EC3-18FD51221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1FF30-19B6-4411-82BB-8C045385959A}" type="datetimeFigureOut">
              <a:rPr lang="ro-RO" smtClean="0"/>
              <a:t>03.03.2025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4851-5F55-D3B5-B167-BBBD69E135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8C6E0-59E7-873F-00B3-695C4345E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B5849-9732-4257-A40A-DE60CE9FFB3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97554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0A75FA-223B-504F-BA29-65DB09FA89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D39CF9-C990-44BA-3F1D-F04BDC2B04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49974-CBCB-4F57-9EFC-6CDE1C99A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1FF30-19B6-4411-82BB-8C045385959A}" type="datetimeFigureOut">
              <a:rPr lang="ro-RO" smtClean="0"/>
              <a:t>03.03.2025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BF25F-694B-8D2B-33DD-75145BD44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5F849-E159-F2A3-F88B-9FFEF78FF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EB5849-9732-4257-A40A-DE60CE9FFB3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787779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57200"/>
            <a:ext cx="109728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ABD4C1-8F27-4073-BDC6-F3215BB65F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040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225DDA-6343-32F8-6F66-38CA0AC2E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49AE2D-6B8B-EC02-9E75-DC4FE66D1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91879-B7C4-17CA-0641-6B63010FC1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A1FF30-19B6-4411-82BB-8C045385959A}" type="datetimeFigureOut">
              <a:rPr lang="ro-RO" smtClean="0"/>
              <a:t>03.03.2025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06AEE-9FA3-B0F7-1EFA-4F95556CA4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B63E7-C61E-517B-2869-9184B117DB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EB5849-9732-4257-A40A-DE60CE9FFB32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03421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866900" y="304800"/>
            <a:ext cx="8458200" cy="858838"/>
          </a:xfrm>
        </p:spPr>
        <p:txBody>
          <a:bodyPr/>
          <a:lstStyle/>
          <a:p>
            <a:pPr eaLnBrk="1" hangingPunct="1"/>
            <a:r>
              <a:rPr lang="ro-RO" altLang="en-US" sz="2600" b="1" dirty="0"/>
              <a:t>Exemplu de reprezentare binară a unui număr real</a:t>
            </a:r>
          </a:p>
        </p:txBody>
      </p:sp>
      <p:sp>
        <p:nvSpPr>
          <p:cNvPr id="9220" name="Rectangle 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1" name="Rectangle 11"/>
          <p:cNvSpPr>
            <a:spLocks noChangeArrowheads="1"/>
          </p:cNvSpPr>
          <p:nvPr/>
        </p:nvSpPr>
        <p:spPr bwMode="auto">
          <a:xfrm>
            <a:off x="1524001" y="31538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2" name="Rectangle 1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3" name="Rectangle 15"/>
          <p:cNvSpPr>
            <a:spLocks noChangeArrowheads="1"/>
          </p:cNvSpPr>
          <p:nvPr/>
        </p:nvSpPr>
        <p:spPr bwMode="auto">
          <a:xfrm>
            <a:off x="1524001" y="31490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4" name="Rectangle 1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5" name="Rectangle 2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6" name="Rectangle 2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7" name="Rectangle 2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8" name="Rectangle 2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9" name="Rectangle 3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0" name="Rectangle 3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1" name="Rectangle 3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2" name="Rectangle 3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3" name="Rectangle 4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4" name="Rectangle 4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5" name="Rectangle 4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6" name="Rectangle 4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7" name="Rectangle 52"/>
          <p:cNvSpPr>
            <a:spLocks noChangeArrowheads="1"/>
          </p:cNvSpPr>
          <p:nvPr/>
        </p:nvSpPr>
        <p:spPr bwMode="auto">
          <a:xfrm>
            <a:off x="1524001" y="16441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8" name="Rectangle 54"/>
          <p:cNvSpPr>
            <a:spLocks noChangeArrowheads="1"/>
          </p:cNvSpPr>
          <p:nvPr/>
        </p:nvSpPr>
        <p:spPr bwMode="auto">
          <a:xfrm>
            <a:off x="1524001" y="13012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Placeholder 1"/>
              <p:cNvSpPr>
                <a:spLocks noGrp="1"/>
              </p:cNvSpPr>
              <p:nvPr>
                <p:ph type="body" sz="half" idx="1"/>
              </p:nvPr>
            </p:nvSpPr>
            <p:spPr>
              <a:xfrm>
                <a:off x="1981200" y="990600"/>
                <a:ext cx="8534400" cy="5486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o-RO" sz="1800" dirty="0"/>
                  <a:t>Reprezentarea unui număr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𝑥</m:t>
                    </m:r>
                    <m:r>
                      <a:rPr lang="ro-RO" sz="1800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en-US" sz="1800" i="1">
                        <a:latin typeface="Cambria Math"/>
                        <a:ea typeface="Cambria Math"/>
                      </a:rPr>
                      <m:t>𝐷</m:t>
                    </m:r>
                    <m:r>
                      <a:rPr lang="en-US" sz="1800" i="1"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ro-RO" sz="1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  <a:ea typeface="Cambria Math"/>
                          </a:rPr>
                          <m:t>𝑎</m:t>
                        </m:r>
                        <m:r>
                          <a:rPr lang="ro-RO" sz="1800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ro-RO" sz="1800" i="1">
                            <a:latin typeface="Cambria Math"/>
                            <a:ea typeface="Cambria Math"/>
                          </a:rPr>
                          <m:t>𝑏</m:t>
                        </m:r>
                      </m:e>
                    </m:d>
                    <m:r>
                      <a:rPr lang="ro-RO" sz="1800" i="1">
                        <a:latin typeface="Cambria Math"/>
                        <a:ea typeface="Cambria Math"/>
                      </a:rPr>
                      <m:t>⊂</m:t>
                    </m:r>
                    <m:r>
                      <a:rPr lang="ro-RO" sz="1800" i="1">
                        <a:latin typeface="Cambria Math"/>
                        <a:ea typeface="Cambria Math"/>
                      </a:rPr>
                      <m:t>ℝ</m:t>
                    </m:r>
                  </m:oMath>
                </a14:m>
                <a:r>
                  <a:rPr lang="ro-RO" sz="1800" dirty="0"/>
                  <a:t> cu eroare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𝑛𝑧</m:t>
                        </m:r>
                      </m:sup>
                    </m:sSup>
                  </m:oMath>
                </a14:m>
                <a:endParaRPr lang="ro-RO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Ideea – încadrarea lui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𝑥</m:t>
                    </m:r>
                    <m:r>
                      <a:rPr lang="ro-RO" sz="1800" i="1">
                        <a:latin typeface="Cambria Math"/>
                        <a:ea typeface="Cambria Math"/>
                      </a:rPr>
                      <m:t>∈</m:t>
                    </m:r>
                    <m:r>
                      <a:rPr lang="ro-RO" sz="1800" i="1">
                        <a:latin typeface="Cambria Math"/>
                        <a:ea typeface="Cambria Math"/>
                      </a:rPr>
                      <m:t>𝐷</m:t>
                    </m:r>
                  </m:oMath>
                </a14:m>
                <a:r>
                  <a:rPr lang="ro-RO" sz="1800" dirty="0"/>
                  <a:t> într-un subinterval din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ro-RO" sz="1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  <a:ea typeface="Cambria Math"/>
                          </a:rPr>
                          <m:t>𝑎</m:t>
                        </m:r>
                        <m:r>
                          <a:rPr lang="ro-RO" sz="1800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ro-RO" sz="1800" i="1">
                            <a:latin typeface="Cambria Math"/>
                            <a:ea typeface="Cambria Math"/>
                          </a:rPr>
                          <m:t>𝑏</m:t>
                        </m:r>
                      </m:e>
                    </m:d>
                  </m:oMath>
                </a14:m>
                <a:r>
                  <a:rPr lang="ro-RO" sz="1800" dirty="0"/>
                  <a:t> de lungime maximă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𝑛𝑧</m:t>
                        </m:r>
                      </m:sup>
                    </m:sSup>
                  </m:oMath>
                </a14:m>
                <a:r>
                  <a:rPr lang="ro-RO" sz="1800" dirty="0"/>
                  <a:t> și aproximarea lui </a:t>
                </a:r>
                <a:r>
                  <a:rPr lang="ro-RO" sz="1800" dirty="0" err="1"/>
                  <a:t>printr</a:t>
                </a:r>
                <a:r>
                  <a:rPr lang="ro-RO" sz="1800" dirty="0"/>
                  <a:t>-unul din capetele acestuia (exemple: cel din stânga, cel mai apropiat, cel din dreapta)</a:t>
                </a:r>
              </a:p>
              <a:p>
                <a:pPr marL="0" indent="0">
                  <a:buNone/>
                </a:pPr>
                <a:endParaRPr lang="ro-RO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  <a:ea typeface="Cambria Math"/>
                      </a:rPr>
                      <m:t>𝐷</m:t>
                    </m:r>
                    <m:r>
                      <a:rPr lang="ro-RO" sz="1800" i="1"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ro-RO" sz="1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  <a:ea typeface="Cambria Math"/>
                          </a:rPr>
                          <m:t>𝑎</m:t>
                        </m:r>
                        <m:r>
                          <a:rPr lang="ro-RO" sz="1800" i="1">
                            <a:latin typeface="Cambria Math"/>
                            <a:ea typeface="Cambria Math"/>
                          </a:rPr>
                          <m:t>,</m:t>
                        </m:r>
                        <m:r>
                          <a:rPr lang="ro-RO" sz="1800" i="1">
                            <a:latin typeface="Cambria Math"/>
                            <a:ea typeface="Cambria Math"/>
                          </a:rPr>
                          <m:t>𝑏</m:t>
                        </m:r>
                      </m:e>
                    </m:d>
                  </m:oMath>
                </a14:m>
                <a:r>
                  <a:rPr lang="ro-RO" sz="1800" dirty="0"/>
                  <a:t> este împărțit în N intervale egale, fiecare de lungime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endParaRPr lang="ro-RO" sz="18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o-RO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𝑛𝑧</m:t>
                          </m:r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ro-RO" sz="1800" i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ro-RO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ro-RO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ro-RO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o-RO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ro-RO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ro-RO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𝑛𝑧</m:t>
                          </m:r>
                        </m:sup>
                      </m:sSup>
                    </m:oMath>
                  </m:oMathPara>
                </a14:m>
                <a:endParaRPr lang="ro-RO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Lungimea unui </a:t>
                </a:r>
                <a:r>
                  <a:rPr lang="en-US" sz="1800" dirty="0"/>
                  <a:t>interval</a:t>
                </a:r>
                <a:r>
                  <a:rPr lang="ro-RO" sz="1800" dirty="0"/>
                  <a:t> este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18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o-RO" sz="1800" dirty="0"/>
                  <a:t>, cu</a:t>
                </a:r>
                <a:r>
                  <a:rPr lang="en-US" sz="18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o-RO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𝑛𝑧</m:t>
                          </m:r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800" i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sz="1800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𝑛𝑧</m:t>
                          </m:r>
                        </m:sup>
                      </m:sSup>
                    </m:oMath>
                  </m:oMathPara>
                </a14:m>
                <a:endParaRPr lang="ro-RO" sz="1800" dirty="0"/>
              </a:p>
              <a:p>
                <a:pPr marL="0" indent="0">
                  <a:buNone/>
                </a:pPr>
                <a:endParaRPr lang="ro-RO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24" name="Tex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1981200" y="990600"/>
                <a:ext cx="8534400" cy="5486400"/>
              </a:xfrm>
              <a:blipFill>
                <a:blip r:embed="rId2"/>
                <a:stretch>
                  <a:fillRect l="-571" t="-1111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37390AD1-CFCC-1A71-AAF3-4A4B556FDD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2459" y="4838700"/>
          <a:ext cx="8572415" cy="167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7286791" imgH="1419368" progId="Visio.Drawing.11">
                  <p:embed/>
                </p:oleObj>
              </mc:Choice>
              <mc:Fallback>
                <p:oleObj name="Visio" r:id="rId3" imgW="7286791" imgH="1419368" progId="Visio.Drawing.11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37390AD1-CFCC-1A71-AAF3-4A4B556FDD9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2459" y="4838700"/>
                        <a:ext cx="8572415" cy="167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70904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6FEDE-7084-352B-F713-EB2746778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567E8AA4-D2F7-3DCF-851D-057F664C7F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66900" y="304800"/>
            <a:ext cx="8458200" cy="858838"/>
          </a:xfrm>
        </p:spPr>
        <p:txBody>
          <a:bodyPr/>
          <a:lstStyle/>
          <a:p>
            <a:pPr eaLnBrk="1" hangingPunct="1"/>
            <a:r>
              <a:rPr lang="ro-RO" altLang="en-US" sz="2600" b="1" dirty="0"/>
              <a:t>Exemplu de reprezentare binară a unui număr real</a:t>
            </a:r>
          </a:p>
        </p:txBody>
      </p:sp>
      <p:sp>
        <p:nvSpPr>
          <p:cNvPr id="9220" name="Rectangle 9">
            <a:extLst>
              <a:ext uri="{FF2B5EF4-FFF2-40B4-BE49-F238E27FC236}">
                <a16:creationId xmlns:a16="http://schemas.microsoft.com/office/drawing/2014/main" id="{901DAD33-22E8-BF6A-360A-C86EAA7E1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1" name="Rectangle 11">
            <a:extLst>
              <a:ext uri="{FF2B5EF4-FFF2-40B4-BE49-F238E27FC236}">
                <a16:creationId xmlns:a16="http://schemas.microsoft.com/office/drawing/2014/main" id="{56E0A8D8-7A51-ABAA-C8E2-47FB2FF5F0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538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2" name="Rectangle 13">
            <a:extLst>
              <a:ext uri="{FF2B5EF4-FFF2-40B4-BE49-F238E27FC236}">
                <a16:creationId xmlns:a16="http://schemas.microsoft.com/office/drawing/2014/main" id="{6DF9DF99-3D76-9C57-F3BA-48F3B0B996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3" name="Rectangle 15">
            <a:extLst>
              <a:ext uri="{FF2B5EF4-FFF2-40B4-BE49-F238E27FC236}">
                <a16:creationId xmlns:a16="http://schemas.microsoft.com/office/drawing/2014/main" id="{1D13DA9D-8BEE-BC89-F222-E685E64DE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90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4" name="Rectangle 19">
            <a:extLst>
              <a:ext uri="{FF2B5EF4-FFF2-40B4-BE49-F238E27FC236}">
                <a16:creationId xmlns:a16="http://schemas.microsoft.com/office/drawing/2014/main" id="{6C625A96-6575-DD86-EBCA-9C0874F95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5" name="Rectangle 21">
            <a:extLst>
              <a:ext uri="{FF2B5EF4-FFF2-40B4-BE49-F238E27FC236}">
                <a16:creationId xmlns:a16="http://schemas.microsoft.com/office/drawing/2014/main" id="{30083213-EF8E-9B7F-6A79-972814784C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6" name="Rectangle 23">
            <a:extLst>
              <a:ext uri="{FF2B5EF4-FFF2-40B4-BE49-F238E27FC236}">
                <a16:creationId xmlns:a16="http://schemas.microsoft.com/office/drawing/2014/main" id="{1B53E3BE-0806-5321-4D0B-EC4F2BE7DA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7" name="Rectangle 27">
            <a:extLst>
              <a:ext uri="{FF2B5EF4-FFF2-40B4-BE49-F238E27FC236}">
                <a16:creationId xmlns:a16="http://schemas.microsoft.com/office/drawing/2014/main" id="{11F28C48-AEBE-FC20-2A22-9922447E5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8" name="Rectangle 29">
            <a:extLst>
              <a:ext uri="{FF2B5EF4-FFF2-40B4-BE49-F238E27FC236}">
                <a16:creationId xmlns:a16="http://schemas.microsoft.com/office/drawing/2014/main" id="{0E79224A-E5F6-161F-E628-DF72E17F5D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9" name="Rectangle 31">
            <a:extLst>
              <a:ext uri="{FF2B5EF4-FFF2-40B4-BE49-F238E27FC236}">
                <a16:creationId xmlns:a16="http://schemas.microsoft.com/office/drawing/2014/main" id="{A9EC3588-982B-96F2-8AAC-7080F5E7F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0" name="Rectangle 33">
            <a:extLst>
              <a:ext uri="{FF2B5EF4-FFF2-40B4-BE49-F238E27FC236}">
                <a16:creationId xmlns:a16="http://schemas.microsoft.com/office/drawing/2014/main" id="{7664E2D1-0C20-957A-7083-80E62F156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1" name="Rectangle 35">
            <a:extLst>
              <a:ext uri="{FF2B5EF4-FFF2-40B4-BE49-F238E27FC236}">
                <a16:creationId xmlns:a16="http://schemas.microsoft.com/office/drawing/2014/main" id="{DB10510D-2489-B5C8-3724-3AA6056D1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2" name="Rectangle 37">
            <a:extLst>
              <a:ext uri="{FF2B5EF4-FFF2-40B4-BE49-F238E27FC236}">
                <a16:creationId xmlns:a16="http://schemas.microsoft.com/office/drawing/2014/main" id="{83A1ACA5-2FE4-F25F-0619-A6A54BDDF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3" name="Rectangle 41">
            <a:extLst>
              <a:ext uri="{FF2B5EF4-FFF2-40B4-BE49-F238E27FC236}">
                <a16:creationId xmlns:a16="http://schemas.microsoft.com/office/drawing/2014/main" id="{4CA9214D-45E9-A1BC-FDAB-3E87DE7345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4" name="Rectangle 43">
            <a:extLst>
              <a:ext uri="{FF2B5EF4-FFF2-40B4-BE49-F238E27FC236}">
                <a16:creationId xmlns:a16="http://schemas.microsoft.com/office/drawing/2014/main" id="{240ABC53-0537-F0C9-7A34-626FE3AC49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5" name="Rectangle 45">
            <a:extLst>
              <a:ext uri="{FF2B5EF4-FFF2-40B4-BE49-F238E27FC236}">
                <a16:creationId xmlns:a16="http://schemas.microsoft.com/office/drawing/2014/main" id="{DB7D74D1-2F43-5A29-1CBF-84E7E0D11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6" name="Rectangle 47">
            <a:extLst>
              <a:ext uri="{FF2B5EF4-FFF2-40B4-BE49-F238E27FC236}">
                <a16:creationId xmlns:a16="http://schemas.microsoft.com/office/drawing/2014/main" id="{B7916007-8A41-AC8A-28CA-9DE579686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7" name="Rectangle 52">
            <a:extLst>
              <a:ext uri="{FF2B5EF4-FFF2-40B4-BE49-F238E27FC236}">
                <a16:creationId xmlns:a16="http://schemas.microsoft.com/office/drawing/2014/main" id="{9D290118-7823-8EF6-505B-A23849F276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6441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8" name="Rectangle 54">
            <a:extLst>
              <a:ext uri="{FF2B5EF4-FFF2-40B4-BE49-F238E27FC236}">
                <a16:creationId xmlns:a16="http://schemas.microsoft.com/office/drawing/2014/main" id="{FA3EAB0D-3498-1643-1A50-C55AE1235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3012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 Placeholder 1">
                <a:extLst>
                  <a:ext uri="{FF2B5EF4-FFF2-40B4-BE49-F238E27FC236}">
                    <a16:creationId xmlns:a16="http://schemas.microsoft.com/office/drawing/2014/main" id="{386E511B-5C19-1A63-209C-79997253F803}"/>
                  </a:ext>
                </a:extLst>
              </p:cNvPr>
              <p:cNvSpPr>
                <a:spLocks noGrp="1"/>
              </p:cNvSpPr>
              <p:nvPr>
                <p:ph type="body" sz="half" idx="1"/>
              </p:nvPr>
            </p:nvSpPr>
            <p:spPr>
              <a:xfrm>
                <a:off x="1981200" y="990600"/>
                <a:ext cx="8534400" cy="5486400"/>
              </a:xfrm>
            </p:spPr>
            <p:txBody>
              <a:bodyPr>
                <a:normAutofit/>
              </a:bodyPr>
              <a:lstStyle/>
              <a:p>
                <a:pPr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Stabilirea lungimii reprezentării binare: fie </a:t>
                </a:r>
                <a:r>
                  <a:rPr lang="ro-RO" sz="1800" i="1" dirty="0"/>
                  <a:t>m</a:t>
                </a:r>
                <a:r>
                  <a:rPr lang="ro-RO" sz="1800" dirty="0"/>
                  <a:t> cu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ro-RO" sz="18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ro-RO" sz="1800" i="1">
                        <a:latin typeface="Cambria Math"/>
                        <a:ea typeface="Cambria Math"/>
                      </a:rPr>
                      <m:t>≤</m:t>
                    </m:r>
                    <m:sSup>
                      <m:sSupPr>
                        <m:ctrlPr>
                          <a:rPr lang="ro-RO" sz="1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ro-RO" sz="1800" i="1">
                            <a:latin typeface="Cambria Math"/>
                            <a:ea typeface="Cambria Math"/>
                          </a:rPr>
                          <m:t>2</m:t>
                        </m:r>
                      </m:e>
                      <m:sup>
                        <m:r>
                          <a:rPr lang="ro-RO" sz="1800" i="1">
                            <a:latin typeface="Cambria Math"/>
                            <a:ea typeface="Cambria Math"/>
                          </a:rPr>
                          <m:t>𝑚</m:t>
                        </m:r>
                      </m:sup>
                    </m:sSup>
                    <m:r>
                      <a:rPr lang="ro-RO" sz="1800" i="1">
                        <a:latin typeface="Cambria Math"/>
                        <a:ea typeface="Cambria Math"/>
                      </a:rPr>
                      <m:t>−1⇒</m:t>
                    </m:r>
                  </m:oMath>
                </a14:m>
                <a:endParaRPr lang="ro-RO" sz="1800" i="1" dirty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o-RO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ro-RO" sz="1800" i="1">
                              <a:latin typeface="Cambria Math" panose="02040503050406030204" pitchFamily="18" charset="0"/>
                              <a:ea typeface="Cambria Math"/>
                            </a:rPr>
                            <m:t>𝑏</m:t>
                          </m:r>
                          <m:r>
                            <a:rPr lang="ro-RO" sz="1800" i="1">
                              <a:latin typeface="Cambria Math" panose="02040503050406030204" pitchFamily="18" charset="0"/>
                              <a:ea typeface="Cambria Math"/>
                            </a:rPr>
                            <m:t>−</m:t>
                          </m:r>
                          <m:r>
                            <a:rPr lang="ro-RO" sz="1800" i="1">
                              <a:latin typeface="Cambria Math" panose="02040503050406030204" pitchFamily="18" charset="0"/>
                              <a:ea typeface="Cambria Math"/>
                            </a:rPr>
                            <m:t>𝑎</m:t>
                          </m:r>
                        </m:num>
                        <m:den>
                          <m:sSup>
                            <m:sSupPr>
                              <m:ctrlPr>
                                <a:rPr lang="ro-RO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o-RO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ro-RO" sz="1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ro-RO" sz="1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  <m:r>
                        <a:rPr lang="ro-RO" sz="1800" i="1" dirty="0">
                          <a:latin typeface="Cambria Math"/>
                          <a:ea typeface="Cambria Math"/>
                        </a:rPr>
                        <m:t>&gt;</m:t>
                      </m:r>
                      <m:f>
                        <m:fPr>
                          <m:ctrlPr>
                            <a:rPr lang="ro-RO" sz="1800" i="1" dirty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ro-RO" sz="1800" i="1" dirty="0">
                              <a:latin typeface="Cambria Math" panose="02040503050406030204" pitchFamily="18" charset="0"/>
                              <a:ea typeface="Cambria Math"/>
                            </a:rPr>
                            <m:t>𝑏</m:t>
                          </m:r>
                          <m:r>
                            <a:rPr lang="ro-RO" sz="1800" i="1" dirty="0">
                              <a:latin typeface="Cambria Math" panose="02040503050406030204" pitchFamily="18" charset="0"/>
                              <a:ea typeface="Cambria Math"/>
                            </a:rPr>
                            <m:t>−</m:t>
                          </m:r>
                          <m:r>
                            <a:rPr lang="ro-RO" sz="1800" i="1" dirty="0">
                              <a:latin typeface="Cambria Math" panose="02040503050406030204" pitchFamily="18" charset="0"/>
                              <a:ea typeface="Cambria Math"/>
                            </a:rPr>
                            <m:t>𝑎</m:t>
                          </m:r>
                        </m:num>
                        <m:den>
                          <m:r>
                            <a:rPr lang="ro-RO" sz="1800" i="1" dirty="0">
                              <a:latin typeface="Cambria Math" panose="02040503050406030204" pitchFamily="18" charset="0"/>
                              <a:ea typeface="Cambria Math"/>
                            </a:rPr>
                            <m:t>𝑁</m:t>
                          </m:r>
                        </m:den>
                      </m:f>
                      <m:r>
                        <a:rPr lang="ro-RO" sz="1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ro-RO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ro-RO" sz="1800" i="1">
                              <a:latin typeface="Cambria Math" panose="02040503050406030204" pitchFamily="18" charset="0"/>
                              <a:ea typeface="Cambria Math"/>
                            </a:rPr>
                            <m:t>𝑏</m:t>
                          </m:r>
                          <m:r>
                            <a:rPr lang="ro-RO" sz="1800" i="1">
                              <a:latin typeface="Cambria Math" panose="02040503050406030204" pitchFamily="18" charset="0"/>
                              <a:ea typeface="Cambria Math"/>
                            </a:rPr>
                            <m:t>−</m:t>
                          </m:r>
                          <m:r>
                            <a:rPr lang="ro-RO" sz="1800" i="1">
                              <a:latin typeface="Cambria Math" panose="02040503050406030204" pitchFamily="18" charset="0"/>
                              <a:ea typeface="Cambria Math"/>
                            </a:rPr>
                            <m:t>𝑎</m:t>
                          </m:r>
                        </m:num>
                        <m:den>
                          <m:sSup>
                            <m:sSupPr>
                              <m:ctrlPr>
                                <a:rPr lang="ro-RO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o-RO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ro-RO" sz="1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</m:oMath>
                  </m:oMathPara>
                </a14:m>
                <a:endParaRPr lang="ro-RO" sz="1800" i="1" dirty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:endParaRPr lang="ro-RO" sz="1800" i="1" dirty="0">
                  <a:latin typeface="Cambria Math"/>
                  <a:ea typeface="Cambria Math"/>
                </a:endParaRP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i="1" dirty="0"/>
                  <a:t>m</a:t>
                </a:r>
                <a:r>
                  <a:rPr lang="ro-RO" sz="1800" dirty="0"/>
                  <a:t> este calculat astfel încât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𝑛𝑧</m:t>
                          </m:r>
                        </m:sup>
                      </m:sSup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ro-RO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ro-RO" sz="1800" i="1">
                              <a:latin typeface="Cambria Math" panose="02040503050406030204" pitchFamily="18" charset="0"/>
                              <a:ea typeface="Cambria Math"/>
                            </a:rPr>
                            <m:t>𝑏</m:t>
                          </m:r>
                          <m:r>
                            <a:rPr lang="ro-RO" sz="1800" i="1">
                              <a:latin typeface="Cambria Math" panose="02040503050406030204" pitchFamily="18" charset="0"/>
                              <a:ea typeface="Cambria Math"/>
                            </a:rPr>
                            <m:t>−</m:t>
                          </m:r>
                          <m:r>
                            <a:rPr lang="ro-RO" sz="1800" i="1">
                              <a:latin typeface="Cambria Math" panose="02040503050406030204" pitchFamily="18" charset="0"/>
                              <a:ea typeface="Cambria Math"/>
                            </a:rPr>
                            <m:t>𝑎</m:t>
                          </m:r>
                        </m:num>
                        <m:den>
                          <m:sSup>
                            <m:sSupPr>
                              <m:ctrlPr>
                                <a:rPr lang="ro-RO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o-RO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ro-RO" sz="1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ro-RO" sz="1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  <m:r>
                        <a:rPr lang="ro-RO" sz="1800" i="1" dirty="0">
                          <a:latin typeface="Cambria Math"/>
                          <a:ea typeface="Cambria Math"/>
                        </a:rPr>
                        <m:t>&gt;</m:t>
                      </m:r>
                      <m:f>
                        <m:fPr>
                          <m:ctrlPr>
                            <a:rPr lang="ro-RO" sz="1800" i="1" dirty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ro-RO" sz="1800" i="1" dirty="0">
                              <a:latin typeface="Cambria Math" panose="02040503050406030204" pitchFamily="18" charset="0"/>
                              <a:ea typeface="Cambria Math"/>
                            </a:rPr>
                            <m:t>𝑏</m:t>
                          </m:r>
                          <m:r>
                            <a:rPr lang="ro-RO" sz="1800" i="1" dirty="0">
                              <a:latin typeface="Cambria Math" panose="02040503050406030204" pitchFamily="18" charset="0"/>
                              <a:ea typeface="Cambria Math"/>
                            </a:rPr>
                            <m:t>−</m:t>
                          </m:r>
                          <m:r>
                            <a:rPr lang="ro-RO" sz="1800" i="1" dirty="0">
                              <a:latin typeface="Cambria Math" panose="02040503050406030204" pitchFamily="18" charset="0"/>
                              <a:ea typeface="Cambria Math"/>
                            </a:rPr>
                            <m:t>𝑎</m:t>
                          </m:r>
                        </m:num>
                        <m:den>
                          <m:r>
                            <a:rPr lang="ro-RO" sz="1800" i="1" dirty="0">
                              <a:latin typeface="Cambria Math" panose="02040503050406030204" pitchFamily="18" charset="0"/>
                              <a:ea typeface="Cambria Math"/>
                            </a:rPr>
                            <m:t>𝑁</m:t>
                          </m:r>
                        </m:den>
                      </m:f>
                      <m:r>
                        <a:rPr lang="ro-RO" sz="18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ro-RO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ro-RO" sz="1800" i="1">
                              <a:latin typeface="Cambria Math" panose="02040503050406030204" pitchFamily="18" charset="0"/>
                              <a:ea typeface="Cambria Math"/>
                            </a:rPr>
                            <m:t>𝑏</m:t>
                          </m:r>
                          <m:r>
                            <a:rPr lang="ro-RO" sz="1800" i="1">
                              <a:latin typeface="Cambria Math" panose="02040503050406030204" pitchFamily="18" charset="0"/>
                              <a:ea typeface="Cambria Math"/>
                            </a:rPr>
                            <m:t>−</m:t>
                          </m:r>
                          <m:r>
                            <a:rPr lang="ro-RO" sz="1800" i="1">
                              <a:latin typeface="Cambria Math" panose="02040503050406030204" pitchFamily="18" charset="0"/>
                              <a:ea typeface="Cambria Math"/>
                            </a:rPr>
                            <m:t>𝑎</m:t>
                          </m:r>
                        </m:num>
                        <m:den>
                          <m:sSup>
                            <m:sSupPr>
                              <m:ctrlPr>
                                <a:rPr lang="ro-RO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o-RO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ro-RO" sz="1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−1</m:t>
                          </m:r>
                        </m:den>
                      </m:f>
                      <m:r>
                        <a:rPr lang="ro-RO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sSup>
                        <m:sSupPr>
                          <m:ctrlPr>
                            <a:rPr lang="ro-RO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𝑛𝑧</m:t>
                          </m:r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ro-RO" sz="1800" i="1" dirty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:endParaRPr lang="ro-RO" sz="1800" i="1" dirty="0">
                  <a:latin typeface="Cambria Math"/>
                  <a:ea typeface="Cambria Math"/>
                </a:endParaRPr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1800" dirty="0">
                    <a:latin typeface="+mj-lt"/>
                    <a:ea typeface="Cambria Math"/>
                  </a:rPr>
                  <a:t>R</a:t>
                </a:r>
                <a:r>
                  <a:rPr lang="ro-RO" sz="1800" dirty="0" err="1">
                    <a:latin typeface="+mj-lt"/>
                    <a:ea typeface="Cambria Math"/>
                  </a:rPr>
                  <a:t>ezolvarea</a:t>
                </a:r>
                <a:r>
                  <a:rPr lang="ro-RO" sz="1800" dirty="0">
                    <a:latin typeface="+mj-lt"/>
                    <a:ea typeface="Cambria Math"/>
                  </a:rPr>
                  <a:t> inecuațiilor de mai sus</a:t>
                </a:r>
                <a:r>
                  <a:rPr lang="en-US" sz="1800" dirty="0">
                    <a:latin typeface="+mj-lt"/>
                    <a:ea typeface="Cambria Math"/>
                  </a:rPr>
                  <a:t>: </a:t>
                </a:r>
              </a:p>
              <a:p>
                <a:pPr marL="0" indent="0">
                  <a:buNone/>
                </a:pPr>
                <a:endParaRPr lang="en-US" sz="18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𝑛𝑧</m:t>
                          </m:r>
                        </m:sup>
                      </m:sSup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ro-RO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ro-RO" sz="1800" i="1">
                              <a:latin typeface="Cambria Math" panose="02040503050406030204" pitchFamily="18" charset="0"/>
                              <a:ea typeface="Cambria Math"/>
                            </a:rPr>
                            <m:t>𝑏</m:t>
                          </m:r>
                          <m:r>
                            <a:rPr lang="ro-RO" sz="1800" i="1">
                              <a:latin typeface="Cambria Math" panose="02040503050406030204" pitchFamily="18" charset="0"/>
                              <a:ea typeface="Cambria Math"/>
                            </a:rPr>
                            <m:t>−</m:t>
                          </m:r>
                          <m:r>
                            <a:rPr lang="ro-RO" sz="1800" i="1">
                              <a:latin typeface="Cambria Math" panose="02040503050406030204" pitchFamily="18" charset="0"/>
                              <a:ea typeface="Cambria Math"/>
                            </a:rPr>
                            <m:t>𝑎</m:t>
                          </m:r>
                        </m:num>
                        <m:den>
                          <m:sSup>
                            <m:sSupPr>
                              <m:ctrlPr>
                                <a:rPr lang="ro-RO" sz="1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o-RO" sz="1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ro-RO" sz="18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ro-RO" sz="18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</m:den>
                      </m:f>
                      <m:r>
                        <a:rPr lang="en-US" sz="18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dirty="0">
                          <a:latin typeface="+mj-lt"/>
                          <a:ea typeface="Cambria Math"/>
                        </a:rPr>
                        <m:t>→</m:t>
                      </m:r>
                      <m:r>
                        <a:rPr lang="en-US" sz="1800" b="0" i="0" dirty="0" smtClean="0">
                          <a:latin typeface="Cambria Math" panose="02040503050406030204" pitchFamily="18" charset="0"/>
                          <a:ea typeface="Cambria Math"/>
                        </a:rPr>
                        <m:t> </m:t>
                      </m:r>
                      <m:sSup>
                        <m:sSupPr>
                          <m:ctrlPr>
                            <a:rPr lang="ro-RO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ro-RO" sz="1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ro-RO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𝑛𝑧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→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/>
                        </a:rPr>
                        <m:t>𝑚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/>
                        </a:rPr>
                        <m:t>−1≥</m:t>
                      </m:r>
                      <m:sSub>
                        <m:sSubPr>
                          <m:ctrlPr>
                            <a:rPr lang="ro-RO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ro-RO" sz="1800" b="0" i="1">
                              <a:latin typeface="Cambria Math"/>
                              <a:ea typeface="Cambria Math"/>
                            </a:rPr>
                            <m:t>𝑙𝑜𝑔</m:t>
                          </m:r>
                        </m:e>
                        <m:sub>
                          <m:r>
                            <a:rPr lang="ro-RO" sz="1800" b="0" i="1">
                              <a:latin typeface="Cambria Math"/>
                              <a:ea typeface="Cambria Math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ro-RO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ro-RO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1800" b="0" i="1">
                                  <a:latin typeface="Cambria Math"/>
                                </a:rPr>
                                <m:t>𝑏</m:t>
                              </m:r>
                              <m:r>
                                <a:rPr lang="ro-RO" sz="1800" b="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ro-RO" sz="1800" b="0" i="1">
                                  <a:latin typeface="Cambria Math"/>
                                </a:rPr>
                                <m:t>𝑎</m:t>
                              </m:r>
                            </m:e>
                          </m:d>
                          <m:r>
                            <a:rPr lang="ro-RO" sz="1800" b="0" i="1">
                              <a:latin typeface="Cambria Math"/>
                              <a:ea typeface="Cambria Math"/>
                            </a:rPr>
                            <m:t>∙</m:t>
                          </m:r>
                          <m:sSup>
                            <m:sSupPr>
                              <m:ctrlPr>
                                <a:rPr lang="ro-RO" sz="18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ro-RO" sz="1800" b="0" i="1">
                                  <a:latin typeface="Cambria Math"/>
                                  <a:ea typeface="Cambria Math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ro-RO" sz="1800" b="0" i="1">
                                  <a:latin typeface="Cambria Math"/>
                                  <a:ea typeface="Cambria Math"/>
                                </a:rPr>
                                <m:t>𝑛𝑧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1800" dirty="0">
                  <a:latin typeface="+mj-lt"/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/>
                        </a:rPr>
                        <m:t>𝑚</m:t>
                      </m:r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ro-RO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ro-RO" sz="1800" b="0" i="1">
                              <a:latin typeface="Cambria Math"/>
                              <a:ea typeface="Cambria Math"/>
                            </a:rPr>
                            <m:t>𝑙𝑜𝑔</m:t>
                          </m:r>
                        </m:e>
                        <m:sub>
                          <m:r>
                            <a:rPr lang="ro-RO" sz="1800" b="0" i="1">
                              <a:latin typeface="Cambria Math"/>
                              <a:ea typeface="Cambria Math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ro-RO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ro-RO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1800" b="0" i="1">
                                  <a:latin typeface="Cambria Math"/>
                                </a:rPr>
                                <m:t>𝑏</m:t>
                              </m:r>
                              <m:r>
                                <a:rPr lang="ro-RO" sz="1800" b="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ro-RO" sz="1800" b="0" i="1">
                                  <a:latin typeface="Cambria Math"/>
                                </a:rPr>
                                <m:t>𝑎</m:t>
                              </m:r>
                            </m:e>
                          </m:d>
                          <m:r>
                            <a:rPr lang="ro-RO" sz="1800" b="0" i="1">
                              <a:latin typeface="Cambria Math"/>
                              <a:ea typeface="Cambria Math"/>
                            </a:rPr>
                            <m:t>∙</m:t>
                          </m:r>
                          <m:sSup>
                            <m:sSupPr>
                              <m:ctrlPr>
                                <a:rPr lang="ro-RO" sz="18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ro-RO" sz="1800" b="0" i="1">
                                  <a:latin typeface="Cambria Math"/>
                                  <a:ea typeface="Cambria Math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ro-RO" sz="1800" b="0" i="1">
                                  <a:latin typeface="Cambria Math"/>
                                  <a:ea typeface="Cambria Math"/>
                                </a:rPr>
                                <m:t>𝑛𝑧</m:t>
                              </m:r>
                            </m:sup>
                          </m:sSup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/>
                        </a:rPr>
                        <m:t>+1           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1800" dirty="0">
                  <a:latin typeface="+mj-lt"/>
                  <a:ea typeface="Cambria Math"/>
                </a:endParaRPr>
              </a:p>
              <a:p>
                <a:pPr marL="0" indent="0">
                  <a:buNone/>
                </a:pPr>
                <a:endParaRPr lang="en-US" sz="1800" dirty="0">
                  <a:latin typeface="+mj-lt"/>
                  <a:ea typeface="Cambria Math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ro-RO" sz="1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ro-RO" sz="1800" i="1">
                            <a:latin typeface="Cambria Math" panose="02040503050406030204" pitchFamily="18" charset="0"/>
                            <a:ea typeface="Cambria Math"/>
                          </a:rPr>
                          <m:t>𝑏</m:t>
                        </m:r>
                        <m:r>
                          <a:rPr lang="ro-RO" sz="1800" i="1">
                            <a:latin typeface="Cambria Math" panose="02040503050406030204" pitchFamily="18" charset="0"/>
                            <a:ea typeface="Cambria Math"/>
                          </a:rPr>
                          <m:t>−</m:t>
                        </m:r>
                        <m:r>
                          <a:rPr lang="ro-RO" sz="1800" i="1">
                            <a:latin typeface="Cambria Math" panose="02040503050406030204" pitchFamily="18" charset="0"/>
                            <a:ea typeface="Cambria Math"/>
                          </a:rPr>
                          <m:t>𝑎</m:t>
                        </m:r>
                      </m:num>
                      <m:den>
                        <m:sSup>
                          <m:sSupPr>
                            <m:ctrlPr>
                              <a:rPr lang="ro-RO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ro-RO" sz="1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ro-RO" sz="1800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r>
                      <a:rPr lang="ro-RO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𝑛𝑧</m:t>
                        </m:r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1800" b="1" i="1" dirty="0">
                    <a:latin typeface="Cambria Math"/>
                    <a:ea typeface="Cambria Math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−1&lt;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ro-RO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𝑛𝑧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→ </m:t>
                    </m:r>
                    <m:sSup>
                      <m:sSupPr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sz="1800" i="1">
                        <a:latin typeface="Cambria Math" panose="02040503050406030204" pitchFamily="18" charset="0"/>
                      </a:rPr>
                      <m:t>&lt;</m:t>
                    </m:r>
                    <m:d>
                      <m:d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ro-RO" sz="1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sSup>
                      <m:sSupPr>
                        <m:ctrlP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𝑛𝑧</m:t>
                        </m:r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</m:t>
                    </m:r>
                  </m:oMath>
                </a14:m>
                <a:endParaRPr lang="en-US" sz="1800" b="1" i="1" dirty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/>
                        </a:rPr>
                        <m:t>𝑚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/>
                        </a:rPr>
                        <m:t>&lt;</m:t>
                      </m:r>
                      <m:sSub>
                        <m:sSubPr>
                          <m:ctrlPr>
                            <a:rPr lang="ro-RO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ro-RO" sz="1800" b="0" i="1">
                              <a:latin typeface="Cambria Math"/>
                              <a:ea typeface="Cambria Math"/>
                            </a:rPr>
                            <m:t>𝑙𝑜𝑔</m:t>
                          </m:r>
                        </m:e>
                        <m:sub>
                          <m:r>
                            <a:rPr lang="ro-RO" sz="1800" b="0" i="1">
                              <a:latin typeface="Cambria Math"/>
                              <a:ea typeface="Cambria Math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ro-RO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ro-RO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1800" b="0" i="1">
                                  <a:latin typeface="Cambria Math"/>
                                </a:rPr>
                                <m:t>𝑏</m:t>
                              </m:r>
                              <m:r>
                                <a:rPr lang="ro-RO" sz="1800" b="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ro-RO" sz="1800" b="0" i="1">
                                  <a:latin typeface="Cambria Math"/>
                                </a:rPr>
                                <m:t>𝑎</m:t>
                              </m:r>
                            </m:e>
                          </m:d>
                          <m:r>
                            <a:rPr lang="ro-RO" sz="1800" b="0" i="1">
                              <a:latin typeface="Cambria Math"/>
                              <a:ea typeface="Cambria Math"/>
                            </a:rPr>
                            <m:t>∙</m:t>
                          </m:r>
                          <m:sSup>
                            <m:sSupPr>
                              <m:ctrlPr>
                                <a:rPr lang="ro-RO" sz="18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ro-RO" sz="1800" b="0" i="1">
                                  <a:latin typeface="Cambria Math"/>
                                  <a:ea typeface="Cambria Math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ro-RO" sz="1800" b="0" i="1">
                                  <a:latin typeface="Cambria Math"/>
                                  <a:ea typeface="Cambria Math"/>
                                </a:rPr>
                                <m:t>𝑛𝑧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+1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+1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/>
                        </a:rPr>
                        <m:t>         </m:t>
                      </m:r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sz="1800" dirty="0">
                  <a:latin typeface="+mj-lt"/>
                  <a:ea typeface="Cambria Math"/>
                </a:endParaRPr>
              </a:p>
              <a:p>
                <a:pPr marL="0" indent="0">
                  <a:buNone/>
                </a:pPr>
                <a:endParaRPr lang="ro-RO" sz="1800" dirty="0"/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>
          <p:sp>
            <p:nvSpPr>
              <p:cNvPr id="24" name="Text Placeholder 1">
                <a:extLst>
                  <a:ext uri="{FF2B5EF4-FFF2-40B4-BE49-F238E27FC236}">
                    <a16:creationId xmlns:a16="http://schemas.microsoft.com/office/drawing/2014/main" id="{386E511B-5C19-1A63-209C-79997253F8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1981200" y="990600"/>
                <a:ext cx="8534400" cy="5486400"/>
              </a:xfrm>
              <a:blipFill>
                <a:blip r:embed="rId2"/>
                <a:stretch>
                  <a:fillRect l="-429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68111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3293A-0390-BFBD-DDC6-28BDEBF3A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C06E8A47-C738-376F-55B8-B87AE3F736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66900" y="304800"/>
            <a:ext cx="8458200" cy="858838"/>
          </a:xfrm>
        </p:spPr>
        <p:txBody>
          <a:bodyPr/>
          <a:lstStyle/>
          <a:p>
            <a:pPr eaLnBrk="1" hangingPunct="1"/>
            <a:r>
              <a:rPr lang="ro-RO" altLang="en-US" sz="2600" b="1" dirty="0"/>
              <a:t>Exemplu de reprezentare binară a unui număr real</a:t>
            </a:r>
          </a:p>
        </p:txBody>
      </p:sp>
      <p:sp>
        <p:nvSpPr>
          <p:cNvPr id="9220" name="Rectangle 9">
            <a:extLst>
              <a:ext uri="{FF2B5EF4-FFF2-40B4-BE49-F238E27FC236}">
                <a16:creationId xmlns:a16="http://schemas.microsoft.com/office/drawing/2014/main" id="{1B5324AD-F3DB-871A-4B6D-D53C49F81E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1" name="Rectangle 11">
            <a:extLst>
              <a:ext uri="{FF2B5EF4-FFF2-40B4-BE49-F238E27FC236}">
                <a16:creationId xmlns:a16="http://schemas.microsoft.com/office/drawing/2014/main" id="{7A551629-E023-040E-A21F-29E8D95DC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538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2" name="Rectangle 13">
            <a:extLst>
              <a:ext uri="{FF2B5EF4-FFF2-40B4-BE49-F238E27FC236}">
                <a16:creationId xmlns:a16="http://schemas.microsoft.com/office/drawing/2014/main" id="{522ED703-956F-0F84-39DB-EAEA5A3C46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3" name="Rectangle 15">
            <a:extLst>
              <a:ext uri="{FF2B5EF4-FFF2-40B4-BE49-F238E27FC236}">
                <a16:creationId xmlns:a16="http://schemas.microsoft.com/office/drawing/2014/main" id="{697ED4E8-2E91-84CA-F140-3320D01113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90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4" name="Rectangle 19">
            <a:extLst>
              <a:ext uri="{FF2B5EF4-FFF2-40B4-BE49-F238E27FC236}">
                <a16:creationId xmlns:a16="http://schemas.microsoft.com/office/drawing/2014/main" id="{92DBD798-9703-5439-DCC8-4C80B8F6D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5" name="Rectangle 21">
            <a:extLst>
              <a:ext uri="{FF2B5EF4-FFF2-40B4-BE49-F238E27FC236}">
                <a16:creationId xmlns:a16="http://schemas.microsoft.com/office/drawing/2014/main" id="{E0E7F390-1367-6D2C-A7DA-E030A149D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6" name="Rectangle 23">
            <a:extLst>
              <a:ext uri="{FF2B5EF4-FFF2-40B4-BE49-F238E27FC236}">
                <a16:creationId xmlns:a16="http://schemas.microsoft.com/office/drawing/2014/main" id="{611C7EFA-C0B6-BC10-B706-9B816C31F9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7" name="Rectangle 27">
            <a:extLst>
              <a:ext uri="{FF2B5EF4-FFF2-40B4-BE49-F238E27FC236}">
                <a16:creationId xmlns:a16="http://schemas.microsoft.com/office/drawing/2014/main" id="{109562FE-D69B-73AA-3931-08BBB38C6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8" name="Rectangle 29">
            <a:extLst>
              <a:ext uri="{FF2B5EF4-FFF2-40B4-BE49-F238E27FC236}">
                <a16:creationId xmlns:a16="http://schemas.microsoft.com/office/drawing/2014/main" id="{CA137CBB-2E62-12B7-37BD-569E39B5E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9" name="Rectangle 31">
            <a:extLst>
              <a:ext uri="{FF2B5EF4-FFF2-40B4-BE49-F238E27FC236}">
                <a16:creationId xmlns:a16="http://schemas.microsoft.com/office/drawing/2014/main" id="{77B87AEF-A9CA-738D-FA07-927B5A4F21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0" name="Rectangle 33">
            <a:extLst>
              <a:ext uri="{FF2B5EF4-FFF2-40B4-BE49-F238E27FC236}">
                <a16:creationId xmlns:a16="http://schemas.microsoft.com/office/drawing/2014/main" id="{21FBF35D-4601-C46B-0C41-2360D88557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1" name="Rectangle 35">
            <a:extLst>
              <a:ext uri="{FF2B5EF4-FFF2-40B4-BE49-F238E27FC236}">
                <a16:creationId xmlns:a16="http://schemas.microsoft.com/office/drawing/2014/main" id="{03717377-C02F-AEAA-7028-5466195CA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2" name="Rectangle 37">
            <a:extLst>
              <a:ext uri="{FF2B5EF4-FFF2-40B4-BE49-F238E27FC236}">
                <a16:creationId xmlns:a16="http://schemas.microsoft.com/office/drawing/2014/main" id="{9B828CCF-D4A0-23FA-B519-356146E30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3" name="Rectangle 41">
            <a:extLst>
              <a:ext uri="{FF2B5EF4-FFF2-40B4-BE49-F238E27FC236}">
                <a16:creationId xmlns:a16="http://schemas.microsoft.com/office/drawing/2014/main" id="{515C29CA-09B6-EA37-7BF3-AC8217626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4" name="Rectangle 43">
            <a:extLst>
              <a:ext uri="{FF2B5EF4-FFF2-40B4-BE49-F238E27FC236}">
                <a16:creationId xmlns:a16="http://schemas.microsoft.com/office/drawing/2014/main" id="{6668BF99-714C-B283-64E5-F604128D3E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5" name="Rectangle 45">
            <a:extLst>
              <a:ext uri="{FF2B5EF4-FFF2-40B4-BE49-F238E27FC236}">
                <a16:creationId xmlns:a16="http://schemas.microsoft.com/office/drawing/2014/main" id="{93F21F8D-D3AE-250C-A0BB-98BD9AE19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6" name="Rectangle 47">
            <a:extLst>
              <a:ext uri="{FF2B5EF4-FFF2-40B4-BE49-F238E27FC236}">
                <a16:creationId xmlns:a16="http://schemas.microsoft.com/office/drawing/2014/main" id="{046135A8-F2F1-4D52-C33C-2EB6F197D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7" name="Rectangle 52">
            <a:extLst>
              <a:ext uri="{FF2B5EF4-FFF2-40B4-BE49-F238E27FC236}">
                <a16:creationId xmlns:a16="http://schemas.microsoft.com/office/drawing/2014/main" id="{FF8DB17C-C185-97D2-4529-B840F42DE0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6441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8" name="Rectangle 54">
            <a:extLst>
              <a:ext uri="{FF2B5EF4-FFF2-40B4-BE49-F238E27FC236}">
                <a16:creationId xmlns:a16="http://schemas.microsoft.com/office/drawing/2014/main" id="{C1813DF5-A4FE-EC34-9ACC-DBF59D6B4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3012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 Placeholder 1">
                <a:extLst>
                  <a:ext uri="{FF2B5EF4-FFF2-40B4-BE49-F238E27FC236}">
                    <a16:creationId xmlns:a16="http://schemas.microsoft.com/office/drawing/2014/main" id="{26E8F30B-D8EA-DA61-E385-7E85FB82C8DA}"/>
                  </a:ext>
                </a:extLst>
              </p:cNvPr>
              <p:cNvSpPr>
                <a:spLocks noGrp="1"/>
              </p:cNvSpPr>
              <p:nvPr>
                <p:ph type="body" sz="half" idx="1"/>
              </p:nvPr>
            </p:nvSpPr>
            <p:spPr>
              <a:xfrm>
                <a:off x="1981200" y="990600"/>
                <a:ext cx="8534400" cy="5486400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endParaRPr lang="en-US" sz="1800" dirty="0">
                  <a:latin typeface="+mj-lt"/>
                  <a:ea typeface="Cambria Math"/>
                </a:endParaRPr>
              </a:p>
              <a:p>
                <a:pPr marL="0" indent="0">
                  <a:buNone/>
                </a:pPr>
                <a:r>
                  <a:rPr lang="en-US" sz="1800" b="1" i="1" dirty="0">
                    <a:latin typeface="Cambria Math"/>
                    <a:ea typeface="Cambria Math"/>
                  </a:rPr>
                  <a:t>Din (1) </a:t>
                </a:r>
                <a:r>
                  <a:rPr lang="ro-RO" sz="1800" b="1" i="1" dirty="0">
                    <a:latin typeface="Cambria Math"/>
                    <a:ea typeface="Cambria Math"/>
                  </a:rPr>
                  <a:t>și 2 obținem intervalul în care trebuie ales numărul natural m:</a:t>
                </a:r>
              </a:p>
              <a:p>
                <a:pPr marL="0" indent="0">
                  <a:buNone/>
                </a:pPr>
                <a:endParaRPr lang="ro-RO" sz="1800" i="1" dirty="0">
                  <a:latin typeface="Cambria Math" panose="02040503050406030204" pitchFamily="18" charset="0"/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o-RO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ro-RO" sz="1800" i="1">
                              <a:latin typeface="Cambria Math"/>
                              <a:ea typeface="Cambria Math"/>
                            </a:rPr>
                            <m:t>𝑙𝑜𝑔</m:t>
                          </m:r>
                        </m:e>
                        <m:sub>
                          <m:r>
                            <a:rPr lang="ro-RO" sz="1800" i="1">
                              <a:latin typeface="Cambria Math"/>
                              <a:ea typeface="Cambria Math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ro-RO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ro-RO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1800" i="1">
                                  <a:latin typeface="Cambria Math"/>
                                </a:rPr>
                                <m:t>𝑏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ro-RO" sz="1800" i="1">
                                  <a:latin typeface="Cambria Math"/>
                                </a:rPr>
                                <m:t>𝑎</m:t>
                              </m:r>
                            </m:e>
                          </m:d>
                          <m:r>
                            <a:rPr lang="ro-RO" sz="1800" i="1">
                              <a:latin typeface="Cambria Math"/>
                              <a:ea typeface="Cambria Math"/>
                            </a:rPr>
                            <m:t>∙</m:t>
                          </m:r>
                          <m:sSup>
                            <m:sSupPr>
                              <m:ctrlPr>
                                <a:rPr lang="ro-RO" sz="18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ro-RO" sz="1800" i="1">
                                  <a:latin typeface="Cambria Math"/>
                                  <a:ea typeface="Cambria Math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ro-RO" sz="1800" i="1">
                                  <a:latin typeface="Cambria Math"/>
                                  <a:ea typeface="Cambria Math"/>
                                </a:rPr>
                                <m:t>𝑛𝑧</m:t>
                              </m:r>
                            </m:sup>
                          </m:sSup>
                        </m:e>
                      </m:d>
                      <m:r>
                        <a:rPr lang="en-US" sz="1800" i="1">
                          <a:latin typeface="Cambria Math" panose="02040503050406030204" pitchFamily="18" charset="0"/>
                          <a:ea typeface="Cambria Math"/>
                        </a:rPr>
                        <m:t>+1 </m:t>
                      </m:r>
                      <m:r>
                        <a:rPr lang="en-US" sz="1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/>
                        </a:rPr>
                        <m:t>𝑚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  <a:ea typeface="Cambria Math"/>
                        </a:rPr>
                        <m:t>&lt;</m:t>
                      </m:r>
                      <m:sSub>
                        <m:sSubPr>
                          <m:ctrlPr>
                            <a:rPr lang="ro-RO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ro-RO" sz="1800" b="0" i="1">
                              <a:latin typeface="Cambria Math"/>
                              <a:ea typeface="Cambria Math"/>
                            </a:rPr>
                            <m:t>𝑙𝑜𝑔</m:t>
                          </m:r>
                        </m:e>
                        <m:sub>
                          <m:r>
                            <a:rPr lang="ro-RO" sz="1800" b="0" i="1">
                              <a:latin typeface="Cambria Math"/>
                              <a:ea typeface="Cambria Math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ro-RO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ro-RO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o-RO" sz="1800" b="0" i="1">
                                  <a:latin typeface="Cambria Math"/>
                                </a:rPr>
                                <m:t>𝑏</m:t>
                              </m:r>
                              <m:r>
                                <a:rPr lang="ro-RO" sz="1800" b="0" i="1">
                                  <a:latin typeface="Cambria Math"/>
                                </a:rPr>
                                <m:t>−</m:t>
                              </m:r>
                              <m:r>
                                <a:rPr lang="ro-RO" sz="1800" b="0" i="1">
                                  <a:latin typeface="Cambria Math"/>
                                </a:rPr>
                                <m:t>𝑎</m:t>
                              </m:r>
                            </m:e>
                          </m:d>
                          <m:r>
                            <a:rPr lang="ro-RO" sz="1800" b="0" i="1">
                              <a:latin typeface="Cambria Math"/>
                              <a:ea typeface="Cambria Math"/>
                            </a:rPr>
                            <m:t>∙</m:t>
                          </m:r>
                          <m:sSup>
                            <m:sSupPr>
                              <m:ctrlPr>
                                <a:rPr lang="ro-RO" sz="18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ro-RO" sz="1800" b="0" i="1">
                                  <a:latin typeface="Cambria Math"/>
                                  <a:ea typeface="Cambria Math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ro-RO" sz="1800" b="0" i="1">
                                  <a:latin typeface="Cambria Math"/>
                                  <a:ea typeface="Cambria Math"/>
                                </a:rPr>
                                <m:t>𝑛𝑧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+1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+1</m:t>
                          </m:r>
                        </m:e>
                      </m:d>
                    </m:oMath>
                  </m:oMathPara>
                </a14:m>
                <a:endParaRPr lang="ro-RO" sz="1800" b="1" i="1" dirty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:endParaRPr lang="ro-RO" sz="1800" b="1" i="1" dirty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:r>
                  <a:rPr lang="ro-RO" sz="1800" b="1" i="1" dirty="0">
                    <a:latin typeface="Cambria Math"/>
                    <a:ea typeface="Cambria Math"/>
                  </a:rPr>
                  <a:t>Alegeri posibile: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ro-RO" sz="1800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180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1800" b="0" i="0">
                                <a:latin typeface="Cambria Math"/>
                                <a:ea typeface="Cambria Math"/>
                              </a:rPr>
                              <m:t>log</m:t>
                            </m:r>
                          </m:e>
                          <m:sub>
                            <m:r>
                              <a:rPr lang="ro-RO" sz="1800" b="0" i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ro-RO" sz="180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ro-RO" sz="180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ro-RO" sz="1800" b="0" i="0">
                                    <a:latin typeface="Cambria Math"/>
                                  </a:rPr>
                                  <m:t>b</m:t>
                                </m:r>
                                <m:r>
                                  <a:rPr lang="ro-RO" sz="1800" b="0" i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ro-RO" sz="1800" b="0" i="0">
                                    <a:latin typeface="Cambria Math"/>
                                  </a:rPr>
                                  <m:t>a</m:t>
                                </m:r>
                              </m:e>
                            </m:d>
                            <m:r>
                              <a:rPr lang="ro-RO" sz="1800" b="0" i="0">
                                <a:latin typeface="Cambria Math"/>
                                <a:ea typeface="Cambria Math"/>
                              </a:rPr>
                              <m:t>∙</m:t>
                            </m:r>
                            <m:sSup>
                              <m:sSupPr>
                                <m:ctrlPr>
                                  <a:rPr lang="ro-RO" sz="1800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pPr>
                              <m:e>
                                <m:r>
                                  <a:rPr lang="ro-RO" sz="1800" b="0" i="0">
                                    <a:latin typeface="Cambria Math"/>
                                    <a:ea typeface="Cambria Math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ro-RO" sz="1800" b="0" i="0">
                                    <a:latin typeface="Cambria Math"/>
                                    <a:ea typeface="Cambria Math"/>
                                  </a:rPr>
                                  <m:t>nz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r>
                  <a:rPr lang="ro-RO" sz="1800" dirty="0">
                    <a:latin typeface="Cambria Math"/>
                    <a:ea typeface="Cambria Math"/>
                  </a:rPr>
                  <a:t>+1, ...,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ro-RO" sz="1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1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  <a:ea typeface="Cambria Math"/>
                              </a:rPr>
                              <m:t>𝑙𝑜𝑔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ro-RO" sz="1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ro-RO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o-RO" sz="1800" i="1">
                                    <a:latin typeface="Cambria Math"/>
                                  </a:rPr>
                                  <m:t>𝑏</m:t>
                                </m:r>
                                <m:r>
                                  <a:rPr lang="ro-RO" sz="1800" i="1"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ro-RO" sz="1800" i="1">
                                    <a:latin typeface="Cambria Math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ro-RO" sz="1800" i="1">
                                <a:latin typeface="Cambria Math"/>
                                <a:ea typeface="Cambria Math"/>
                              </a:rPr>
                              <m:t>∙</m:t>
                            </m:r>
                            <m:sSup>
                              <m:sSupPr>
                                <m:ctrlPr>
                                  <a:rPr lang="ro-RO" sz="1800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pPr>
                              <m:e>
                                <m:r>
                                  <a:rPr lang="ro-RO" sz="1800" i="1">
                                    <a:latin typeface="Cambria Math"/>
                                    <a:ea typeface="Cambria Math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ro-RO" sz="1800" i="1">
                                    <a:latin typeface="Cambria Math"/>
                                    <a:ea typeface="Cambria Math"/>
                                  </a:rPr>
                                  <m:t>𝑛𝑧</m:t>
                                </m:r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  <m:t>+1</m:t>
                                </m:r>
                              </m:sup>
                            </m:sSup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/>
                              </a:rPr>
                              <m:t>+1</m:t>
                            </m:r>
                          </m:e>
                        </m:d>
                      </m:e>
                    </m:d>
                  </m:oMath>
                </a14:m>
                <a:endParaRPr lang="ro-RO" sz="1800" dirty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:endParaRPr lang="ro-RO" sz="1800" dirty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:r>
                  <a:rPr lang="ro-RO" sz="1800" dirty="0">
                    <a:latin typeface="Cambria Math"/>
                    <a:ea typeface="Cambria Math"/>
                  </a:rPr>
                  <a:t>Observația: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/>
                            <a:ea typeface="Cambria Math"/>
                          </a:rPr>
                          <m:t>𝑙𝑜𝑔</m:t>
                        </m:r>
                      </m:e>
                      <m:sub>
                        <m:r>
                          <a:rPr lang="ro-RO" sz="1800" i="1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ro-RO" sz="1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ro-RO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o-RO" sz="1800" i="1">
                                <a:latin typeface="Cambria Math"/>
                              </a:rPr>
                              <m:t>𝑏</m:t>
                            </m:r>
                            <m:r>
                              <a:rPr lang="ro-RO" sz="1800" i="1">
                                <a:latin typeface="Cambria Math"/>
                              </a:rPr>
                              <m:t>−</m:t>
                            </m:r>
                            <m:r>
                              <a:rPr lang="ro-RO" sz="1800" i="1">
                                <a:latin typeface="Cambria Math"/>
                              </a:rPr>
                              <m:t>𝑎</m:t>
                            </m:r>
                          </m:e>
                        </m:d>
                        <m:r>
                          <a:rPr lang="ro-RO" sz="1800" i="1">
                            <a:latin typeface="Cambria Math"/>
                            <a:ea typeface="Cambria Math"/>
                          </a:rPr>
                          <m:t>∙</m:t>
                        </m:r>
                        <m:sSup>
                          <m:sSupPr>
                            <m:ctrlPr>
                              <a:rPr lang="ro-RO" sz="1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ro-RO" sz="1800" i="1">
                                <a:latin typeface="Cambria Math"/>
                                <a:ea typeface="Cambria Math"/>
                              </a:rPr>
                              <m:t>10</m:t>
                            </m:r>
                          </m:e>
                          <m:sup>
                            <m:r>
                              <a:rPr lang="ro-RO" sz="1800" i="1">
                                <a:latin typeface="Cambria Math"/>
                                <a:ea typeface="Cambria Math"/>
                              </a:rPr>
                              <m:t>𝑛𝑧</m:t>
                            </m:r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/>
                              </a:rPr>
                              <m:t>+1</m:t>
                            </m:r>
                          </m:sup>
                        </m:sSup>
                      </m:e>
                    </m:d>
                    <m:r>
                      <a:rPr lang="ro-RO" sz="1800" b="0" i="1" smtClean="0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</m:oMath>
                </a14:m>
                <a:r>
                  <a:rPr lang="ro-RO" sz="18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1800">
                            <a:latin typeface="Cambria Math"/>
                            <a:ea typeface="Cambria Math"/>
                          </a:rPr>
                          <m:t>log</m:t>
                        </m:r>
                      </m:e>
                      <m:sub>
                        <m:r>
                          <a:rPr lang="ro-RO" sz="180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ro-RO" sz="1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ro-RO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ro-RO" sz="1800">
                                <a:latin typeface="Cambria Math"/>
                              </a:rPr>
                              <m:t>b</m:t>
                            </m:r>
                            <m:r>
                              <a:rPr lang="ro-RO" sz="1800">
                                <a:latin typeface="Cambria Math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ro-RO" sz="1800">
                                <a:latin typeface="Cambria Math"/>
                              </a:rPr>
                              <m:t>a</m:t>
                            </m:r>
                          </m:e>
                        </m:d>
                        <m:r>
                          <a:rPr lang="ro-RO" sz="1800">
                            <a:latin typeface="Cambria Math"/>
                            <a:ea typeface="Cambria Math"/>
                          </a:rPr>
                          <m:t>∙</m:t>
                        </m:r>
                        <m:sSup>
                          <m:sSupPr>
                            <m:ctrlPr>
                              <a:rPr lang="ro-RO" sz="1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ro-RO" sz="1800">
                                <a:latin typeface="Cambria Math"/>
                                <a:ea typeface="Cambria Math"/>
                              </a:rPr>
                              <m:t>10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ro-RO" sz="1800">
                                <a:latin typeface="Cambria Math"/>
                                <a:ea typeface="Cambria Math"/>
                              </a:rPr>
                              <m:t>nz</m:t>
                            </m:r>
                          </m:sup>
                        </m:sSup>
                      </m:e>
                    </m:d>
                  </m:oMath>
                </a14:m>
                <a:r>
                  <a:rPr lang="ro-RO" sz="1800" dirty="0">
                    <a:latin typeface="Cambria Math"/>
                    <a:ea typeface="Cambria Math"/>
                  </a:rPr>
                  <a:t>+</a:t>
                </a:r>
                <a:r>
                  <a:rPr lang="ro-RO" sz="1800" dirty="0">
                    <a:ea typeface="Cambria Math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1800">
                            <a:latin typeface="Cambria Math"/>
                            <a:ea typeface="Cambria Math"/>
                          </a:rPr>
                          <m:t>log</m:t>
                        </m:r>
                      </m:e>
                      <m:sub>
                        <m:r>
                          <a:rPr lang="ro-RO" sz="180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ro-RO" sz="1800" b="0" i="1" smtClean="0">
                        <a:latin typeface="Cambria Math" panose="02040503050406030204" pitchFamily="18" charset="0"/>
                        <a:ea typeface="Cambria Math"/>
                      </a:rPr>
                      <m:t>10 </m:t>
                    </m:r>
                    <m:r>
                      <a:rPr lang="ro-RO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ro-RO" sz="1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ro-RO" sz="1800">
                            <a:latin typeface="Cambria Math"/>
                            <a:ea typeface="Cambria Math"/>
                          </a:rPr>
                          <m:t>log</m:t>
                        </m:r>
                      </m:e>
                      <m:sub>
                        <m:r>
                          <a:rPr lang="ro-RO" sz="1800">
                            <a:latin typeface="Cambria Math"/>
                            <a:ea typeface="Cambria Math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ro-RO" sz="1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ro-RO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ro-RO" sz="1800">
                                <a:latin typeface="Cambria Math"/>
                              </a:rPr>
                              <m:t>b</m:t>
                            </m:r>
                            <m:r>
                              <a:rPr lang="ro-RO" sz="1800">
                                <a:latin typeface="Cambria Math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ro-RO" sz="1800">
                                <a:latin typeface="Cambria Math"/>
                              </a:rPr>
                              <m:t>a</m:t>
                            </m:r>
                          </m:e>
                        </m:d>
                        <m:r>
                          <a:rPr lang="ro-RO" sz="1800">
                            <a:latin typeface="Cambria Math"/>
                            <a:ea typeface="Cambria Math"/>
                          </a:rPr>
                          <m:t>∙</m:t>
                        </m:r>
                        <m:sSup>
                          <m:sSupPr>
                            <m:ctrlPr>
                              <a:rPr lang="ro-RO" sz="1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ro-RO" sz="1800">
                                <a:latin typeface="Cambria Math"/>
                                <a:ea typeface="Cambria Math"/>
                              </a:rPr>
                              <m:t>10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ro-RO" sz="1800">
                                <a:latin typeface="Cambria Math"/>
                                <a:ea typeface="Cambria Math"/>
                              </a:rPr>
                              <m:t>nz</m:t>
                            </m:r>
                          </m:sup>
                        </m:sSup>
                      </m:e>
                    </m:d>
                  </m:oMath>
                </a14:m>
                <a:r>
                  <a:rPr lang="ro-RO" sz="1800" dirty="0">
                    <a:latin typeface="Cambria Math"/>
                    <a:ea typeface="Cambria Math"/>
                  </a:rPr>
                  <a:t>+3.32</a:t>
                </a:r>
              </a:p>
              <a:p>
                <a:pPr>
                  <a:buFont typeface="Wingdings" panose="05000000000000000000" pitchFamily="2" charset="2"/>
                  <a:buChar char="q"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ro-RO" sz="1800" b="1" i="1" dirty="0">
                    <a:latin typeface="Cambria Math"/>
                    <a:ea typeface="Cambria Math"/>
                  </a:rPr>
                  <a:t>Alegeri posibile: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ro-RO" sz="1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1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1800" b="0" i="0">
                                <a:latin typeface="Cambria Math"/>
                                <a:ea typeface="Cambria Math"/>
                              </a:rPr>
                              <m:t>log</m:t>
                            </m:r>
                          </m:e>
                          <m:sub>
                            <m:r>
                              <a:rPr lang="ro-RO" sz="1800" b="0" i="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ro-RO" sz="1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ro-RO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ro-RO" sz="1800" b="0" i="0">
                                    <a:latin typeface="Cambria Math"/>
                                  </a:rPr>
                                  <m:t>b</m:t>
                                </m:r>
                                <m:r>
                                  <a:rPr lang="ro-RO" sz="1800" b="0" i="0">
                                    <a:latin typeface="Cambria Math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ro-RO" sz="1800" b="0" i="0">
                                    <a:latin typeface="Cambria Math"/>
                                  </a:rPr>
                                  <m:t>a</m:t>
                                </m:r>
                              </m:e>
                            </m:d>
                            <m:r>
                              <a:rPr lang="ro-RO" sz="1800" b="0" i="0">
                                <a:latin typeface="Cambria Math"/>
                                <a:ea typeface="Cambria Math"/>
                              </a:rPr>
                              <m:t>∙</m:t>
                            </m:r>
                            <m:sSup>
                              <m:sSupPr>
                                <m:ctrlPr>
                                  <a:rPr lang="ro-RO" sz="1800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pPr>
                              <m:e>
                                <m:r>
                                  <a:rPr lang="ro-RO" sz="1800" b="0" i="0">
                                    <a:latin typeface="Cambria Math"/>
                                    <a:ea typeface="Cambria Math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ro-RO" sz="1800" b="0" i="0">
                                    <a:latin typeface="Cambria Math"/>
                                    <a:ea typeface="Cambria Math"/>
                                  </a:rPr>
                                  <m:t>nz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r>
                  <a:rPr lang="ro-RO" sz="1800" dirty="0">
                    <a:latin typeface="Cambria Math"/>
                    <a:ea typeface="Cambria Math"/>
                  </a:rPr>
                  <a:t>+1,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ro-RO" sz="1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1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1800">
                                <a:latin typeface="Cambria Math"/>
                                <a:ea typeface="Cambria Math"/>
                              </a:rPr>
                              <m:t>log</m:t>
                            </m:r>
                          </m:e>
                          <m:sub>
                            <m:r>
                              <a:rPr lang="ro-RO" sz="180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ro-RO" sz="1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ro-RO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ro-RO" sz="1800">
                                    <a:latin typeface="Cambria Math"/>
                                  </a:rPr>
                                  <m:t>b</m:t>
                                </m:r>
                                <m:r>
                                  <a:rPr lang="ro-RO" sz="1800">
                                    <a:latin typeface="Cambria Math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ro-RO" sz="1800">
                                    <a:latin typeface="Cambria Math"/>
                                  </a:rPr>
                                  <m:t>a</m:t>
                                </m:r>
                              </m:e>
                            </m:d>
                            <m:r>
                              <a:rPr lang="ro-RO" sz="1800">
                                <a:latin typeface="Cambria Math"/>
                                <a:ea typeface="Cambria Math"/>
                              </a:rPr>
                              <m:t>∙</m:t>
                            </m:r>
                            <m:sSup>
                              <m:sSupPr>
                                <m:ctrlPr>
                                  <a:rPr lang="ro-RO" sz="1800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pPr>
                              <m:e>
                                <m:r>
                                  <a:rPr lang="ro-RO" sz="1800">
                                    <a:latin typeface="Cambria Math"/>
                                    <a:ea typeface="Cambria Math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ro-RO" sz="1800">
                                    <a:latin typeface="Cambria Math"/>
                                    <a:ea typeface="Cambria Math"/>
                                  </a:rPr>
                                  <m:t>nz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r>
                  <a:rPr lang="ro-RO" sz="1800" dirty="0">
                    <a:latin typeface="Cambria Math"/>
                    <a:ea typeface="Cambria Math"/>
                  </a:rPr>
                  <a:t>+2,..,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ro-RO" sz="1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1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ro-RO" sz="1800">
                                <a:latin typeface="Cambria Math"/>
                                <a:ea typeface="Cambria Math"/>
                              </a:rPr>
                              <m:t>log</m:t>
                            </m:r>
                          </m:e>
                          <m:sub>
                            <m:r>
                              <a:rPr lang="ro-RO" sz="1800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ro-RO" sz="1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ro-RO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ro-RO" sz="1800">
                                    <a:latin typeface="Cambria Math"/>
                                  </a:rPr>
                                  <m:t>b</m:t>
                                </m:r>
                                <m:r>
                                  <a:rPr lang="ro-RO" sz="1800">
                                    <a:latin typeface="Cambria Math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ro-RO" sz="1800">
                                    <a:latin typeface="Cambria Math"/>
                                  </a:rPr>
                                  <m:t>a</m:t>
                                </m:r>
                              </m:e>
                            </m:d>
                            <m:r>
                              <a:rPr lang="ro-RO" sz="1800">
                                <a:latin typeface="Cambria Math"/>
                                <a:ea typeface="Cambria Math"/>
                              </a:rPr>
                              <m:t>∙</m:t>
                            </m:r>
                            <m:sSup>
                              <m:sSupPr>
                                <m:ctrlPr>
                                  <a:rPr lang="ro-RO" sz="1800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pPr>
                              <m:e>
                                <m:r>
                                  <a:rPr lang="ro-RO" sz="1800">
                                    <a:latin typeface="Cambria Math"/>
                                    <a:ea typeface="Cambria Math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ro-RO" sz="1800">
                                    <a:latin typeface="Cambria Math"/>
                                    <a:ea typeface="Cambria Math"/>
                                  </a:rPr>
                                  <m:t>nz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r>
                  <a:rPr lang="ro-RO" sz="1800" dirty="0">
                    <a:latin typeface="Cambria Math"/>
                    <a:ea typeface="Cambria Math"/>
                  </a:rPr>
                  <a:t>+3</a:t>
                </a:r>
              </a:p>
              <a:p>
                <a:pPr marL="0" indent="0">
                  <a:buNone/>
                </a:pPr>
                <a:endParaRPr lang="ro-RO" sz="1800" dirty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:r>
                  <a:rPr lang="ro-RO" sz="1800" dirty="0"/>
                  <a:t>Fie alegerea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ro-RO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𝒎</m:t>
                        </m:r>
                      </m:e>
                      <m:sub>
                        <m:r>
                          <a:rPr lang="ro-RO" sz="18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𝟎</m:t>
                        </m:r>
                      </m:sub>
                    </m:sSub>
                    <m:r>
                      <a:rPr lang="ro-RO" sz="1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d>
                      <m:dPr>
                        <m:begChr m:val="⌈"/>
                        <m:endChr m:val="⌉"/>
                        <m:ctrlPr>
                          <a:rPr lang="ro-RO" sz="1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1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ro-RO" sz="1800" b="1" i="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  <m:t>𝐥𝐨𝐠</m:t>
                            </m:r>
                          </m:e>
                          <m:sub>
                            <m:r>
                              <a:rPr lang="ro-RO" sz="1800" b="1" i="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  <m:t>𝟐</m:t>
                            </m:r>
                          </m:sub>
                        </m:sSub>
                        <m:d>
                          <m:dPr>
                            <m:ctrlPr>
                              <a:rPr lang="ro-RO" sz="1800" b="1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ro-RO" sz="1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o-RO" sz="1800" b="1" i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𝐛</m:t>
                                </m:r>
                                <m:r>
                                  <a:rPr lang="ro-RO" sz="1800" b="1" i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−</m:t>
                                </m:r>
                                <m:r>
                                  <a:rPr lang="ro-RO" sz="1800" b="1" i="0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𝐚</m:t>
                                </m:r>
                              </m:e>
                            </m:d>
                            <m:r>
                              <a:rPr lang="ro-RO" sz="1800" b="1" i="0">
                                <a:solidFill>
                                  <a:schemeClr val="tx1"/>
                                </a:solidFill>
                                <a:latin typeface="Cambria Math"/>
                                <a:ea typeface="Cambria Math"/>
                              </a:rPr>
                              <m:t>∙</m:t>
                            </m:r>
                            <m:sSup>
                              <m:sSupPr>
                                <m:ctrlPr>
                                  <a:rPr lang="ro-RO" sz="1800" b="1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pPr>
                              <m:e>
                                <m:r>
                                  <a:rPr lang="ro-RO" sz="1800" b="1" i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  <m:t>𝟏𝟎</m:t>
                                </m:r>
                              </m:e>
                              <m:sup>
                                <m:r>
                                  <a:rPr lang="ro-RO" sz="1800" b="1" i="0">
                                    <a:solidFill>
                                      <a:schemeClr val="tx1"/>
                                    </a:solidFill>
                                    <a:latin typeface="Cambria Math"/>
                                    <a:ea typeface="Cambria Math"/>
                                  </a:rPr>
                                  <m:t>𝐧𝐳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r>
                  <a:rPr lang="ro-RO" sz="1800" b="1" dirty="0">
                    <a:solidFill>
                      <a:schemeClr val="tx1"/>
                    </a:solidFill>
                    <a:latin typeface="Cambria Math"/>
                    <a:ea typeface="Cambria Math"/>
                  </a:rPr>
                  <a:t>+1</a:t>
                </a:r>
                <a:endParaRPr lang="en-US" sz="1800" b="1" dirty="0"/>
              </a:p>
            </p:txBody>
          </p:sp>
        </mc:Choice>
        <mc:Fallback>
          <p:sp>
            <p:nvSpPr>
              <p:cNvPr id="24" name="Text Placeholder 1">
                <a:extLst>
                  <a:ext uri="{FF2B5EF4-FFF2-40B4-BE49-F238E27FC236}">
                    <a16:creationId xmlns:a16="http://schemas.microsoft.com/office/drawing/2014/main" id="{26E8F30B-D8EA-DA61-E385-7E85FB82C8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1981200" y="990600"/>
                <a:ext cx="8534400" cy="5486400"/>
              </a:xfrm>
              <a:blipFill>
                <a:blip r:embed="rId2"/>
                <a:stretch>
                  <a:fillRect l="-571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737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23A5B-2520-E932-C3AE-95A3AD814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0579CEB4-53AA-3726-7597-E03E567B03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66900" y="304800"/>
            <a:ext cx="8458200" cy="858838"/>
          </a:xfrm>
        </p:spPr>
        <p:txBody>
          <a:bodyPr/>
          <a:lstStyle/>
          <a:p>
            <a:pPr eaLnBrk="1" hangingPunct="1"/>
            <a:r>
              <a:rPr lang="ro-RO" altLang="en-US" sz="2600" b="1" dirty="0"/>
              <a:t>Exemplu de reprezentare binară a unui număr real</a:t>
            </a:r>
          </a:p>
        </p:txBody>
      </p:sp>
      <p:sp>
        <p:nvSpPr>
          <p:cNvPr id="9220" name="Rectangle 9">
            <a:extLst>
              <a:ext uri="{FF2B5EF4-FFF2-40B4-BE49-F238E27FC236}">
                <a16:creationId xmlns:a16="http://schemas.microsoft.com/office/drawing/2014/main" id="{0B14F537-7153-2014-26D5-91FEBFA2F5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1" name="Rectangle 11">
            <a:extLst>
              <a:ext uri="{FF2B5EF4-FFF2-40B4-BE49-F238E27FC236}">
                <a16:creationId xmlns:a16="http://schemas.microsoft.com/office/drawing/2014/main" id="{1DD7B078-4800-523D-55A0-D13BBE381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538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2" name="Rectangle 13">
            <a:extLst>
              <a:ext uri="{FF2B5EF4-FFF2-40B4-BE49-F238E27FC236}">
                <a16:creationId xmlns:a16="http://schemas.microsoft.com/office/drawing/2014/main" id="{F369B1AB-C554-5521-99AA-8777A9C72F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3" name="Rectangle 15">
            <a:extLst>
              <a:ext uri="{FF2B5EF4-FFF2-40B4-BE49-F238E27FC236}">
                <a16:creationId xmlns:a16="http://schemas.microsoft.com/office/drawing/2014/main" id="{384AFE5B-788E-9309-7C45-C16672596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31490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4" name="Rectangle 19">
            <a:extLst>
              <a:ext uri="{FF2B5EF4-FFF2-40B4-BE49-F238E27FC236}">
                <a16:creationId xmlns:a16="http://schemas.microsoft.com/office/drawing/2014/main" id="{EC3864F0-8C4A-E1D7-7B08-F15C1DD25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5" name="Rectangle 21">
            <a:extLst>
              <a:ext uri="{FF2B5EF4-FFF2-40B4-BE49-F238E27FC236}">
                <a16:creationId xmlns:a16="http://schemas.microsoft.com/office/drawing/2014/main" id="{605B3765-F42F-579B-2AA0-FA0DD0734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6" name="Rectangle 23">
            <a:extLst>
              <a:ext uri="{FF2B5EF4-FFF2-40B4-BE49-F238E27FC236}">
                <a16:creationId xmlns:a16="http://schemas.microsoft.com/office/drawing/2014/main" id="{0F9B066C-A0F1-72E8-0D57-F2D39002F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7" name="Rectangle 27">
            <a:extLst>
              <a:ext uri="{FF2B5EF4-FFF2-40B4-BE49-F238E27FC236}">
                <a16:creationId xmlns:a16="http://schemas.microsoft.com/office/drawing/2014/main" id="{42E64F63-CB4E-8CB9-4E9E-D753E849CD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8" name="Rectangle 29">
            <a:extLst>
              <a:ext uri="{FF2B5EF4-FFF2-40B4-BE49-F238E27FC236}">
                <a16:creationId xmlns:a16="http://schemas.microsoft.com/office/drawing/2014/main" id="{9B65908C-4868-FD83-A738-D93CCD05F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9" name="Rectangle 31">
            <a:extLst>
              <a:ext uri="{FF2B5EF4-FFF2-40B4-BE49-F238E27FC236}">
                <a16:creationId xmlns:a16="http://schemas.microsoft.com/office/drawing/2014/main" id="{67DF5E46-AD02-A6BE-F4AC-8D23F7DF9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0" name="Rectangle 33">
            <a:extLst>
              <a:ext uri="{FF2B5EF4-FFF2-40B4-BE49-F238E27FC236}">
                <a16:creationId xmlns:a16="http://schemas.microsoft.com/office/drawing/2014/main" id="{A1840F43-6341-CA54-8FD1-2C30386B4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1" name="Rectangle 35">
            <a:extLst>
              <a:ext uri="{FF2B5EF4-FFF2-40B4-BE49-F238E27FC236}">
                <a16:creationId xmlns:a16="http://schemas.microsoft.com/office/drawing/2014/main" id="{F46D3F48-DC45-656D-130B-D6FFAFCAB1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2" name="Rectangle 37">
            <a:extLst>
              <a:ext uri="{FF2B5EF4-FFF2-40B4-BE49-F238E27FC236}">
                <a16:creationId xmlns:a16="http://schemas.microsoft.com/office/drawing/2014/main" id="{F17EAC40-9F25-8319-1BF6-B9B728302E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3" name="Rectangle 41">
            <a:extLst>
              <a:ext uri="{FF2B5EF4-FFF2-40B4-BE49-F238E27FC236}">
                <a16:creationId xmlns:a16="http://schemas.microsoft.com/office/drawing/2014/main" id="{A2F219DF-F007-4005-F0A7-F78465A142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4" name="Rectangle 43">
            <a:extLst>
              <a:ext uri="{FF2B5EF4-FFF2-40B4-BE49-F238E27FC236}">
                <a16:creationId xmlns:a16="http://schemas.microsoft.com/office/drawing/2014/main" id="{3358AF0F-4642-7B10-76C4-D7BDDA210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5" name="Rectangle 45">
            <a:extLst>
              <a:ext uri="{FF2B5EF4-FFF2-40B4-BE49-F238E27FC236}">
                <a16:creationId xmlns:a16="http://schemas.microsoft.com/office/drawing/2014/main" id="{54C7246C-C3D7-66C2-15D1-88AB11073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6" name="Rectangle 47">
            <a:extLst>
              <a:ext uri="{FF2B5EF4-FFF2-40B4-BE49-F238E27FC236}">
                <a16:creationId xmlns:a16="http://schemas.microsoft.com/office/drawing/2014/main" id="{208F12EE-6010-F9BE-C3D9-D8A481DB7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7" name="Rectangle 52">
            <a:extLst>
              <a:ext uri="{FF2B5EF4-FFF2-40B4-BE49-F238E27FC236}">
                <a16:creationId xmlns:a16="http://schemas.microsoft.com/office/drawing/2014/main" id="{884269AE-1AC7-019D-9117-3FAC647B91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6441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8" name="Rectangle 54">
            <a:extLst>
              <a:ext uri="{FF2B5EF4-FFF2-40B4-BE49-F238E27FC236}">
                <a16:creationId xmlns:a16="http://schemas.microsoft.com/office/drawing/2014/main" id="{030E4034-8E41-13ED-2955-113E9F518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3012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 Placeholder 1">
                <a:extLst>
                  <a:ext uri="{FF2B5EF4-FFF2-40B4-BE49-F238E27FC236}">
                    <a16:creationId xmlns:a16="http://schemas.microsoft.com/office/drawing/2014/main" id="{C2E67776-3D2C-3533-A05B-375E6BA99464}"/>
                  </a:ext>
                </a:extLst>
              </p:cNvPr>
              <p:cNvSpPr>
                <a:spLocks noGrp="1"/>
              </p:cNvSpPr>
              <p:nvPr>
                <p:ph type="body" sz="half" idx="1"/>
              </p:nvPr>
            </p:nvSpPr>
            <p:spPr>
              <a:xfrm>
                <a:off x="1981200" y="990600"/>
                <a:ext cx="8534400" cy="5486400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dirty="0"/>
                  <a:t>Definind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ro-RO" sz="18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ro-RO" sz="1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ro-RO" sz="1800" i="1">
                            <a:latin typeface="Cambria Math"/>
                            <a:ea typeface="Cambria Math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ro-RO" sz="1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 panose="02040503050406030204" pitchFamily="18" charset="0"/>
                                <a:ea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ro-RO" sz="1800" i="1">
                                <a:latin typeface="Cambria Math" panose="02040503050406030204" pitchFamily="18" charset="0"/>
                                <a:ea typeface="Cambria Math"/>
                              </a:rPr>
                              <m:t>0</m:t>
                            </m:r>
                          </m:sub>
                        </m:sSub>
                      </m:sup>
                    </m:sSup>
                    <m:r>
                      <a:rPr lang="ro-RO" sz="1800" i="1">
                        <a:latin typeface="Cambria Math"/>
                        <a:ea typeface="Cambria Math"/>
                      </a:rPr>
                      <m:t>−1</m:t>
                    </m:r>
                  </m:oMath>
                </a14:m>
                <a:r>
                  <a:rPr lang="ro-RO" sz="1800" dirty="0"/>
                  <a:t>, rezultă că lungimea unui subinterval este dată de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o-RO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bPr>
                        <m:e>
                          <m:r>
                            <a:rPr lang="ro-RO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ro-RO" sz="1800" i="1">
                              <a:latin typeface="Cambria Math" panose="02040503050406030204" pitchFamily="18" charset="0"/>
                              <a:ea typeface="Cambria Math"/>
                            </a:rPr>
                            <m:t>0</m:t>
                          </m:r>
                        </m:sub>
                      </m:sSub>
                      <m:r>
                        <a:rPr lang="ro-RO" sz="1800" i="1">
                          <a:latin typeface="Cambria Math" panose="02040503050406030204" pitchFamily="18" charset="0"/>
                          <a:ea typeface="Cambria Math"/>
                        </a:rPr>
                        <m:t>=</m:t>
                      </m:r>
                      <m:f>
                        <m:fPr>
                          <m:ctrlPr>
                            <a:rPr lang="ro-RO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ro-RO" sz="1800" i="1">
                              <a:latin typeface="Cambria Math" panose="02040503050406030204" pitchFamily="18" charset="0"/>
                              <a:ea typeface="Cambria Math"/>
                            </a:rPr>
                            <m:t>𝑏</m:t>
                          </m:r>
                          <m:r>
                            <a:rPr lang="ro-RO" sz="1800" i="1">
                              <a:latin typeface="Cambria Math" panose="02040503050406030204" pitchFamily="18" charset="0"/>
                              <a:ea typeface="Cambria Math"/>
                            </a:rPr>
                            <m:t>−</m:t>
                          </m:r>
                          <m:r>
                            <a:rPr lang="ro-RO" sz="1800" i="1">
                              <a:latin typeface="Cambria Math" panose="02040503050406030204" pitchFamily="18" charset="0"/>
                              <a:ea typeface="Cambria Math"/>
                            </a:rPr>
                            <m:t>𝑎</m:t>
                          </m:r>
                        </m:num>
                        <m:den>
                          <m:sSup>
                            <m:sSupPr>
                              <m:ctrlPr>
                                <a:rPr lang="ro-RO" sz="18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ro-RO" sz="1800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ro-RO" sz="1800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0</m:t>
                                  </m:r>
                                </m:sub>
                              </m:sSub>
                            </m:sup>
                          </m:sSup>
                          <m:r>
                            <a:rPr lang="ro-RO" sz="1800" i="1">
                              <a:latin typeface="Cambria Math"/>
                              <a:ea typeface="Cambria Math"/>
                            </a:rPr>
                            <m:t>−1</m:t>
                          </m:r>
                        </m:den>
                      </m:f>
                      <m:r>
                        <a:rPr lang="en-US" sz="1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p>
                        <m:sSupPr>
                          <m:ctrlP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𝑛𝑧</m:t>
                          </m:r>
                        </m:sup>
                      </m:sSup>
                    </m:oMath>
                  </m:oMathPara>
                </a14:m>
                <a:endParaRPr lang="en-US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:endParaRPr lang="en-US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1800" b="1" dirty="0"/>
                  <a:t>O</a:t>
                </a:r>
                <a:r>
                  <a:rPr lang="ro-RO" sz="1800" b="1" dirty="0"/>
                  <a:t>bservație</a:t>
                </a:r>
                <a:r>
                  <a:rPr lang="en-US" sz="1800" dirty="0"/>
                  <a:t>: </a:t>
                </a:r>
                <a:r>
                  <a:rPr lang="ro-RO" sz="1800" dirty="0"/>
                  <a:t>sunt</a:t>
                </a:r>
                <a:r>
                  <a:rPr lang="en-US" sz="1800" dirty="0"/>
                  <a:t> </a:t>
                </a:r>
                <a:r>
                  <a:rPr lang="ro-RO" sz="1800" dirty="0"/>
                  <a:t>în total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o-RO" sz="1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ro-RO" sz="1800" i="1">
                            <a:latin typeface="Cambria Math"/>
                            <a:ea typeface="Cambria Math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ro-RO" sz="1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/>
                              </a:rPr>
                              <m:t>0</m:t>
                            </m:r>
                          </m:sub>
                        </m:sSub>
                      </m:sup>
                    </m:sSup>
                  </m:oMath>
                </a14:m>
                <a:r>
                  <a:rPr lang="ro-RO" sz="1800" dirty="0"/>
                  <a:t> </a:t>
                </a:r>
                <a:r>
                  <a:rPr lang="en-US" sz="1800" dirty="0"/>
                  <a:t>numere </a:t>
                </a:r>
                <a:r>
                  <a:rPr lang="ro-RO" sz="1800" dirty="0"/>
                  <a:t>în reprezentarea</a:t>
                </a:r>
                <a:r>
                  <a:rPr lang="en-US" sz="1800" dirty="0"/>
                  <a:t> cu </a:t>
                </a:r>
                <a:r>
                  <a:rPr lang="ro-RO" sz="1800" dirty="0"/>
                  <a:t>eroare maximă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o-RO" sz="1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ro-RO" sz="1800" i="1">
                            <a:latin typeface="Cambria Math"/>
                            <a:ea typeface="Cambria Math"/>
                          </a:rPr>
                          <m:t>10</m:t>
                        </m:r>
                      </m:e>
                      <m:sup>
                        <m:r>
                          <a:rPr lang="ro-RO" sz="1800" i="1">
                            <a:latin typeface="Cambria Math"/>
                            <a:ea typeface="Cambria Math"/>
                          </a:rPr>
                          <m:t>−</m:t>
                        </m:r>
                        <m:r>
                          <a:rPr lang="ro-RO" sz="1800" i="1">
                            <a:latin typeface="Cambria Math"/>
                            <a:ea typeface="Cambria Math"/>
                          </a:rPr>
                          <m:t>𝑛𝑧</m:t>
                        </m:r>
                      </m:sup>
                    </m:sSup>
                    <m:r>
                      <a:rPr lang="ro-RO" sz="1800" i="1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sz="1800" dirty="0"/>
                  <a:t> </a:t>
                </a:r>
                <a:endParaRPr lang="ro-RO" sz="1800" i="1" dirty="0">
                  <a:latin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/>
                        </a:rPr>
                        <m:t>𝑎</m:t>
                      </m:r>
                      <m:r>
                        <a:rPr lang="en-US" sz="1800" i="1">
                          <a:latin typeface="Cambria Math"/>
                        </a:rPr>
                        <m:t>,</m:t>
                      </m:r>
                      <m:r>
                        <a:rPr lang="en-US" sz="1800" i="1">
                          <a:latin typeface="Cambria Math"/>
                        </a:rPr>
                        <m:t>𝑎</m:t>
                      </m:r>
                      <m:r>
                        <a:rPr lang="en-US" sz="1800" i="1">
                          <a:latin typeface="Cambria Math"/>
                        </a:rPr>
                        <m:t>+1∙</m:t>
                      </m:r>
                      <m:f>
                        <m:fPr>
                          <m:ctrlPr>
                            <a:rPr lang="ro-RO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ro-RO" sz="1800" i="1">
                              <a:latin typeface="Cambria Math" panose="02040503050406030204" pitchFamily="18" charset="0"/>
                              <a:ea typeface="Cambria Math"/>
                            </a:rPr>
                            <m:t>𝑏</m:t>
                          </m:r>
                          <m:r>
                            <a:rPr lang="ro-RO" sz="1800" i="1">
                              <a:latin typeface="Cambria Math" panose="02040503050406030204" pitchFamily="18" charset="0"/>
                              <a:ea typeface="Cambria Math"/>
                            </a:rPr>
                            <m:t>−</m:t>
                          </m:r>
                          <m:r>
                            <a:rPr lang="ro-RO" sz="1800" i="1">
                              <a:latin typeface="Cambria Math" panose="02040503050406030204" pitchFamily="18" charset="0"/>
                              <a:ea typeface="Cambria Math"/>
                            </a:rPr>
                            <m:t>𝑎</m:t>
                          </m:r>
                        </m:num>
                        <m:den>
                          <m:sSup>
                            <m:sSupPr>
                              <m:ctrlPr>
                                <a:rPr lang="ro-RO" sz="18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ro-RO" sz="1800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ro-RO" sz="1800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0</m:t>
                                  </m:r>
                                </m:sub>
                              </m:sSub>
                            </m:sup>
                          </m:sSup>
                          <m:r>
                            <a:rPr lang="ro-RO" sz="1800" i="1">
                              <a:latin typeface="Cambria Math"/>
                              <a:ea typeface="Cambria Math"/>
                            </a:rPr>
                            <m:t>−1</m:t>
                          </m:r>
                        </m:den>
                      </m:f>
                      <m:r>
                        <a:rPr lang="en-US" sz="1800" i="1">
                          <a:latin typeface="Cambria Math"/>
                        </a:rPr>
                        <m:t>, </m:t>
                      </m:r>
                      <m:r>
                        <a:rPr lang="en-US" sz="1800" i="1">
                          <a:latin typeface="Cambria Math"/>
                        </a:rPr>
                        <m:t>𝑎</m:t>
                      </m:r>
                      <m:r>
                        <a:rPr lang="en-US" sz="1800" i="1">
                          <a:latin typeface="Cambria Math"/>
                        </a:rPr>
                        <m:t>+2∗</m:t>
                      </m:r>
                      <m:f>
                        <m:fPr>
                          <m:ctrlPr>
                            <a:rPr lang="ro-RO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ro-RO" sz="1800" i="1">
                              <a:latin typeface="Cambria Math" panose="02040503050406030204" pitchFamily="18" charset="0"/>
                              <a:ea typeface="Cambria Math"/>
                            </a:rPr>
                            <m:t>𝑏</m:t>
                          </m:r>
                          <m:r>
                            <a:rPr lang="ro-RO" sz="1800" i="1">
                              <a:latin typeface="Cambria Math" panose="02040503050406030204" pitchFamily="18" charset="0"/>
                              <a:ea typeface="Cambria Math"/>
                            </a:rPr>
                            <m:t>−</m:t>
                          </m:r>
                          <m:r>
                            <a:rPr lang="ro-RO" sz="1800" i="1">
                              <a:latin typeface="Cambria Math" panose="02040503050406030204" pitchFamily="18" charset="0"/>
                              <a:ea typeface="Cambria Math"/>
                            </a:rPr>
                            <m:t>𝑎</m:t>
                          </m:r>
                        </m:num>
                        <m:den>
                          <m:sSup>
                            <m:sSupPr>
                              <m:ctrlPr>
                                <a:rPr lang="ro-RO" sz="18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ro-RO" sz="1800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ro-RO" sz="1800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0</m:t>
                                  </m:r>
                                </m:sub>
                              </m:sSub>
                            </m:sup>
                          </m:sSup>
                          <m:r>
                            <a:rPr lang="ro-RO" sz="1800" i="1">
                              <a:latin typeface="Cambria Math"/>
                              <a:ea typeface="Cambria Math"/>
                            </a:rPr>
                            <m:t>−1</m:t>
                          </m:r>
                        </m:den>
                      </m:f>
                      <m:r>
                        <a:rPr lang="en-US" sz="1800" i="1">
                          <a:latin typeface="Cambria Math"/>
                        </a:rPr>
                        <m:t>,…,</m:t>
                      </m:r>
                      <m:r>
                        <a:rPr lang="en-US" sz="1800" i="1">
                          <a:latin typeface="Cambria Math"/>
                        </a:rPr>
                        <m:t>𝑎</m:t>
                      </m:r>
                      <m:r>
                        <a:rPr lang="en-US" sz="1800" i="1"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US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ro-RO" sz="18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ro-RO" sz="1800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ro-RO" sz="1800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0</m:t>
                                  </m:r>
                                </m:sub>
                              </m:sSub>
                            </m:sup>
                          </m:sSup>
                          <m:r>
                            <a:rPr lang="ro-RO" sz="1800" i="1">
                              <a:latin typeface="Cambria Math"/>
                              <a:ea typeface="Cambria Math"/>
                            </a:rPr>
                            <m:t>−1</m:t>
                          </m:r>
                        </m:e>
                      </m:d>
                      <m:r>
                        <a:rPr lang="en-US" sz="1800" i="1">
                          <a:latin typeface="Cambria Math"/>
                          <a:ea typeface="Cambria Math"/>
                        </a:rPr>
                        <m:t>∙</m:t>
                      </m:r>
                      <m:f>
                        <m:fPr>
                          <m:ctrlPr>
                            <a:rPr lang="ro-RO" sz="1800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Pr>
                        <m:num>
                          <m:r>
                            <a:rPr lang="ro-RO" sz="1800" i="1">
                              <a:latin typeface="Cambria Math" panose="02040503050406030204" pitchFamily="18" charset="0"/>
                              <a:ea typeface="Cambria Math"/>
                            </a:rPr>
                            <m:t>𝑏</m:t>
                          </m:r>
                          <m:r>
                            <a:rPr lang="ro-RO" sz="1800" i="1">
                              <a:latin typeface="Cambria Math" panose="02040503050406030204" pitchFamily="18" charset="0"/>
                              <a:ea typeface="Cambria Math"/>
                            </a:rPr>
                            <m:t>−</m:t>
                          </m:r>
                          <m:r>
                            <a:rPr lang="ro-RO" sz="1800" i="1">
                              <a:latin typeface="Cambria Math" panose="02040503050406030204" pitchFamily="18" charset="0"/>
                              <a:ea typeface="Cambria Math"/>
                            </a:rPr>
                            <m:t>𝑎</m:t>
                          </m:r>
                        </m:num>
                        <m:den>
                          <m:sSup>
                            <m:sSupPr>
                              <m:ctrlPr>
                                <a:rPr lang="ro-RO" sz="18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ro-RO" sz="1800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ro-RO" sz="1800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0</m:t>
                                  </m:r>
                                </m:sub>
                              </m:sSub>
                            </m:sup>
                          </m:sSup>
                          <m:r>
                            <a:rPr lang="ro-RO" sz="1800" i="1">
                              <a:latin typeface="Cambria Math"/>
                              <a:ea typeface="Cambria Math"/>
                            </a:rPr>
                            <m:t>−1</m:t>
                          </m:r>
                        </m:den>
                      </m:f>
                      <m:r>
                        <a:rPr lang="en-US" sz="1800" i="1">
                          <a:latin typeface="Cambria Math"/>
                        </a:rPr>
                        <m:t>=</m:t>
                      </m:r>
                      <m:r>
                        <a:rPr lang="en-US" sz="1800" i="1">
                          <a:latin typeface="Cambria Math"/>
                        </a:rPr>
                        <m:t>𝑏</m:t>
                      </m:r>
                    </m:oMath>
                  </m:oMathPara>
                </a14:m>
                <a:endParaRPr lang="ro-RO" sz="1800" dirty="0"/>
              </a:p>
              <a:p>
                <a:pPr marL="0" indent="0">
                  <a:buNone/>
                </a:pPr>
                <a:endParaRPr lang="ro-RO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:endParaRPr lang="en-US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:r>
                  <a:rPr lang="en-US" sz="1800" dirty="0"/>
                  <a:t>C</a:t>
                </a:r>
                <a:r>
                  <a:rPr lang="ro-RO" sz="1800" dirty="0"/>
                  <a:t>el de-al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𝑛</m:t>
                    </m:r>
                    <m:r>
                      <a:rPr lang="ro-RO" sz="1800" i="1">
                        <a:latin typeface="Cambria Math"/>
                      </a:rPr>
                      <m:t>+1</m:t>
                    </m:r>
                  </m:oMath>
                </a14:m>
                <a:r>
                  <a:rPr lang="ro-RO" sz="1800" dirty="0"/>
                  <a:t>-lea număr,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𝑛</m:t>
                    </m:r>
                    <m:r>
                      <a:rPr lang="ro-RO" sz="1800" i="1">
                        <a:latin typeface="Cambria Math"/>
                      </a:rPr>
                      <m:t>=0,1,…,</m:t>
                    </m:r>
                    <m:sSup>
                      <m:sSupPr>
                        <m:ctrlPr>
                          <a:rPr lang="ro-RO" sz="1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ro-RO" sz="1800" i="1">
                            <a:latin typeface="Cambria Math"/>
                            <a:ea typeface="Cambria Math"/>
                          </a:rPr>
                          <m:t>2</m:t>
                        </m:r>
                      </m:e>
                      <m:sup>
                        <m:sSub>
                          <m:sSubPr>
                            <m:ctrlPr>
                              <a:rPr lang="ro-RO" sz="1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  <a:ea typeface="Cambria Math"/>
                              </a:rPr>
                              <m:t>0</m:t>
                            </m:r>
                          </m:sub>
                        </m:sSub>
                      </m:sup>
                    </m:sSup>
                    <m:r>
                      <a:rPr lang="ro-RO" sz="1800" i="1">
                        <a:latin typeface="Cambria Math"/>
                        <a:ea typeface="Cambria Math"/>
                      </a:rPr>
                      <m:t>−1</m:t>
                    </m:r>
                    <m:r>
                      <a:rPr lang="en-US" sz="1800" i="1">
                        <a:latin typeface="Cambria Math"/>
                      </a:rPr>
                      <m:t>, </m:t>
                    </m:r>
                    <m:r>
                      <a:rPr lang="ro-RO" sz="1800" i="1">
                        <a:latin typeface="Cambria Math"/>
                      </a:rPr>
                      <m:t> </m:t>
                    </m:r>
                    <m:r>
                      <a:rPr lang="ro-RO" sz="1800" b="1" i="1">
                        <a:latin typeface="Cambria Math"/>
                      </a:rPr>
                      <m:t>𝒙</m:t>
                    </m:r>
                    <m:r>
                      <a:rPr lang="ro-RO" sz="1800" b="1" i="1">
                        <a:latin typeface="Cambria Math"/>
                      </a:rPr>
                      <m:t>=</m:t>
                    </m:r>
                    <m:r>
                      <a:rPr lang="en-US" sz="1800" b="1" i="1">
                        <a:latin typeface="Cambria Math"/>
                      </a:rPr>
                      <m:t>𝒂</m:t>
                    </m:r>
                    <m:r>
                      <a:rPr lang="en-US" sz="1800" b="1" i="1">
                        <a:latin typeface="Cambria Math"/>
                      </a:rPr>
                      <m:t>+</m:t>
                    </m:r>
                    <m:r>
                      <a:rPr lang="ro-RO" sz="1800" b="1" i="1">
                        <a:latin typeface="Cambria Math"/>
                      </a:rPr>
                      <m:t>𝒏</m:t>
                    </m:r>
                    <m:r>
                      <a:rPr lang="en-US" sz="1800" b="1" i="1">
                        <a:latin typeface="Cambria Math"/>
                      </a:rPr>
                      <m:t>∗</m:t>
                    </m:r>
                    <m:f>
                      <m:fPr>
                        <m:ctrlPr>
                          <a:rPr lang="ro-RO" sz="1800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o-RO" sz="1800" b="1" i="1">
                            <a:latin typeface="Cambria Math"/>
                          </a:rPr>
                          <m:t>𝒃</m:t>
                        </m:r>
                        <m:r>
                          <a:rPr lang="ro-RO" sz="1800" b="1" i="1">
                            <a:latin typeface="Cambria Math"/>
                          </a:rPr>
                          <m:t>−</m:t>
                        </m:r>
                        <m:r>
                          <a:rPr lang="ro-RO" sz="1800" b="1" i="1">
                            <a:latin typeface="Cambria Math"/>
                          </a:rPr>
                          <m:t>𝒂</m:t>
                        </m:r>
                      </m:num>
                      <m:den>
                        <m:sSup>
                          <m:sSupPr>
                            <m:ctrlPr>
                              <a:rPr lang="ro-RO" sz="1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ro-RO" sz="1800" i="1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e>
                          <m:sup>
                            <m:sSub>
                              <m:sSubPr>
                                <m:ctrlPr>
                                  <a:rPr lang="ro-RO" sz="1800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bPr>
                              <m:e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sz="1800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  <m:t>0</m:t>
                                </m:r>
                              </m:sub>
                            </m:sSub>
                          </m:sup>
                        </m:sSup>
                        <m:r>
                          <a:rPr lang="ro-RO" sz="1800" b="1" i="1">
                            <a:latin typeface="Cambria Math"/>
                          </a:rPr>
                          <m:t>−</m:t>
                        </m:r>
                        <m:r>
                          <a:rPr lang="ro-RO" sz="1800" b="1" i="1">
                            <a:latin typeface="Cambria Math"/>
                          </a:rPr>
                          <m:t>𝟏</m:t>
                        </m:r>
                      </m:den>
                    </m:f>
                  </m:oMath>
                </a14:m>
                <a:r>
                  <a:rPr lang="ro-RO" sz="1800" dirty="0"/>
                  <a:t> este </a:t>
                </a:r>
                <a:r>
                  <a:rPr lang="ro-RO" sz="1800" b="1" dirty="0"/>
                  <a:t>unic determinat de valoarea </a:t>
                </a:r>
                <a14:m>
                  <m:oMath xmlns:m="http://schemas.openxmlformats.org/officeDocument/2006/math">
                    <m:r>
                      <a:rPr lang="ro-RO" sz="1800" b="1" i="1">
                        <a:latin typeface="Cambria Math"/>
                      </a:rPr>
                      <m:t>𝒏</m:t>
                    </m:r>
                  </m:oMath>
                </a14:m>
                <a:r>
                  <a:rPr lang="ro-RO" sz="1800" dirty="0"/>
                  <a:t> (</a:t>
                </a:r>
                <a14:m>
                  <m:oMath xmlns:m="http://schemas.openxmlformats.org/officeDocument/2006/math">
                    <m:r>
                      <a:rPr lang="ro-RO" sz="1800" i="1" dirty="0">
                        <a:latin typeface="Cambria Math"/>
                      </a:rPr>
                      <m:t>𝑎</m:t>
                    </m:r>
                    <m:r>
                      <a:rPr lang="ro-RO" sz="1800" i="1" dirty="0">
                        <a:latin typeface="Cambria Math"/>
                      </a:rPr>
                      <m:t>,</m:t>
                    </m:r>
                    <m:r>
                      <a:rPr lang="ro-RO" sz="1800" i="1" dirty="0">
                        <a:latin typeface="Cambria Math"/>
                      </a:rPr>
                      <m:t>𝑏</m:t>
                    </m:r>
                    <m:r>
                      <a:rPr lang="ro-RO" sz="1800" i="1" dirty="0"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ro-RO" sz="1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 panose="02040503050406030204" pitchFamily="18" charset="0"/>
                            <a:ea typeface="Cambria Math"/>
                          </a:rPr>
                          <m:t>𝑚</m:t>
                        </m:r>
                      </m:e>
                      <m:sub>
                        <m:r>
                          <a:rPr lang="ro-RO" sz="1800" i="1">
                            <a:latin typeface="Cambria Math" panose="02040503050406030204" pitchFamily="18" charset="0"/>
                            <a:ea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ro-RO" sz="1800" dirty="0"/>
                  <a:t> sunt fixate), </a:t>
                </a:r>
                <a14:m>
                  <m:oMath xmlns:m="http://schemas.openxmlformats.org/officeDocument/2006/math">
                    <m:r>
                      <a:rPr lang="ro-RO" sz="1800" b="1" i="1">
                        <a:latin typeface="Cambria Math"/>
                      </a:rPr>
                      <m:t>𝒙</m:t>
                    </m:r>
                    <m:r>
                      <a:rPr lang="ro-RO" sz="1800" b="1" i="1">
                        <a:latin typeface="Cambria Math"/>
                      </a:rPr>
                      <m:t> </m:t>
                    </m:r>
                  </m:oMath>
                </a14:m>
                <a:r>
                  <a:rPr lang="ro-RO" sz="1800" dirty="0"/>
                  <a:t>poate fi reprezentat binar utilizând reprezentarea binară a lui </a:t>
                </a:r>
                <a:r>
                  <a:rPr lang="ro-RO" sz="1800" i="1" dirty="0"/>
                  <a:t>n</a:t>
                </a:r>
                <a:r>
                  <a:rPr lang="ro-RO" sz="1800" dirty="0"/>
                  <a:t> pe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o-RO" sz="1800" dirty="0"/>
                  <a:t> biți.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b="1" i="1">
                          <a:latin typeface="Cambria Math"/>
                          <a:ea typeface="Cambria Math"/>
                        </a:rPr>
                        <m:t>𝒙</m:t>
                      </m:r>
                      <m:r>
                        <a:rPr lang="ro-RO" sz="1800" b="1" i="1">
                          <a:latin typeface="Cambria Math"/>
                          <a:ea typeface="Cambria Math"/>
                        </a:rPr>
                        <m:t>↔</m:t>
                      </m:r>
                      <m:r>
                        <a:rPr lang="ro-RO" sz="1800" b="1" i="1">
                          <a:latin typeface="Cambria Math"/>
                          <a:ea typeface="Cambria Math"/>
                        </a:rPr>
                        <m:t>𝒏</m:t>
                      </m:r>
                      <m:r>
                        <a:rPr lang="ro-RO" sz="1800" b="1" i="1">
                          <a:latin typeface="Cambria Math"/>
                          <a:ea typeface="Cambria Math"/>
                        </a:rPr>
                        <m:t>↔</m:t>
                      </m:r>
                      <m:r>
                        <a:rPr lang="en-US" sz="1800" b="1" i="1">
                          <a:latin typeface="Cambria Math"/>
                          <a:ea typeface="Cambria Math"/>
                        </a:rPr>
                        <m:t>𝒗</m:t>
                      </m:r>
                      <m:r>
                        <a:rPr lang="en-US" sz="1800" b="1" i="1">
                          <a:latin typeface="Cambria Math"/>
                          <a:ea typeface="Cambria Math"/>
                        </a:rPr>
                        <m:t>:</m:t>
                      </m:r>
                      <m:r>
                        <a:rPr lang="en-US" sz="1800" b="1" i="1">
                          <a:latin typeface="Cambria Math"/>
                          <a:ea typeface="Cambria Math"/>
                        </a:rPr>
                        <m:t>𝒗𝒆𝒄𝒕𝒐𝒓𝒖𝒍</m:t>
                      </m:r>
                      <m:r>
                        <a:rPr lang="en-US" sz="1800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ro-RO" sz="1800" b="1" i="1">
                          <a:latin typeface="Cambria Math"/>
                          <a:ea typeface="Cambria Math"/>
                        </a:rPr>
                        <m:t>𝒓𝒆𝒑𝒓𝒆𝒛𝒆𝒏𝒕𝒂𝒓𝒆</m:t>
                      </m:r>
                      <m:r>
                        <a:rPr lang="ro-RO" sz="1800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ro-RO" sz="1800" b="1" i="1">
                          <a:latin typeface="Cambria Math"/>
                          <a:ea typeface="Cambria Math"/>
                        </a:rPr>
                        <m:t>𝒃𝒊𝒏𝒂𝒓</m:t>
                      </m:r>
                      <m:r>
                        <a:rPr lang="ro-RO" sz="1800" b="1" i="1">
                          <a:latin typeface="Cambria Math"/>
                          <a:ea typeface="Cambria Math"/>
                        </a:rPr>
                        <m:t>ă </m:t>
                      </m:r>
                      <m:r>
                        <a:rPr lang="ro-RO" sz="1800" b="1" i="1">
                          <a:latin typeface="Cambria Math"/>
                          <a:ea typeface="Cambria Math"/>
                        </a:rPr>
                        <m:t>𝒂</m:t>
                      </m:r>
                      <m:r>
                        <a:rPr lang="ro-RO" sz="1800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ro-RO" sz="1800" b="1" i="1">
                          <a:latin typeface="Cambria Math"/>
                          <a:ea typeface="Cambria Math"/>
                        </a:rPr>
                        <m:t>𝒍𝒖𝒊</m:t>
                      </m:r>
                      <m:r>
                        <a:rPr lang="ro-RO" sz="1800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ro-RO" sz="1800" b="1" i="1">
                          <a:latin typeface="Cambria Math"/>
                          <a:ea typeface="Cambria Math"/>
                        </a:rPr>
                        <m:t>𝒏</m:t>
                      </m:r>
                      <m:r>
                        <a:rPr lang="ro-RO" sz="1800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ro-RO" sz="1800" b="1" i="1">
                          <a:latin typeface="Cambria Math"/>
                          <a:ea typeface="Cambria Math"/>
                        </a:rPr>
                        <m:t>𝒑𝒆</m:t>
                      </m:r>
                      <m:r>
                        <a:rPr lang="ro-RO" sz="1800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ro-RO" sz="1800" b="1" i="1">
                          <a:latin typeface="Cambria Math"/>
                          <a:ea typeface="Cambria Math"/>
                        </a:rPr>
                        <m:t>𝒎</m:t>
                      </m:r>
                      <m:r>
                        <a:rPr lang="ro-RO" sz="1800" b="1" i="1"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ro-RO" sz="1800" b="1" i="1">
                          <a:latin typeface="Cambria Math"/>
                          <a:ea typeface="Cambria Math"/>
                        </a:rPr>
                        <m:t>𝒃𝒊</m:t>
                      </m:r>
                      <m:r>
                        <a:rPr lang="ro-RO" sz="1800" b="1" i="1">
                          <a:latin typeface="Cambria Math"/>
                          <a:ea typeface="Cambria Math"/>
                        </a:rPr>
                        <m:t>ț</m:t>
                      </m:r>
                      <m:r>
                        <a:rPr lang="ro-RO" sz="1800" b="1" i="1">
                          <a:latin typeface="Cambria Math"/>
                          <a:ea typeface="Cambria Math"/>
                        </a:rPr>
                        <m:t>𝒊</m:t>
                      </m:r>
                      <m:r>
                        <a:rPr lang="ro-RO" sz="1800" b="1" i="1">
                          <a:latin typeface="Cambria Math"/>
                          <a:ea typeface="Cambria Math"/>
                        </a:rPr>
                        <m:t> </m:t>
                      </m:r>
                    </m:oMath>
                  </m:oMathPara>
                </a14:m>
                <a:endParaRPr lang="ro-RO" sz="1800" b="1" i="1" dirty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o-RO" sz="1800" b="1" i="1">
                          <a:latin typeface="Cambria Math"/>
                        </a:rPr>
                        <m:t>𝒙</m:t>
                      </m:r>
                      <m:r>
                        <a:rPr lang="ro-RO" sz="1800" b="1" i="1">
                          <a:latin typeface="Cambria Math"/>
                        </a:rPr>
                        <m:t>=</m:t>
                      </m:r>
                      <m:r>
                        <a:rPr lang="en-US" sz="1800" b="1" i="1">
                          <a:latin typeface="Cambria Math"/>
                        </a:rPr>
                        <m:t>𝒂</m:t>
                      </m:r>
                      <m:r>
                        <a:rPr lang="en-US" sz="1800" b="1" i="1">
                          <a:latin typeface="Cambria Math"/>
                        </a:rPr>
                        <m:t>+</m:t>
                      </m:r>
                      <m:r>
                        <a:rPr lang="ro-RO" sz="1800" b="1" i="1">
                          <a:latin typeface="Cambria Math"/>
                        </a:rPr>
                        <m:t>𝒏</m:t>
                      </m:r>
                      <m:r>
                        <a:rPr lang="en-US" sz="1800" b="1" i="1">
                          <a:latin typeface="Cambria Math"/>
                        </a:rPr>
                        <m:t>∗</m:t>
                      </m:r>
                      <m:f>
                        <m:fPr>
                          <m:ctrlPr>
                            <a:rPr lang="ro-RO" sz="1800" b="1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o-RO" sz="1800" b="1" i="1">
                              <a:latin typeface="Cambria Math"/>
                            </a:rPr>
                            <m:t>𝒃</m:t>
                          </m:r>
                          <m:r>
                            <a:rPr lang="ro-RO" sz="1800" b="1" i="1">
                              <a:latin typeface="Cambria Math"/>
                            </a:rPr>
                            <m:t>−</m:t>
                          </m:r>
                          <m:r>
                            <a:rPr lang="ro-RO" sz="1800" b="1" i="1">
                              <a:latin typeface="Cambria Math"/>
                            </a:rPr>
                            <m:t>𝒂</m:t>
                          </m:r>
                        </m:num>
                        <m:den>
                          <m:sSup>
                            <m:sSupPr>
                              <m:ctrlPr>
                                <a:rPr lang="ro-RO" sz="1800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ro-RO" sz="1800" i="1">
                                  <a:latin typeface="Cambria Math"/>
                                  <a:ea typeface="Cambria Math"/>
                                </a:rPr>
                                <m:t>2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lang="ro-RO" sz="1800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  <m:t>0</m:t>
                                  </m:r>
                                </m:sub>
                              </m:sSub>
                            </m:sup>
                          </m:sSup>
                          <m:r>
                            <a:rPr lang="ro-RO" sz="1800" b="1" i="1">
                              <a:latin typeface="Cambria Math"/>
                            </a:rPr>
                            <m:t>−</m:t>
                          </m:r>
                          <m:r>
                            <a:rPr lang="ro-RO" sz="1800" b="1" i="1">
                              <a:latin typeface="Cambria Math"/>
                            </a:rPr>
                            <m:t>𝟏</m:t>
                          </m:r>
                        </m:den>
                      </m:f>
                      <m:r>
                        <a:rPr lang="ro-RO" sz="1800" b="1" i="1">
                          <a:latin typeface="Cambria Math"/>
                        </a:rPr>
                        <m:t> </m:t>
                      </m:r>
                      <m:r>
                        <a:rPr lang="ro-RO" sz="1800" b="1" i="1">
                          <a:latin typeface="Cambria Math"/>
                          <a:ea typeface="Cambria Math"/>
                        </a:rPr>
                        <m:t>⇒</m:t>
                      </m:r>
                      <m:r>
                        <a:rPr lang="ro-RO" sz="1800" b="1" i="1">
                          <a:latin typeface="Cambria Math"/>
                          <a:ea typeface="Cambria Math"/>
                        </a:rPr>
                        <m:t>𝒏</m:t>
                      </m:r>
                      <m:r>
                        <a:rPr lang="ro-RO" sz="1800" b="1" i="1">
                          <a:latin typeface="Cambria Math"/>
                          <a:ea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ro-RO" sz="1800" b="1" i="1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ro-RO" sz="1800" b="1" i="1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ro-RO" sz="1800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ro-RO" sz="1800" b="1" i="1">
                                      <a:latin typeface="Cambria Math"/>
                                      <a:ea typeface="Cambria Math"/>
                                    </a:rPr>
                                    <m:t>𝒙</m:t>
                                  </m:r>
                                  <m:r>
                                    <a:rPr lang="ro-RO" sz="1800" b="1" i="1">
                                      <a:latin typeface="Cambria Math"/>
                                      <a:ea typeface="Cambria Math"/>
                                    </a:rPr>
                                    <m:t>−</m:t>
                                  </m:r>
                                  <m:r>
                                    <a:rPr lang="ro-RO" sz="1800" b="1" i="1">
                                      <a:latin typeface="Cambria Math"/>
                                      <a:ea typeface="Cambria Math"/>
                                    </a:rPr>
                                    <m:t>𝒂</m:t>
                                  </m:r>
                                </m:e>
                              </m:d>
                              <m:r>
                                <a:rPr lang="ro-RO" sz="1800" b="1" i="1">
                                  <a:latin typeface="Cambria Math"/>
                                  <a:ea typeface="Cambria Math"/>
                                </a:rPr>
                                <m:t>∙</m:t>
                              </m:r>
                              <m:d>
                                <m:dPr>
                                  <m:ctrlPr>
                                    <a:rPr lang="ro-RO" sz="1800" b="1" i="1">
                                      <a:latin typeface="Cambria Math" panose="02040503050406030204" pitchFamily="18" charset="0"/>
                                      <a:ea typeface="Cambria Math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ro-RO" sz="1800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ro-RO" sz="1800" b="1" i="1">
                                          <a:latin typeface="Cambria Math"/>
                                        </a:rPr>
                                        <m:t>𝟐</m:t>
                                      </m:r>
                                    </m:e>
                                    <m:sup>
                                      <m:sSub>
                                        <m:sSubPr>
                                          <m:ctrlPr>
                                            <a:rPr lang="ro-RO" sz="1800" i="1"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o-RO" sz="1800" i="1"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ro-RO" sz="1800" i="1">
                                              <a:latin typeface="Cambria Math" panose="02040503050406030204" pitchFamily="18" charset="0"/>
                                              <a:ea typeface="Cambria Math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</m:sup>
                                  </m:sSup>
                                  <m:r>
                                    <a:rPr lang="ro-RO" sz="1800" b="1" i="1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ro-RO" sz="1800" b="1" i="1">
                                      <a:latin typeface="Cambria Math"/>
                                    </a:rPr>
                                    <m:t>𝟏</m:t>
                                  </m:r>
                                </m:e>
                              </m:d>
                            </m:num>
                            <m:den>
                              <m:r>
                                <a:rPr lang="ro-RO" sz="1800" b="1" i="1">
                                  <a:latin typeface="Cambria Math"/>
                                  <a:ea typeface="Cambria Math"/>
                                </a:rPr>
                                <m:t>𝒃</m:t>
                              </m:r>
                              <m:r>
                                <a:rPr lang="ro-RO" sz="1800" b="1" i="1">
                                  <a:latin typeface="Cambria Math"/>
                                  <a:ea typeface="Cambria Math"/>
                                </a:rPr>
                                <m:t>−</m:t>
                              </m:r>
                              <m:r>
                                <a:rPr lang="ro-RO" sz="1800" b="1" i="1">
                                  <a:latin typeface="Cambria Math"/>
                                  <a:ea typeface="Cambria Math"/>
                                </a:rPr>
                                <m:t>𝒂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24" name="Text Placeholder 1">
                <a:extLst>
                  <a:ext uri="{FF2B5EF4-FFF2-40B4-BE49-F238E27FC236}">
                    <a16:creationId xmlns:a16="http://schemas.microsoft.com/office/drawing/2014/main" id="{C2E67776-3D2C-3533-A05B-375E6BA994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1981200" y="990600"/>
                <a:ext cx="8534400" cy="5486400"/>
              </a:xfrm>
              <a:blipFill>
                <a:blip r:embed="rId2"/>
                <a:stretch>
                  <a:fillRect l="-429" t="-1111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27874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1866900" y="304800"/>
            <a:ext cx="8458200" cy="858838"/>
          </a:xfrm>
        </p:spPr>
        <p:txBody>
          <a:bodyPr/>
          <a:lstStyle/>
          <a:p>
            <a:pPr eaLnBrk="1" hangingPunct="1"/>
            <a:r>
              <a:rPr lang="ro-RO" altLang="en-US" sz="2600" b="1" dirty="0">
                <a:solidFill>
                  <a:schemeClr val="bg2"/>
                </a:solidFill>
              </a:rPr>
              <a:t>Exemplu numeric</a:t>
            </a:r>
          </a:p>
        </p:txBody>
      </p:sp>
      <p:sp>
        <p:nvSpPr>
          <p:cNvPr id="9220" name="Rectangle 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1" name="Rectangle 11"/>
          <p:cNvSpPr>
            <a:spLocks noChangeArrowheads="1"/>
          </p:cNvSpPr>
          <p:nvPr/>
        </p:nvSpPr>
        <p:spPr bwMode="auto">
          <a:xfrm>
            <a:off x="1524001" y="3153847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2" name="Rectangle 1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3" name="Rectangle 15"/>
          <p:cNvSpPr>
            <a:spLocks noChangeArrowheads="1"/>
          </p:cNvSpPr>
          <p:nvPr/>
        </p:nvSpPr>
        <p:spPr bwMode="auto">
          <a:xfrm>
            <a:off x="1524001" y="314908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4" name="Rectangle 1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5" name="Rectangle 2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6" name="Rectangle 2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7" name="Rectangle 2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8" name="Rectangle 29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29" name="Rectangle 3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0" name="Rectangle 3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1" name="Rectangle 3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2" name="Rectangle 3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3" name="Rectangle 41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4" name="Rectangle 4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5" name="Rectangle 45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6" name="Rectangle 47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7" name="Rectangle 52"/>
          <p:cNvSpPr>
            <a:spLocks noChangeArrowheads="1"/>
          </p:cNvSpPr>
          <p:nvPr/>
        </p:nvSpPr>
        <p:spPr bwMode="auto">
          <a:xfrm>
            <a:off x="1524001" y="16441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p:sp>
        <p:nvSpPr>
          <p:cNvPr id="9238" name="Rectangle 54"/>
          <p:cNvSpPr>
            <a:spLocks noChangeArrowheads="1"/>
          </p:cNvSpPr>
          <p:nvPr/>
        </p:nvSpPr>
        <p:spPr bwMode="auto">
          <a:xfrm>
            <a:off x="1524001" y="1301234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bg2"/>
              </a:buClr>
              <a:buSzPct val="65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7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latin typeface="Garamond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/>
              <p:cNvSpPr>
                <a:spLocks noGrp="1"/>
              </p:cNvSpPr>
              <p:nvPr>
                <p:ph type="body" sz="half" idx="1"/>
              </p:nvPr>
            </p:nvSpPr>
            <p:spPr>
              <a:xfrm>
                <a:off x="1981200" y="990600"/>
                <a:ext cx="8229600" cy="5562600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q"/>
                </a:pPr>
                <a:r>
                  <a:rPr lang="ro-RO" sz="1800" b="1" dirty="0"/>
                  <a:t>Problema</a:t>
                </a:r>
                <a:r>
                  <a:rPr lang="ro-RO" sz="1800" dirty="0"/>
                  <a:t>: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𝐷</m:t>
                    </m:r>
                    <m:r>
                      <a:rPr lang="ro-RO" sz="1800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o-RO" sz="1800" i="1">
                            <a:latin typeface="Cambria Math"/>
                          </a:rPr>
                          <m:t>−3,</m:t>
                        </m:r>
                        <m:r>
                          <a:rPr lang="ro-RO" sz="1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ro-RO" sz="1800" i="1">
                            <a:latin typeface="Cambria Math"/>
                          </a:rPr>
                          <m:t>.2</m:t>
                        </m:r>
                      </m:e>
                    </m:d>
                    <m:r>
                      <a:rPr lang="ro-RO" sz="1800" i="1">
                        <a:latin typeface="Cambria Math"/>
                      </a:rPr>
                      <m:t>, </m:t>
                    </m:r>
                    <m:r>
                      <a:rPr lang="ro-RO" sz="1800" i="1">
                        <a:latin typeface="Cambria Math"/>
                      </a:rPr>
                      <m:t>𝑏</m:t>
                    </m:r>
                    <m:r>
                      <a:rPr lang="ro-RO" sz="1800" i="1">
                        <a:latin typeface="Cambria Math"/>
                      </a:rPr>
                      <m:t>−</m:t>
                    </m:r>
                    <m:r>
                      <a:rPr lang="ro-RO" sz="1800" i="1">
                        <a:latin typeface="Cambria Math"/>
                      </a:rPr>
                      <m:t>𝑎</m:t>
                    </m:r>
                    <m:r>
                      <a:rPr lang="ro-RO" sz="1800" i="1">
                        <a:latin typeface="Cambria Math"/>
                      </a:rPr>
                      <m:t>=7.2</m:t>
                    </m:r>
                    <m:r>
                      <a:rPr lang="ro-RO" sz="1800">
                        <a:latin typeface="Cambria Math"/>
                      </a:rPr>
                      <m:t>. </m:t>
                    </m:r>
                  </m:oMath>
                </a14:m>
                <a:r>
                  <a:rPr lang="ro-RO" sz="1800" dirty="0"/>
                  <a:t> Reprezintă 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𝑥</m:t>
                    </m:r>
                    <m:r>
                      <a:rPr lang="ro-RO" sz="1800" i="1">
                        <a:latin typeface="Cambria Math"/>
                      </a:rPr>
                      <m:t>=2.173895</m:t>
                    </m:r>
                  </m:oMath>
                </a14:m>
                <a:r>
                  <a:rPr lang="ro-RO" sz="1800" dirty="0"/>
                  <a:t> cu eroare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o-RO" sz="18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o-RO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ro-RO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:endParaRPr lang="ro-RO" sz="1800" dirty="0"/>
              </a:p>
              <a:p>
                <a:pPr>
                  <a:buSzPct val="125000"/>
                  <a:buFont typeface="+mj-lt"/>
                  <a:buAutoNum type="alphaUcPeriod"/>
                </a:pPr>
                <a14:m>
                  <m:oMath xmlns:m="http://schemas.openxmlformats.org/officeDocument/2006/math">
                    <m:r>
                      <a:rPr lang="ro-RO" sz="1800" b="1" i="1">
                        <a:latin typeface="Cambria Math"/>
                        <a:ea typeface="Cambria Math"/>
                      </a:rPr>
                      <m:t>𝒙</m:t>
                    </m:r>
                    <m:r>
                      <a:rPr lang="ro-RO" sz="1800" b="1" i="1">
                        <a:latin typeface="Cambria Math"/>
                        <a:ea typeface="Cambria Math"/>
                      </a:rPr>
                      <m:t>→</m:t>
                    </m:r>
                    <m:r>
                      <a:rPr lang="ro-RO" sz="1800" b="1" i="1">
                        <a:latin typeface="Cambria Math"/>
                        <a:ea typeface="Cambria Math"/>
                      </a:rPr>
                      <m:t>𝒏</m:t>
                    </m:r>
                    <m:r>
                      <a:rPr lang="ro-RO" sz="1800" b="1" i="1">
                        <a:latin typeface="Cambria Math"/>
                        <a:ea typeface="Cambria Math"/>
                      </a:rPr>
                      <m:t>→</m:t>
                    </m:r>
                    <m:r>
                      <a:rPr lang="ro-RO" sz="1800" b="1" i="1">
                        <a:latin typeface="Cambria Math"/>
                        <a:ea typeface="Cambria Math"/>
                      </a:rPr>
                      <m:t>𝒗</m:t>
                    </m:r>
                    <m:r>
                      <a:rPr lang="ro-RO" sz="1800" b="1" i="1">
                        <a:latin typeface="Cambria Math"/>
                        <a:ea typeface="Cambria Math"/>
                      </a:rPr>
                      <m:t>:</m:t>
                    </m:r>
                    <m:r>
                      <a:rPr lang="ro-RO" sz="1800" b="1" i="1">
                        <a:latin typeface="Cambria Math"/>
                        <a:ea typeface="Cambria Math"/>
                      </a:rPr>
                      <m:t>𝒗𝒆𝒄𝒕𝒐𝒓𝒖𝒍</m:t>
                    </m:r>
                    <m:r>
                      <a:rPr lang="ro-RO" sz="18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ro-RO" sz="1800" b="1" i="1">
                        <a:latin typeface="Cambria Math"/>
                        <a:ea typeface="Cambria Math"/>
                      </a:rPr>
                      <m:t>𝒓𝒆𝒑𝒓𝒆𝒛𝒆𝒏𝒕𝒂𝒓𝒆</m:t>
                    </m:r>
                    <m:r>
                      <a:rPr lang="ro-RO" sz="18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ro-RO" sz="1800" b="1" i="1">
                        <a:latin typeface="Cambria Math"/>
                        <a:ea typeface="Cambria Math"/>
                      </a:rPr>
                      <m:t>𝒃𝒊𝒏𝒂𝒓</m:t>
                    </m:r>
                    <m:r>
                      <a:rPr lang="ro-RO" sz="1800" b="1" i="1">
                        <a:latin typeface="Cambria Math"/>
                        <a:ea typeface="Cambria Math"/>
                      </a:rPr>
                      <m:t>ă </m:t>
                    </m:r>
                    <m:r>
                      <a:rPr lang="ro-RO" sz="1800" b="1" i="1">
                        <a:latin typeface="Cambria Math"/>
                        <a:ea typeface="Cambria Math"/>
                      </a:rPr>
                      <m:t>𝒂</m:t>
                    </m:r>
                    <m:r>
                      <a:rPr lang="ro-RO" sz="18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ro-RO" sz="1800" b="1" i="1">
                        <a:latin typeface="Cambria Math"/>
                        <a:ea typeface="Cambria Math"/>
                      </a:rPr>
                      <m:t>𝒍𝒖𝒊</m:t>
                    </m:r>
                    <m:r>
                      <a:rPr lang="ro-RO" sz="18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ro-RO" sz="1800" b="1" i="1">
                        <a:latin typeface="Cambria Math"/>
                        <a:ea typeface="Cambria Math"/>
                      </a:rPr>
                      <m:t>𝒏</m:t>
                    </m:r>
                    <m:r>
                      <a:rPr lang="ro-RO" sz="18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ro-RO" sz="1800" b="1" i="1">
                        <a:latin typeface="Cambria Math"/>
                        <a:ea typeface="Cambria Math"/>
                      </a:rPr>
                      <m:t>𝒑𝒆</m:t>
                    </m:r>
                    <m:sSub>
                      <m:sSubPr>
                        <m:ctrlPr>
                          <a:rPr lang="ro-RO" sz="18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ro-RO" sz="1800" b="1" i="1">
                            <a:latin typeface="Cambria Math" panose="02040503050406030204" pitchFamily="18" charset="0"/>
                            <a:ea typeface="Cambria Math"/>
                          </a:rPr>
                          <m:t> </m:t>
                        </m:r>
                        <m:r>
                          <a:rPr lang="ro-RO" sz="1800" b="1" i="1">
                            <a:latin typeface="Cambria Math" panose="02040503050406030204" pitchFamily="18" charset="0"/>
                            <a:ea typeface="Cambria Math"/>
                          </a:rPr>
                          <m:t>𝒎</m:t>
                        </m:r>
                      </m:e>
                      <m:sub>
                        <m:r>
                          <a:rPr lang="ro-RO" sz="1800" b="1" i="1">
                            <a:latin typeface="Cambria Math" panose="02040503050406030204" pitchFamily="18" charset="0"/>
                            <a:ea typeface="Cambria Math"/>
                          </a:rPr>
                          <m:t>𝟎</m:t>
                        </m:r>
                      </m:sub>
                    </m:sSub>
                    <m:r>
                      <a:rPr lang="ro-RO" sz="1800" b="1" i="1">
                        <a:latin typeface="Cambria Math"/>
                        <a:ea typeface="Cambria Math"/>
                      </a:rPr>
                      <m:t> </m:t>
                    </m:r>
                    <m:r>
                      <a:rPr lang="ro-RO" sz="1800" b="1" i="1">
                        <a:latin typeface="Cambria Math"/>
                        <a:ea typeface="Cambria Math"/>
                      </a:rPr>
                      <m:t>𝒃𝒊</m:t>
                    </m:r>
                    <m:r>
                      <a:rPr lang="ro-RO" sz="1800" b="1" i="1">
                        <a:latin typeface="Cambria Math"/>
                        <a:ea typeface="Cambria Math"/>
                      </a:rPr>
                      <m:t>ț</m:t>
                    </m:r>
                    <m:r>
                      <a:rPr lang="ro-RO" sz="1800" b="1" i="1">
                        <a:latin typeface="Cambria Math"/>
                        <a:ea typeface="Cambria Math"/>
                      </a:rPr>
                      <m:t>𝒊</m:t>
                    </m:r>
                    <m:r>
                      <a:rPr lang="ro-RO" sz="1800" b="1" i="1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endParaRPr lang="ro-RO" sz="1800" b="1" i="1" dirty="0">
                  <a:latin typeface="Cambria Math"/>
                  <a:ea typeface="Cambria Math"/>
                </a:endParaRPr>
              </a:p>
              <a:p>
                <a:pPr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 panose="02040503050406030204" pitchFamily="18" charset="0"/>
                            <a:ea typeface="Cambria Math"/>
                          </a:rPr>
                          <m:t>𝑚</m:t>
                        </m:r>
                      </m:e>
                      <m:sub>
                        <m:r>
                          <a:rPr lang="ro-RO" sz="1800" i="1">
                            <a:latin typeface="Cambria Math" panose="02040503050406030204" pitchFamily="18" charset="0"/>
                            <a:ea typeface="Cambria Math"/>
                          </a:rPr>
                          <m:t>0</m:t>
                        </m:r>
                      </m:sub>
                    </m:sSub>
                    <m:r>
                      <a:rPr lang="ro-RO" sz="1800" i="1">
                        <a:latin typeface="Cambria Math"/>
                        <a:ea typeface="Cambria Math"/>
                      </a:rPr>
                      <m:t>=</m:t>
                    </m:r>
                    <m:d>
                      <m:dPr>
                        <m:begChr m:val="⌈"/>
                        <m:endChr m:val="⌉"/>
                        <m:ctrlPr>
                          <a:rPr lang="ro-RO" sz="18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o-RO" sz="1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/>
                                <a:ea typeface="Cambria Math"/>
                              </a:rPr>
                              <m:t>𝑙𝑜𝑔</m:t>
                            </m:r>
                          </m:e>
                          <m:sub>
                            <m:r>
                              <a:rPr lang="ro-RO" sz="1800" i="1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ro-RO" sz="1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ro-RO" sz="18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  <m:t>7</m:t>
                            </m:r>
                            <m:r>
                              <a:rPr lang="ro-RO" sz="1800" i="1">
                                <a:latin typeface="Cambria Math"/>
                                <a:ea typeface="Cambria Math"/>
                              </a:rPr>
                              <m:t>.2∗</m:t>
                            </m:r>
                            <m:sSup>
                              <m:sSupPr>
                                <m:ctrlPr>
                                  <a:rPr lang="ro-RO" sz="1800" i="1">
                                    <a:latin typeface="Cambria Math" panose="02040503050406030204" pitchFamily="18" charset="0"/>
                                    <a:ea typeface="Cambria Math"/>
                                  </a:rPr>
                                </m:ctrlPr>
                              </m:sSupPr>
                              <m:e>
                                <m:r>
                                  <a:rPr lang="ro-RO" sz="1800" i="1">
                                    <a:latin typeface="Cambria Math"/>
                                    <a:ea typeface="Cambria Math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ro-RO" sz="1800" i="1">
                                    <a:latin typeface="Cambria Math"/>
                                    <a:ea typeface="Cambria Math"/>
                                  </a:rPr>
                                  <m:t>3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ro-RO" sz="1800" i="1">
                        <a:latin typeface="Cambria Math"/>
                        <a:ea typeface="Cambria Math"/>
                      </a:rPr>
                      <m:t>+1=14</m:t>
                    </m:r>
                    <m:r>
                      <a:rPr lang="ro-RO" sz="1800">
                        <a:latin typeface="Cambria Math"/>
                        <a:ea typeface="Cambria Math"/>
                      </a:rPr>
                      <m:t>; </m:t>
                    </m:r>
                  </m:oMath>
                </a14:m>
                <a:endParaRPr lang="ro-RO" sz="1800" dirty="0">
                  <a:latin typeface="Cambria Math"/>
                  <a:ea typeface="Cambria Math"/>
                </a:endParaRPr>
              </a:p>
              <a:p>
                <a:pPr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lang="ro-RO" sz="1800">
                        <a:latin typeface="Cambria Math"/>
                        <a:ea typeface="Cambria Math"/>
                      </a:rPr>
                      <m:t> </m:t>
                    </m:r>
                    <m:r>
                      <a:rPr lang="ro-RO" sz="1800" i="1">
                        <a:latin typeface="Cambria Math"/>
                      </a:rPr>
                      <m:t>𝑛</m:t>
                    </m:r>
                    <m:r>
                      <a:rPr lang="ro-RO" sz="1800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o-RO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ro-RO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o-RO" sz="1800" i="1"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ro-RO" sz="18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ro-RO" sz="1800" i="1">
                                    <a:latin typeface="Cambria Math"/>
                                  </a:rPr>
                                  <m:t>𝑎</m:t>
                                </m:r>
                              </m:e>
                            </m:d>
                            <m:r>
                              <a:rPr lang="ro-RO" sz="1800" i="1">
                                <a:latin typeface="Cambria Math"/>
                              </a:rPr>
                              <m:t>∗</m:t>
                            </m:r>
                            <m:d>
                              <m:dPr>
                                <m:ctrlPr>
                                  <a:rPr lang="ro-RO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ro-RO" sz="1800" i="1">
                                        <a:latin typeface="Cambria Math" panose="02040503050406030204" pitchFamily="18" charset="0"/>
                                        <a:ea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ro-RO" sz="1800" i="1">
                                        <a:latin typeface="Cambria Math"/>
                                        <a:ea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sSub>
                                      <m:sSubPr>
                                        <m:ctrlPr>
                                          <a:rPr lang="ro-RO" sz="1800" i="1">
                                            <a:latin typeface="Cambria Math" panose="02040503050406030204" pitchFamily="18" charset="0"/>
                                            <a:ea typeface="Cambria Math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o-RO" sz="1800" i="1">
                                            <a:latin typeface="Cambria Math" panose="02040503050406030204" pitchFamily="18" charset="0"/>
                                            <a:ea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ro-RO" sz="1800" i="1">
                                            <a:latin typeface="Cambria Math" panose="02040503050406030204" pitchFamily="18" charset="0"/>
                                            <a:ea typeface="Cambria Math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sup>
                                </m:sSup>
                                <m:r>
                                  <a:rPr lang="ro-RO" sz="1800" i="1">
                                    <a:latin typeface="Cambria Math"/>
                                    <a:ea typeface="Cambria Math"/>
                                  </a:rPr>
                                  <m:t>−1</m:t>
                                </m:r>
                              </m:e>
                            </m:d>
                          </m:num>
                          <m:den>
                            <m:r>
                              <a:rPr lang="ro-RO" sz="1800" i="1">
                                <a:latin typeface="Cambria Math"/>
                                <a:ea typeface="Cambria Math"/>
                              </a:rPr>
                              <m:t>𝑏</m:t>
                            </m:r>
                            <m:r>
                              <a:rPr lang="ro-RO" sz="1800" i="1"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ro-RO" sz="1800" i="1">
                                <a:latin typeface="Cambria Math"/>
                                <a:ea typeface="Cambria Math"/>
                              </a:rPr>
                              <m:t>𝑎</m:t>
                            </m:r>
                          </m:den>
                        </m:f>
                      </m:e>
                    </m:d>
                    <m:r>
                      <a:rPr lang="ro-RO" sz="1800" i="1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ro-RO" sz="1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ro-RO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ro-RO" sz="1800" i="1">
                                    <a:latin typeface="Cambria Math"/>
                                  </a:rPr>
                                  <m:t>2.173895+3</m:t>
                                </m:r>
                              </m:e>
                            </m:d>
                            <m:r>
                              <a:rPr lang="ro-RO" sz="1800" i="1">
                                <a:latin typeface="Cambria Math"/>
                              </a:rPr>
                              <m:t>∗</m:t>
                            </m:r>
                            <m:d>
                              <m:dPr>
                                <m:ctrlPr>
                                  <a:rPr lang="ro-RO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ro-RO" sz="1800" i="1">
                                        <a:latin typeface="Cambria Math" panose="02040503050406030204" pitchFamily="18" charset="0"/>
                                        <a:ea typeface="Cambria Math"/>
                                      </a:rPr>
                                    </m:ctrlPr>
                                  </m:sSupPr>
                                  <m:e>
                                    <m:r>
                                      <a:rPr lang="ro-RO" sz="1800" i="1">
                                        <a:latin typeface="Cambria Math"/>
                                        <a:ea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ro-RO" sz="1800" i="1">
                                        <a:latin typeface="Cambria Math"/>
                                        <a:ea typeface="Cambria Math"/>
                                      </a:rPr>
                                      <m:t>14</m:t>
                                    </m:r>
                                  </m:sup>
                                </m:sSup>
                                <m:r>
                                  <a:rPr lang="ro-RO" sz="1800" i="1">
                                    <a:latin typeface="Cambria Math"/>
                                    <a:ea typeface="Cambria Math"/>
                                  </a:rPr>
                                  <m:t>−1</m:t>
                                </m:r>
                              </m:e>
                            </m:d>
                          </m:num>
                          <m:den>
                            <m:r>
                              <a:rPr lang="ro-RO" sz="18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  <m:t>7</m:t>
                            </m:r>
                            <m:r>
                              <a:rPr lang="ro-RO" sz="1800" i="1">
                                <a:latin typeface="Cambria Math"/>
                              </a:rPr>
                              <m:t>.2</m:t>
                            </m:r>
                          </m:den>
                        </m:f>
                      </m:e>
                    </m:d>
                    <m:r>
                      <a:rPr lang="ro-RO" sz="1800" i="1">
                        <a:latin typeface="Cambria Math"/>
                      </a:rPr>
                      <m:t>=</m:t>
                    </m:r>
                    <m:r>
                      <a:rPr lang="ro-RO" sz="1800" i="1">
                        <a:latin typeface="Cambria Math"/>
                      </a:rPr>
                      <m:t>11772</m:t>
                    </m:r>
                  </m:oMath>
                </a14:m>
                <a:endParaRPr lang="ro-RO" sz="1800" dirty="0"/>
              </a:p>
              <a:p>
                <a:pPr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  <a:ea typeface="Cambria Math"/>
                      </a:rPr>
                      <m:t>𝑣</m:t>
                    </m:r>
                    <m:r>
                      <a:rPr lang="ro-RO" sz="1800" i="1">
                        <a:latin typeface="Cambria Math"/>
                        <a:ea typeface="Cambria Math"/>
                      </a:rPr>
                      <m:t>=[1011</m:t>
                    </m:r>
                    <m:r>
                      <a:rPr lang="ro-RO" sz="1800" i="1">
                        <a:latin typeface="Cambria Math"/>
                        <a:ea typeface="Cambria Math"/>
                      </a:rPr>
                      <m:t>0111111100]</m:t>
                    </m:r>
                  </m:oMath>
                </a14:m>
                <a:r>
                  <a:rPr lang="ro-RO" sz="1800" dirty="0"/>
                  <a:t> reprezentarea binară a lui 11772 </a:t>
                </a:r>
                <a:endParaRPr lang="ro-RO" sz="1800" i="1" dirty="0"/>
              </a:p>
              <a:p>
                <a:pPr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2.173895</m:t>
                    </m:r>
                    <m:r>
                      <a:rPr lang="ro-RO" sz="1800" i="1">
                        <a:latin typeface="Cambria Math"/>
                        <a:ea typeface="Cambria Math"/>
                      </a:rPr>
                      <m:t>→</m:t>
                    </m:r>
                    <m:r>
                      <a:rPr lang="ro-RO" sz="1800" i="1">
                        <a:latin typeface="Cambria Math"/>
                        <a:ea typeface="Cambria Math"/>
                      </a:rPr>
                      <m:t>11772</m:t>
                    </m:r>
                    <m:r>
                      <a:rPr lang="ro-RO" sz="1800" i="1">
                        <a:latin typeface="Cambria Math"/>
                        <a:ea typeface="Cambria Math"/>
                      </a:rPr>
                      <m:t>→[</m:t>
                    </m:r>
                    <m:r>
                      <a:rPr lang="ro-RO" sz="1800" i="1">
                        <a:latin typeface="Cambria Math"/>
                        <a:ea typeface="Cambria Math"/>
                      </a:rPr>
                      <m:t>10110111111100</m:t>
                    </m:r>
                    <m:r>
                      <a:rPr lang="ro-RO" sz="1800" i="1">
                        <a:latin typeface="Cambria Math"/>
                        <a:ea typeface="Cambria Math"/>
                      </a:rPr>
                      <m:t>]</m:t>
                    </m:r>
                  </m:oMath>
                </a14:m>
                <a:endParaRPr lang="ro-RO" sz="1800" b="1" i="1" dirty="0">
                  <a:latin typeface="Cambria Math"/>
                  <a:ea typeface="Cambria Math"/>
                </a:endParaRPr>
              </a:p>
              <a:p>
                <a:pPr>
                  <a:buFont typeface="Wingdings" panose="05000000000000000000" pitchFamily="2" charset="2"/>
                  <a:buChar char="q"/>
                </a:pPr>
                <a:endParaRPr lang="ro-RO" sz="1800" b="1" i="1" dirty="0">
                  <a:latin typeface="Cambria Math"/>
                  <a:ea typeface="Cambria Math"/>
                </a:endParaRPr>
              </a:p>
              <a:p>
                <a:pPr>
                  <a:buSzPct val="125000"/>
                  <a:buFont typeface="+mj-lt"/>
                  <a:buAutoNum type="alphaUcPeriod" startAt="2"/>
                </a:pPr>
                <a14:m>
                  <m:oMath xmlns:m="http://schemas.openxmlformats.org/officeDocument/2006/math">
                    <m:r>
                      <a:rPr lang="ro-RO" sz="1800" b="1" i="1">
                        <a:latin typeface="Cambria Math"/>
                        <a:ea typeface="Cambria Math"/>
                      </a:rPr>
                      <m:t>𝒗</m:t>
                    </m:r>
                    <m:r>
                      <a:rPr lang="ro-RO" sz="1800" b="1" i="1">
                        <a:latin typeface="Cambria Math"/>
                        <a:ea typeface="Cambria Math"/>
                      </a:rPr>
                      <m:t>→</m:t>
                    </m:r>
                    <m:r>
                      <a:rPr lang="ro-RO" sz="1800" b="1" i="1">
                        <a:latin typeface="Cambria Math"/>
                        <a:ea typeface="Cambria Math"/>
                      </a:rPr>
                      <m:t>𝒏</m:t>
                    </m:r>
                    <m:r>
                      <a:rPr lang="ro-RO" sz="1800" b="1" i="1">
                        <a:latin typeface="Cambria Math"/>
                        <a:ea typeface="Cambria Math"/>
                      </a:rPr>
                      <m:t>→</m:t>
                    </m:r>
                    <m:acc>
                      <m:accPr>
                        <m:chr m:val="̃"/>
                        <m:ctrlPr>
                          <a:rPr lang="ro-RO" sz="1800" b="1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r>
                          <a:rPr lang="ro-RO" sz="1800" b="1" i="1">
                            <a:latin typeface="Cambria Math"/>
                            <a:ea typeface="Cambria Math"/>
                          </a:rPr>
                          <m:t>𝒙</m:t>
                        </m:r>
                      </m:e>
                    </m:acc>
                  </m:oMath>
                </a14:m>
                <a:r>
                  <a:rPr lang="ro-RO" sz="1800" b="1" i="1" dirty="0">
                    <a:latin typeface="Cambria Math"/>
                    <a:ea typeface="Cambria Math"/>
                  </a:rPr>
                  <a:t> </a:t>
                </a:r>
                <a:r>
                  <a:rPr lang="ro-RO" sz="1800" dirty="0">
                    <a:latin typeface="Cambria Math"/>
                    <a:ea typeface="Cambria Math"/>
                  </a:rPr>
                  <a:t>, </a:t>
                </a:r>
                <a:r>
                  <a:rPr lang="ro-RO" sz="1800" dirty="0">
                    <a:ea typeface="Cambria Math"/>
                  </a:rPr>
                  <a:t>aproximarea lui </a:t>
                </a:r>
                <a14:m>
                  <m:oMath xmlns:m="http://schemas.openxmlformats.org/officeDocument/2006/math">
                    <m:r>
                      <a:rPr lang="ro-RO" sz="1800" b="1" i="1">
                        <a:latin typeface="Cambria Math"/>
                      </a:rPr>
                      <m:t>𝒙</m:t>
                    </m:r>
                    <m:r>
                      <a:rPr lang="ro-RO" sz="1800" b="1" i="1">
                        <a:latin typeface="Cambria Math"/>
                      </a:rPr>
                      <m:t> </m:t>
                    </m:r>
                  </m:oMath>
                </a14:m>
                <a:r>
                  <a:rPr lang="ro-RO" sz="1800" dirty="0">
                    <a:ea typeface="Cambria Math"/>
                  </a:rPr>
                  <a:t>cu </a:t>
                </a:r>
                <a:r>
                  <a:rPr lang="ro-RO" sz="1800" dirty="0"/>
                  <a:t>eroare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o-RO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ro-RO" sz="1800" dirty="0">
                  <a:latin typeface="Cambria Math"/>
                  <a:ea typeface="Cambria Math"/>
                </a:endParaRPr>
              </a:p>
              <a:p>
                <a:pPr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o-RO" sz="1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ro-RO" sz="1800" i="1">
                            <a:latin typeface="Cambria Math" panose="02040503050406030204" pitchFamily="18" charset="0"/>
                            <a:ea typeface="Cambria Math"/>
                          </a:rPr>
                          <m:t>𝑚</m:t>
                        </m:r>
                      </m:e>
                      <m:sub>
                        <m:r>
                          <a:rPr lang="ro-RO" sz="1800" i="1">
                            <a:latin typeface="Cambria Math" panose="02040503050406030204" pitchFamily="18" charset="0"/>
                            <a:ea typeface="Cambria Math"/>
                          </a:rPr>
                          <m:t>0</m:t>
                        </m:r>
                      </m:sub>
                    </m:sSub>
                    <m:r>
                      <a:rPr lang="ro-RO" sz="1800" i="1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r>
                      <a:rPr lang="ro-RO" sz="1800" i="1">
                        <a:latin typeface="Cambria Math"/>
                        <a:ea typeface="Cambria Math"/>
                      </a:rPr>
                      <m:t>=14, </m:t>
                    </m:r>
                    <m:r>
                      <a:rPr lang="ro-RO" sz="1800" i="1">
                        <a:latin typeface="Cambria Math"/>
                        <a:ea typeface="Cambria Math"/>
                      </a:rPr>
                      <m:t>𝑛</m:t>
                    </m:r>
                    <m:r>
                      <a:rPr lang="ro-RO" sz="1800" i="1">
                        <a:latin typeface="Cambria Math"/>
                        <a:ea typeface="Cambria Math"/>
                      </a:rPr>
                      <m:t>=</m:t>
                    </m:r>
                    <m:nary>
                      <m:naryPr>
                        <m:chr m:val="∑"/>
                        <m:ctrlPr>
                          <a:rPr lang="ro-RO" sz="1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ro-RO" sz="1800" i="1">
                            <a:latin typeface="Cambria Math"/>
                            <a:ea typeface="Cambria Math"/>
                          </a:rPr>
                          <m:t>𝑖</m:t>
                        </m:r>
                        <m:r>
                          <a:rPr lang="ro-RO" sz="1800" i="1">
                            <a:latin typeface="Cambria Math"/>
                            <a:ea typeface="Cambria Math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lang="ro-RO" sz="1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ro-RO" sz="1800" i="1">
                                <a:latin typeface="Cambria Math" panose="02040503050406030204" pitchFamily="18" charset="0"/>
                                <a:ea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ro-RO" sz="1800" i="1">
                                <a:latin typeface="Cambria Math" panose="02040503050406030204" pitchFamily="18" charset="0"/>
                                <a:ea typeface="Cambria Math"/>
                              </a:rPr>
                              <m:t>0</m:t>
                            </m:r>
                          </m:sub>
                        </m:sSub>
                      </m:sup>
                      <m:e>
                        <m:r>
                          <a:rPr lang="ro-RO" sz="1800" i="1">
                            <a:latin typeface="Cambria Math"/>
                            <a:ea typeface="Cambria Math"/>
                          </a:rPr>
                          <m:t>𝑣</m:t>
                        </m:r>
                        <m:d>
                          <m:dPr>
                            <m:ctrlPr>
                              <a:rPr lang="ro-RO" sz="1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ro-RO" sz="1800" i="1">
                                <a:latin typeface="Cambria Math"/>
                                <a:ea typeface="Cambria Math"/>
                              </a:rPr>
                              <m:t>𝑖</m:t>
                            </m:r>
                          </m:e>
                        </m:d>
                        <m:r>
                          <a:rPr lang="ro-RO" sz="1800" i="1">
                            <a:latin typeface="Cambria Math"/>
                            <a:ea typeface="Cambria Math"/>
                          </a:rPr>
                          <m:t>∙</m:t>
                        </m:r>
                        <m:sSup>
                          <m:sSupPr>
                            <m:ctrlPr>
                              <a:rPr lang="ro-RO" sz="1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ro-RO" sz="1800" i="1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ro-RO" sz="1800" i="1">
                                <a:latin typeface="Cambria Math"/>
                                <a:ea typeface="Cambria Math"/>
                              </a:rPr>
                              <m:t>𝑚</m:t>
                            </m:r>
                            <m:r>
                              <a:rPr lang="ro-RO" sz="1800" i="1">
                                <a:latin typeface="Cambria Math"/>
                                <a:ea typeface="Cambria Math"/>
                              </a:rPr>
                              <m:t>−</m:t>
                            </m:r>
                            <m:r>
                              <a:rPr lang="ro-RO" sz="1800" i="1">
                                <a:latin typeface="Cambria Math"/>
                                <a:ea typeface="Cambria Math"/>
                              </a:rPr>
                              <m:t>𝑖</m:t>
                            </m:r>
                          </m:sup>
                        </m:sSup>
                      </m:e>
                    </m:nary>
                    <m:r>
                      <a:rPr lang="ro-RO" sz="1800" i="1">
                        <a:latin typeface="Cambria Math"/>
                        <a:ea typeface="Cambria Math"/>
                      </a:rPr>
                      <m:t>=</m:t>
                    </m:r>
                    <m:r>
                      <m:rPr>
                        <m:nor/>
                      </m:rPr>
                      <a:rPr lang="ro-RO" sz="1800" dirty="0"/>
                      <m:t>11772</m:t>
                    </m:r>
                    <m:r>
                      <a:rPr lang="ro-RO" sz="1800" b="0" i="1" dirty="0" smtClean="0">
                        <a:latin typeface="Cambria Math" panose="02040503050406030204" pitchFamily="18" charset="0"/>
                      </a:rPr>
                      <m:t>  </m:t>
                    </m:r>
                    <m:acc>
                      <m:accPr>
                        <m:chr m:val="̃"/>
                        <m:ctrlPr>
                          <a:rPr lang="ro-RO" sz="1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accPr>
                      <m:e>
                        <m:r>
                          <a:rPr lang="ro-RO" sz="1800" i="1">
                            <a:latin typeface="Cambria Math"/>
                            <a:ea typeface="Cambria Math"/>
                          </a:rPr>
                          <m:t>𝑥</m:t>
                        </m:r>
                      </m:e>
                    </m:acc>
                    <m:r>
                      <a:rPr lang="ro-RO" sz="1800" i="1">
                        <a:latin typeface="Cambria Math"/>
                        <a:ea typeface="Cambria Math"/>
                      </a:rPr>
                      <m:t>=−3+</m:t>
                    </m:r>
                    <m:r>
                      <m:rPr>
                        <m:nor/>
                      </m:rPr>
                      <a:rPr lang="ro-RO" sz="1800" dirty="0"/>
                      <m:t>11772</m:t>
                    </m:r>
                    <m:r>
                      <a:rPr lang="ro-RO" sz="1800" i="1">
                        <a:latin typeface="Cambria Math"/>
                        <a:ea typeface="Cambria Math"/>
                      </a:rPr>
                      <m:t>∗</m:t>
                    </m:r>
                    <m:f>
                      <m:fPr>
                        <m:ctrlPr>
                          <a:rPr lang="ro-RO" sz="1800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fPr>
                      <m:num>
                        <m:r>
                          <a:rPr lang="ro-RO" sz="1800" b="0" i="1" smtClean="0">
                            <a:latin typeface="Cambria Math" panose="02040503050406030204" pitchFamily="18" charset="0"/>
                            <a:ea typeface="Cambria Math"/>
                          </a:rPr>
                          <m:t>7</m:t>
                        </m:r>
                        <m:r>
                          <a:rPr lang="ro-RO" sz="1800" i="1">
                            <a:latin typeface="Cambria Math"/>
                            <a:ea typeface="Cambria Math"/>
                          </a:rPr>
                          <m:t>.2</m:t>
                        </m:r>
                      </m:num>
                      <m:den>
                        <m:sSup>
                          <m:sSupPr>
                            <m:ctrlPr>
                              <a:rPr lang="ro-RO" sz="1800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pPr>
                          <m:e>
                            <m:r>
                              <a:rPr lang="ro-RO" sz="1800" i="1">
                                <a:latin typeface="Cambria Math"/>
                                <a:ea typeface="Cambria Math"/>
                              </a:rPr>
                              <m:t>2</m:t>
                            </m:r>
                          </m:e>
                          <m:sup>
                            <m:r>
                              <a:rPr lang="ro-RO" sz="1800" i="1">
                                <a:latin typeface="Cambria Math"/>
                                <a:ea typeface="Cambria Math"/>
                              </a:rPr>
                              <m:t>14</m:t>
                            </m:r>
                          </m:sup>
                        </m:sSup>
                        <m:r>
                          <a:rPr lang="ro-RO" sz="1800" i="1">
                            <a:latin typeface="Cambria Math"/>
                            <a:ea typeface="Cambria Math"/>
                          </a:rPr>
                          <m:t>−1</m:t>
                        </m:r>
                      </m:den>
                    </m:f>
                    <m:r>
                      <a:rPr lang="ro-RO" sz="1800" i="1">
                        <a:latin typeface="Cambria Math"/>
                        <a:ea typeface="Cambria Math"/>
                      </a:rPr>
                      <m:t>=2.1735579564182386</m:t>
                    </m:r>
                  </m:oMath>
                </a14:m>
                <a:r>
                  <a:rPr lang="ro-RO" sz="1800" dirty="0">
                    <a:latin typeface="+mj-lt"/>
                    <a:ea typeface="Cambria Math"/>
                  </a:rPr>
                  <a:t>  aproximarea </a:t>
                </a:r>
                <a:r>
                  <a:rPr lang="ro-RO" sz="1800" dirty="0">
                    <a:ea typeface="Cambria Math"/>
                  </a:rPr>
                  <a:t>lui </a:t>
                </a:r>
                <a14:m>
                  <m:oMath xmlns:m="http://schemas.openxmlformats.org/officeDocument/2006/math">
                    <m:r>
                      <a:rPr lang="ro-RO" sz="1800" b="1" i="1">
                        <a:latin typeface="Cambria Math"/>
                      </a:rPr>
                      <m:t>𝒙</m:t>
                    </m:r>
                    <m:r>
                      <a:rPr lang="ro-RO" sz="1800" b="1" i="1">
                        <a:latin typeface="Cambria Math"/>
                      </a:rPr>
                      <m:t> </m:t>
                    </m:r>
                  </m:oMath>
                </a14:m>
                <a:r>
                  <a:rPr lang="ro-RO" sz="1800" dirty="0">
                    <a:ea typeface="Cambria Math"/>
                  </a:rPr>
                  <a:t>cu </a:t>
                </a:r>
                <a:r>
                  <a:rPr lang="ro-RO" sz="1800" dirty="0"/>
                  <a:t>eroare de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o-RO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ro-RO" sz="1800" dirty="0">
                  <a:latin typeface="+mj-lt"/>
                  <a:ea typeface="Cambria Math"/>
                </a:endParaRPr>
              </a:p>
              <a:p>
                <a:pPr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  <a:ea typeface="Cambria Math"/>
                      </a:rPr>
                      <m:t>[10110111111100]</m:t>
                    </m:r>
                    <m:r>
                      <a:rPr lang="ro-RO" sz="1800" i="1">
                        <a:latin typeface="Cambria Math"/>
                        <a:ea typeface="Cambria Math"/>
                      </a:rPr>
                      <m:t>→</m:t>
                    </m:r>
                    <m:r>
                      <m:rPr>
                        <m:nor/>
                      </m:rPr>
                      <a:rPr lang="ro-RO" sz="1800" dirty="0"/>
                      <m:t>11772</m:t>
                    </m:r>
                    <m:r>
                      <a:rPr lang="ro-RO" sz="1800" i="1">
                        <a:latin typeface="Cambria Math"/>
                        <a:ea typeface="Cambria Math"/>
                      </a:rPr>
                      <m:t>→</m:t>
                    </m:r>
                    <m:r>
                      <a:rPr lang="ro-RO" sz="1800" i="1">
                        <a:latin typeface="Cambria Math"/>
                        <a:ea typeface="Cambria Math"/>
                      </a:rPr>
                      <m:t>2.1735579564182386</m:t>
                    </m:r>
                  </m:oMath>
                </a14:m>
                <a:endParaRPr lang="ro-RO" sz="1800" i="1" dirty="0">
                  <a:latin typeface="Cambria Math"/>
                  <a:ea typeface="Cambria Math"/>
                </a:endParaRPr>
              </a:p>
              <a:p>
                <a:pPr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</a:rPr>
                      <m:t>2.173895</m:t>
                    </m:r>
                  </m:oMath>
                </a14:m>
                <a:r>
                  <a:rPr lang="ro-RO" sz="1800" i="1" dirty="0">
                    <a:latin typeface="Cambria Math"/>
                    <a:ea typeface="Cambria Math"/>
                  </a:rPr>
                  <a:t>-</a:t>
                </a:r>
                <a14:m>
                  <m:oMath xmlns:m="http://schemas.openxmlformats.org/officeDocument/2006/math">
                    <m:r>
                      <a:rPr lang="ro-RO" sz="1800" i="1">
                        <a:latin typeface="Cambria Math"/>
                        <a:ea typeface="Cambria Math"/>
                      </a:rPr>
                      <m:t>2.1735579564182386</m:t>
                    </m:r>
                  </m:oMath>
                </a14:m>
                <a:r>
                  <a:rPr lang="ro-RO" sz="1800" i="1" dirty="0">
                    <a:latin typeface="Cambria Math"/>
                    <a:ea typeface="Cambria Math"/>
                  </a:rPr>
                  <a:t>= </a:t>
                </a:r>
                <a:r>
                  <a:rPr lang="ro-RO" sz="1800" dirty="0">
                    <a:latin typeface="Cambria Math"/>
                    <a:ea typeface="Cambria Math"/>
                  </a:rPr>
                  <a:t>0.00033704358176134264 </a:t>
                </a:r>
                <a:r>
                  <a:rPr lang="en-US" sz="1800" dirty="0">
                    <a:latin typeface="Cambria Math"/>
                    <a:ea typeface="Cambria Math"/>
                  </a:rPr>
                  <a:t>&lt;</a:t>
                </a:r>
                <a:r>
                  <a:rPr lang="ro-RO" sz="1800" dirty="0">
                    <a:latin typeface="Cambria Math"/>
                    <a:ea typeface="Cambria Math"/>
                  </a:rPr>
                  <a:t>0.001=</a:t>
                </a:r>
                <a:r>
                  <a:rPr lang="ro-RO" sz="18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o-RO" sz="1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ro-RO" sz="18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o-RO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ro-RO" sz="1800" dirty="0">
                  <a:latin typeface="Cambria Math"/>
                  <a:ea typeface="Cambria Math"/>
                </a:endParaRPr>
              </a:p>
              <a:p>
                <a:pPr>
                  <a:buFont typeface="Wingdings" panose="05000000000000000000" pitchFamily="2" charset="2"/>
                  <a:buChar char="q"/>
                </a:pPr>
                <a:endParaRPr lang="ro-RO" sz="1800" dirty="0">
                  <a:latin typeface="Cambria Math"/>
                  <a:ea typeface="Cambria Math"/>
                </a:endParaRPr>
              </a:p>
            </p:txBody>
          </p:sp>
        </mc:Choice>
        <mc:Fallback>
          <p:sp>
            <p:nvSpPr>
              <p:cNvPr id="2" name="Tex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1981200" y="990600"/>
                <a:ext cx="8229600" cy="5562600"/>
              </a:xfrm>
              <a:blipFill>
                <a:blip r:embed="rId3"/>
                <a:stretch>
                  <a:fillRect l="-963" t="-1096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931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535</Words>
  <Application>Microsoft Office PowerPoint</Application>
  <PresentationFormat>Widescreen</PresentationFormat>
  <Paragraphs>66</Paragraphs>
  <Slides>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Garamond</vt:lpstr>
      <vt:lpstr>Wingdings</vt:lpstr>
      <vt:lpstr>Office Theme</vt:lpstr>
      <vt:lpstr>Visio</vt:lpstr>
      <vt:lpstr>Exemplu de reprezentare binară a unui număr real</vt:lpstr>
      <vt:lpstr>Exemplu de reprezentare binară a unui număr real</vt:lpstr>
      <vt:lpstr>Exemplu de reprezentare binară a unui număr real</vt:lpstr>
      <vt:lpstr>Exemplu de reprezentare binară a unui număr real</vt:lpstr>
      <vt:lpstr>Exemplu numeric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Catalina</dc:creator>
  <cp:lastModifiedBy>Catalina</cp:lastModifiedBy>
  <cp:revision>9</cp:revision>
  <dcterms:created xsi:type="dcterms:W3CDTF">2025-03-02T07:01:04Z</dcterms:created>
  <dcterms:modified xsi:type="dcterms:W3CDTF">2025-03-03T08:28:20Z</dcterms:modified>
</cp:coreProperties>
</file>