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3" r:id="rId2"/>
  </p:sldMasterIdLst>
  <p:notesMasterIdLst>
    <p:notesMasterId r:id="rId16"/>
  </p:notesMasterIdLst>
  <p:sldIdLst>
    <p:sldId id="256" r:id="rId3"/>
    <p:sldId id="353" r:id="rId4"/>
    <p:sldId id="357" r:id="rId5"/>
    <p:sldId id="354" r:id="rId6"/>
    <p:sldId id="356" r:id="rId7"/>
    <p:sldId id="355" r:id="rId8"/>
    <p:sldId id="347" r:id="rId9"/>
    <p:sldId id="350" r:id="rId10"/>
    <p:sldId id="351" r:id="rId11"/>
    <p:sldId id="349" r:id="rId12"/>
    <p:sldId id="262" r:id="rId13"/>
    <p:sldId id="259" r:id="rId14"/>
    <p:sldId id="352" r:id="rId15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0066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A8B2F-8A7B-47D6-AD29-2FDCB473C5A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849E0-D4AD-456D-9950-B493D663D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2413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891" y="3346"/>
                <a:ext cx="2858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ABCA9-46AD-4FA0-9BD1-35953D8F0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4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355B-FA73-42D0-BCDE-4DC2F1DBE1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9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7484D-F35A-4697-A442-464B87EA77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5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2A68B-40C1-4FF9-BD12-1E0E2B5D0D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46F34-3198-4168-AD2A-EA0F22698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9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07FE9-B256-41FA-B64C-2CF00F272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1F954-50E2-4359-B334-6D15BA50D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4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03F89-01A2-4961-98B7-5700B78E0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5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6FCE4-30AB-4647-AEB6-26FDB0E7C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1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6B05A-88BE-4D16-804B-BFCB7E7FC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8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6B155-4A3B-4FDC-87ED-90FB5932C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49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91C4248-1183-4D41-99D5-F6E8F9EFCB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2413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97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7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704" name="Freeform 8"/>
              <p:cNvSpPr>
                <a:spLocks/>
              </p:cNvSpPr>
              <p:nvPr/>
            </p:nvSpPr>
            <p:spPr bwMode="hidden">
              <a:xfrm>
                <a:off x="2891" y="3346"/>
                <a:ext cx="2858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97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9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0.png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6725"/>
            <a:ext cx="7772400" cy="2454275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ro-RO" sz="4000" dirty="0">
                <a:effectLst/>
              </a:rPr>
              <a:t>Rezolvarea problemelor</a:t>
            </a:r>
            <a:br>
              <a:rPr lang="ro-RO" sz="4000" dirty="0">
                <a:effectLst/>
              </a:rPr>
            </a:br>
            <a:r>
              <a:rPr lang="ro-RO" sz="4000" dirty="0">
                <a:effectLst/>
              </a:rPr>
              <a:t>prin algoritmul hill climbing</a:t>
            </a:r>
            <a:br>
              <a:rPr lang="en-US" sz="4000" dirty="0"/>
            </a:br>
            <a:br>
              <a:rPr lang="en-US" sz="4000" dirty="0"/>
            </a:br>
            <a:br>
              <a:rPr lang="it-IT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1B07-BB9E-F6C3-FE92-D62B6AAD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7E950A-33FC-0E81-7C7E-4D9EF2440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en-US" altLang="en-US" sz="2800" b="1" dirty="0">
                <a:solidFill>
                  <a:schemeClr val="bg2"/>
                </a:solidFill>
              </a:rPr>
              <a:t>P</a:t>
            </a:r>
            <a:r>
              <a:rPr lang="ro-RO" altLang="en-US" sz="2800" b="1" dirty="0" err="1">
                <a:solidFill>
                  <a:schemeClr val="bg2"/>
                </a:solidFill>
              </a:rPr>
              <a:t>roblem</a:t>
            </a:r>
            <a:r>
              <a:rPr lang="en-US" altLang="en-US" sz="2800" b="1" dirty="0">
                <a:solidFill>
                  <a:schemeClr val="bg2"/>
                </a:solidFill>
              </a:rPr>
              <a:t>e de </a:t>
            </a:r>
            <a:r>
              <a:rPr lang="en-US" altLang="en-US" sz="2800" b="1" dirty="0" err="1">
                <a:solidFill>
                  <a:schemeClr val="bg2"/>
                </a:solidFill>
              </a:rPr>
              <a:t>optimizare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278CD91B-2F3F-3E0B-9F8F-AD83C38789DC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Problema: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determina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ți maximul funcției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: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ℝ</m:t>
                      </m:r>
                    </m:oMath>
                  </m:oMathPara>
                </a14:m>
                <a:endParaRPr lang="en-US" sz="1800" b="0" dirty="0">
                  <a:latin typeface="Arial Body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Exemplu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       a=0, b=50</a:t>
                </a:r>
              </a:p>
            </p:txBody>
          </p:sp>
        </mc:Choice>
        <mc:Fallback xmlns="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278CD91B-2F3F-3E0B-9F8F-AD83C3878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>
            <a:extLst>
              <a:ext uri="{FF2B5EF4-FFF2-40B4-BE49-F238E27FC236}">
                <a16:creationId xmlns:a16="http://schemas.microsoft.com/office/drawing/2014/main" id="{6ECB9687-131E-3F8E-79D8-94A909F3C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FB672885-3506-D008-9700-BFC7EFD80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9C7872D9-6C40-1D1F-E843-B7EE650C9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FCAF73E9-8077-901A-49F4-B053EDC6B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B7A3DE48-8046-9ACB-FD35-45E65C974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2F0093E1-55FF-749B-EF79-469BE98FF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A280F3DB-A7EB-7AB1-7AC7-1F288576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98722824-3ADA-1CD7-151B-BDB8E1D89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558DC7C9-B1A9-579C-637F-0A9B40829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1D651368-9EEC-220B-077B-A082CECF7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49EBEA5E-47CC-61E3-05DC-F93A38E34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C23977AC-B219-B157-C14D-BF4ED1B76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77BF99E2-8151-BF24-FF16-C8A9DFA70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7B21F41E-8768-773F-275A-617D49554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DC5655C5-8D96-A15C-05F6-EA8F696DA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5DE16F08-611C-C6E1-CE64-06E652C50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C6DD5B46-51E3-39F3-B1ED-1846D2B00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6860BA33-71D4-2F03-1691-81B287935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B692BE37-44E7-4BD3-1A1C-15E7BBFC7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C984F-53AB-2BBA-5E43-DAEA19B5B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35552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8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4C09-8945-1B4B-A3DB-D6E7817B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F689FAB-A759-80C3-BE7F-194A2369D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en-US" altLang="en-US" sz="2800" b="1" dirty="0">
                <a:solidFill>
                  <a:schemeClr val="bg2"/>
                </a:solidFill>
              </a:rPr>
              <a:t>P</a:t>
            </a:r>
            <a:r>
              <a:rPr lang="ro-RO" altLang="en-US" sz="2800" b="1" dirty="0" err="1">
                <a:solidFill>
                  <a:schemeClr val="bg2"/>
                </a:solidFill>
              </a:rPr>
              <a:t>roblem</a:t>
            </a:r>
            <a:r>
              <a:rPr lang="en-US" altLang="en-US" sz="2800" b="1" dirty="0">
                <a:solidFill>
                  <a:schemeClr val="bg2"/>
                </a:solidFill>
              </a:rPr>
              <a:t>e de </a:t>
            </a:r>
            <a:r>
              <a:rPr lang="en-US" altLang="en-US" sz="2800" b="1" dirty="0" err="1">
                <a:solidFill>
                  <a:schemeClr val="bg2"/>
                </a:solidFill>
              </a:rPr>
              <a:t>optimizare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88F5723F-A848-6E6D-889C-5121ADFD14AE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Punct din spațiul soluțiilor: un element 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x în 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a,b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]</a:t>
                </a: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Calculul vecinilor lui x: </a:t>
                </a:r>
              </a:p>
              <a:p>
                <a:pPr marL="0" indent="0">
                  <a:buNone/>
                </a:pPr>
                <a:endParaRPr lang="ro-RO" alt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altLang="en-US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o-RO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±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𝑖</m:t>
                          </m:r>
                          <m:r>
                            <a:rPr lang="ro-RO" altLang="en-US" sz="1800" i="1">
                              <a:latin typeface="Cambria Math"/>
                            </a:rPr>
                            <m:t>∗</m:t>
                          </m:r>
                          <m:r>
                            <m:rPr>
                              <m:nor/>
                            </m:rPr>
                            <a:rPr lang="ro-RO" altLang="en-US" sz="1800" b="0" i="0" smtClean="0">
                              <a:latin typeface="Cambria Math"/>
                            </a:rPr>
                            <m:t>pas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ro-RO" altLang="en-US" sz="1800" i="1">
                              <a:latin typeface="Cambria Math"/>
                            </a:rPr>
                            <m:t>1≤</m:t>
                          </m:r>
                          <m:r>
                            <a:rPr lang="ro-RO" alt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𝑛𝑣𝑒𝑐</m:t>
                          </m:r>
                          <m:r>
                            <a:rPr lang="ro-RO" altLang="en-US" sz="1800" i="1">
                              <a:latin typeface="Cambria Math" panose="02040503050406030204" pitchFamily="18" charset="0"/>
                              <a:ea typeface="Cambria Math"/>
                            </a:rPr>
                            <m:t>𝑖𝑛𝑖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𝑠𝑖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o-RO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o-RO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o-RO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o-RO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ro-RO" alt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o-RO" altLang="en-US" sz="1800" b="0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o-RO" altLang="en-US" sz="1800" b="0" i="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o-RO" altLang="en-US" sz="1800" b="0" i="0" smtClean="0">
                          <a:latin typeface="Cambria Math" panose="02040503050406030204" pitchFamily="18" charset="0"/>
                          <a:ea typeface="Cambria Math"/>
                        </a:rPr>
                        <m:t>pas</m:t>
                      </m:r>
                      <m:r>
                        <a:rPr lang="ro-RO" altLang="en-US" sz="180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ro-RO" alt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ro-RO" altLang="en-US" sz="1800" i="1">
                              <a:latin typeface="Cambria Math"/>
                              <a:ea typeface="Cambria Math"/>
                            </a:rPr>
                            <m:t>𝑛𝑧</m:t>
                          </m:r>
                        </m:sup>
                      </m:sSup>
                    </m:oMath>
                  </m:oMathPara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Exemplu:</a:t>
                </a:r>
              </a:p>
              <a:p>
                <a:pPr marL="0" indent="0">
                  <a:buNone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=0,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=50,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=0.4</m:t>
                      </m:r>
                    </m:oMath>
                  </m:oMathPara>
                </a14:m>
                <a:endParaRPr lang="ro-RO" sz="1800" b="0" i="1" dirty="0">
                  <a:latin typeface="Cambria Math" panose="02040503050406030204" pitchFamily="18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𝑝𝑎𝑠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=0.1 ,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𝑛𝑣𝑒𝑐𝑖𝑛𝑖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=7 </m:t>
                      </m:r>
                    </m:oMath>
                  </m:oMathPara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b="0" i="1" dirty="0">
                  <a:latin typeface="Cambria Math" panose="02040503050406030204" pitchFamily="18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𝑉</m:t>
                      </m:r>
                      <m:d>
                        <m:dPr>
                          <m:ctrlPr>
                            <a:rPr lang="ro-RO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o-RO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0, 0.1, 0.2, 0.3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, </m:t>
                          </m:r>
                          <m:r>
                            <a:rPr lang="ro-RO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Wingdings" panose="05000000000000000000" pitchFamily="2" charset="2"/>
                            </a:rPr>
                            <m:t>0.5, 0.6, 0.7,0.8, 0.9, 1, 1.1</m:t>
                          </m:r>
                        </m:e>
                      </m:d>
                    </m:oMath>
                  </m:oMathPara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88F5723F-A848-6E6D-889C-5121ADFD14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>
            <a:extLst>
              <a:ext uri="{FF2B5EF4-FFF2-40B4-BE49-F238E27FC236}">
                <a16:creationId xmlns:a16="http://schemas.microsoft.com/office/drawing/2014/main" id="{2CC366CE-E756-FB37-BA09-CEB67988E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3D856EC0-1A37-72D9-8B09-7BDE4E20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66446B32-B6F3-7FAE-264D-5C212ED4D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685DC933-E816-F225-3739-AFDDA3C6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6174FF94-7B04-2492-BA63-864BD620D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6D566568-D425-9199-EE92-F73286FCF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F63B21B0-BF35-30BA-F30C-0510BDA5F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D4704666-0E8D-C18D-405D-94D84A00E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6AC7EFFE-5958-8AB0-79BF-9409843C0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576B843A-893F-9BAB-BE81-8219055C6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3F3B6433-943C-9F59-E4E5-083AA80B1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2480B943-D4F2-CC56-B508-65E03FF58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C6638205-B90B-7563-8046-D65854ED2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2BB3040C-6EE7-E3ED-52DC-8264789DF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06268DF0-154D-C793-0C91-7D989831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83D439C9-0700-4CEA-EB55-9EB98BB7C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07A3E838-46ED-96DD-3F36-26D4B2346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AACF6956-D213-8234-7DF2-77F1B7EBF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316B8466-0D5B-1B14-BAE5-AE6408675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34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A0B1-6294-8172-4E96-06545023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4B5246B-444E-9C50-9644-1D58857F3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Hillclimbing– problema </a:t>
            </a:r>
            <a:r>
              <a:rPr lang="en-US" altLang="en-US" sz="2800" b="1" dirty="0">
                <a:solidFill>
                  <a:schemeClr val="bg2"/>
                </a:solidFill>
              </a:rPr>
              <a:t>de maxim a </a:t>
            </a:r>
            <a:r>
              <a:rPr lang="en-US" altLang="en-US" sz="2800" b="1" dirty="0" err="1">
                <a:solidFill>
                  <a:schemeClr val="bg2"/>
                </a:solidFill>
              </a:rPr>
              <a:t>func</a:t>
            </a:r>
            <a:r>
              <a:rPr lang="ro-RO" altLang="en-US" sz="2800" b="1" dirty="0" err="1">
                <a:solidFill>
                  <a:schemeClr val="bg2"/>
                </a:solidFill>
              </a:rPr>
              <a:t>ției</a:t>
            </a:r>
            <a:r>
              <a:rPr lang="ro-RO" altLang="en-US" sz="2800" b="1" dirty="0">
                <a:solidFill>
                  <a:schemeClr val="bg2"/>
                </a:solidFill>
              </a:rPr>
              <a:t> f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5D86F2F6-4623-F66E-E695-1A29F4242F45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=[]</a:t>
                </a: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Pentru 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t=0,…,MAX-1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Genereaz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ă 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aleator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x în 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[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a,b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]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, cu valoare 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vx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=f(x)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Local=0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C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ât timp local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==0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Calculează mulțimea vecinilor V cu calitățile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 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C 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(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valori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 ale 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lui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 f)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V=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local=1</a:t>
                </a: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Altfel: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xn – cel mai bun vecin, cu  calitatea 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vxn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=f(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xn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)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vxn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&gt;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vx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vx=vxn</a:t>
                </a: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x=xn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 local=1</a:t>
                </a:r>
              </a:p>
              <a:p>
                <a:pPr marL="685800" lvl="1" algn="just"/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Puncte=Puncte+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[x],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+[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vx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 algn="just">
                  <a:buNone/>
                </a:pP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Solu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ția calculată -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𝑃𝑢𝑛𝑐𝑡𝑒</m:t>
                    </m:r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x este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cea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mai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 bun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ă calculată</a:t>
                </a:r>
              </a:p>
            </p:txBody>
          </p:sp>
        </mc:Choice>
        <mc:Fallback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5D86F2F6-4623-F66E-E695-1A29F4242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593" t="-56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>
            <a:extLst>
              <a:ext uri="{FF2B5EF4-FFF2-40B4-BE49-F238E27FC236}">
                <a16:creationId xmlns:a16="http://schemas.microsoft.com/office/drawing/2014/main" id="{BE3B30B3-522F-88DA-2C4F-A5519830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AE80665C-B8CB-DBE6-51BD-A00DDF943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C7065AC5-F386-A2A0-5D1B-57CBE8A0D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46BE34EC-85F1-4A8A-4BCA-71D7F715F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9AFD7A76-B0D8-F195-3568-373CF4E3A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0D3C2DCE-E3F7-0015-E0B7-517363F6D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ABC3562F-C3C1-B8EE-B729-6AF371BF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36934BDD-821C-FF23-65BD-D57829EDC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CC080C85-37A2-ADD7-BC1E-99A6C0015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C4339DAB-1BFC-70FC-885C-EB758512E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FD08923F-3509-F5BC-056C-D5E0037B6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C82C7945-D3C8-485D-F223-9B1B835F7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3E3A5773-10A7-5DBE-6177-84C2FAE43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D740C5F4-4BC7-9918-B7AB-B543C9788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32981961-40BC-61CB-5FB5-423BE13F9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53A756DF-77B9-20B9-23B7-5D8BE0FB1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4DA0300A-F06F-E81B-5F8F-CC6C00B35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1B52D95F-5F5E-DB87-DF82-ACD173CF5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731AF6DD-A3C1-C5E3-1105-39A719992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96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98C3-80AE-5299-170C-E87A797E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C4D27F9-BD93-259B-E9BB-115E9240B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Hillclimbing– </a:t>
            </a:r>
            <a:r>
              <a:rPr lang="en-US" altLang="en-US" sz="2800" b="1" dirty="0" err="1">
                <a:solidFill>
                  <a:schemeClr val="bg2"/>
                </a:solidFill>
              </a:rPr>
              <a:t>exemplu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1C9058C-098E-3EEE-7AAC-EE7333771AB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latin typeface="Arial Body"/>
                <a:cs typeface="Times New Roman" panose="02020603050405020304" pitchFamily="18" charset="0"/>
              </a:rPr>
              <a:t>a=0, b=50</a:t>
            </a:r>
          </a:p>
          <a:p>
            <a:pPr marL="0" indent="0" algn="just">
              <a:buNone/>
            </a:pPr>
            <a:r>
              <a:rPr lang="en-US" sz="1800" dirty="0">
                <a:latin typeface="Arial Body"/>
                <a:cs typeface="Times New Roman" panose="02020603050405020304" pitchFamily="18" charset="0"/>
              </a:rPr>
              <a:t>MAX=1 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aplicare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hillclimbing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ro-RO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o dată</a:t>
            </a:r>
            <a:endParaRPr lang="en-US" sz="1800" dirty="0">
              <a:latin typeface="Arial Body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US" sz="1800" dirty="0">
              <a:latin typeface="Arial Body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buNone/>
            </a:pPr>
            <a:r>
              <a:rPr lang="ro-RO" sz="1800" dirty="0">
                <a:latin typeface="Arial Body"/>
                <a:cs typeface="Times New Roman" panose="02020603050405020304" pitchFamily="18" charset="0"/>
              </a:rPr>
              <a:t>Observație: punctul calculat depinde de punctul inițial, algoritmul este stocastic. Mai jos sunt 2 situații posibile</a:t>
            </a:r>
          </a:p>
        </p:txBody>
      </p:sp>
      <p:sp>
        <p:nvSpPr>
          <p:cNvPr id="17412" name="Rectangle 9">
            <a:extLst>
              <a:ext uri="{FF2B5EF4-FFF2-40B4-BE49-F238E27FC236}">
                <a16:creationId xmlns:a16="http://schemas.microsoft.com/office/drawing/2014/main" id="{899C79A0-8AF8-8572-D691-4D2F0B98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C62DB34E-83C0-70BD-1EE8-6CABBEBE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C61DFBA2-B75B-5E66-E1DC-A4CC252EF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393583DF-DCF9-B447-698D-1C661BAAF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822FF3E2-705A-E34F-C87E-231280432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3F06A80C-9ED1-C373-2111-1DD52DDFD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28A35B79-C74A-4C28-A0F1-694E4AD0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8F6B6116-BB58-3F10-3899-FC2A0DC7F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B4664040-8411-AC42-4E12-E8895E080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944ADCD9-08E6-01D5-682F-09DECD0B3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8FD967CE-C262-DFA1-A7D2-8B52858D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9635ACE9-BFDC-CE26-5558-A841A33C6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C929DB92-64C3-DF16-2510-3C082F393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5DA11480-DBEE-A94C-FE06-3DEBDEB5D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50B007E8-5173-AB03-EB26-C463D32B4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B0EB0D9C-91D8-FBFA-CD27-8CB88A6F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9C261159-D46D-24FC-B5C6-0DDF423CB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ED98DE9C-C53E-EABB-6AD0-6DAD7C995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D9B4F116-55D9-126F-CE2E-BACB06119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73EBE-0746-EDA4-A4A5-1C9730678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" y="2883195"/>
            <a:ext cx="4486940" cy="3365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D69522-32BA-D270-9D34-A7A70618F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360" y="2883195"/>
            <a:ext cx="4486940" cy="33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7741-A603-B816-DE2E-BEFD6870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AF4B08B-0DDB-BF0A-29AE-6257FF2EC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Hillclimbing– </a:t>
            </a:r>
            <a:r>
              <a:rPr lang="en-US" altLang="en-US" sz="2800" b="1" dirty="0" err="1">
                <a:solidFill>
                  <a:schemeClr val="bg2"/>
                </a:solidFill>
              </a:rPr>
              <a:t>exemplu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9852721-2397-7B98-2CBE-D229EA6DD51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latin typeface="Arial Body"/>
                <a:cs typeface="Times New Roman" panose="02020603050405020304" pitchFamily="18" charset="0"/>
              </a:rPr>
              <a:t>a=0, b=50</a:t>
            </a:r>
          </a:p>
          <a:p>
            <a:pPr marL="0" indent="0" algn="just">
              <a:buNone/>
            </a:pPr>
            <a:r>
              <a:rPr lang="en-US" sz="1800" dirty="0">
                <a:latin typeface="Arial Body"/>
                <a:cs typeface="Times New Roman" panose="02020603050405020304" pitchFamily="18" charset="0"/>
              </a:rPr>
              <a:t>MAX=100 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aplicare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hillclimbing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de 100 de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ori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(de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fiecare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dat</a:t>
            </a:r>
            <a:r>
              <a:rPr lang="ro-RO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ă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pe un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punct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generat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aleator</a:t>
            </a:r>
            <a:r>
              <a:rPr lang="en-US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ro-RO" sz="1800" dirty="0">
                <a:latin typeface="Arial Body"/>
                <a:cs typeface="Times New Roman" panose="02020603050405020304" pitchFamily="18" charset="0"/>
                <a:sym typeface="Wingdings" panose="05000000000000000000" pitchFamily="2" charset="2"/>
              </a:rPr>
              <a:t>. Mai jos este figurată o situație posibilă</a:t>
            </a:r>
            <a:endParaRPr lang="en-US" sz="1800" dirty="0">
              <a:latin typeface="Arial Body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US" sz="1800" dirty="0">
              <a:latin typeface="Arial Body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ro-RO" sz="1800" dirty="0">
              <a:latin typeface="Arial Body"/>
              <a:cs typeface="Times New Roman" panose="02020603050405020304" pitchFamily="18" charset="0"/>
            </a:endParaRPr>
          </a:p>
        </p:txBody>
      </p:sp>
      <p:sp>
        <p:nvSpPr>
          <p:cNvPr id="17412" name="Rectangle 9">
            <a:extLst>
              <a:ext uri="{FF2B5EF4-FFF2-40B4-BE49-F238E27FC236}">
                <a16:creationId xmlns:a16="http://schemas.microsoft.com/office/drawing/2014/main" id="{4DD36631-A674-EFDA-E42B-2343E6686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361C5C75-3DA4-E731-EAFF-B395736BE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A41E543F-B759-FA00-B0DC-A78790B5F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82C73E8B-0E97-CC71-9331-4860625F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85EE47FA-93AB-BA26-8476-D665188B4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8BCCC259-0A54-289A-A0AD-F051C3FA9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495727B9-2A72-DDA3-7652-5271AC0CA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60970CBA-ACA6-B265-8D5C-79D86DC6C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00BB5C09-E0AB-217C-E05D-BC6DDF2AC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943531F6-DCCD-8890-6676-B2CAD90B6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E238BF41-277A-BFD3-0319-5ECAD09DE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DC545483-75E7-3BBA-CE7F-4D89F0C4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B36F9EA9-7431-5987-96EC-9021BF0DE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C3700A9C-74B7-0493-1B8C-2058D49AC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13F86EB7-0885-923B-1931-8E0ACF1BF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119BFB1F-55C3-5193-B051-060616699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132F50AB-21DC-F820-D4D3-D30925FE7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89B09DC5-3894-63EB-5BA4-857B1297E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2DE9E52F-2425-5DF5-8AB7-BBFC6BE56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64A4C-37D6-74DB-5403-CA585C1FB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2503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2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en-US" altLang="en-US" sz="2800" b="1" dirty="0">
                <a:solidFill>
                  <a:schemeClr val="bg2"/>
                </a:solidFill>
              </a:rPr>
              <a:t>P</a:t>
            </a:r>
            <a:r>
              <a:rPr lang="ro-RO" altLang="en-US" sz="2800" b="1" dirty="0">
                <a:solidFill>
                  <a:schemeClr val="bg2"/>
                </a:solidFill>
              </a:rPr>
              <a:t>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Fiind date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obiecte, fiecare având asociate o valoare și respectiv un cost de selecție, trebuie determinat un set de obiecte cu proprietatea că este de valoare maximă și costul este sub un prag dat,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Cmax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O soluție posibilă este dată de un set de obiecte selectate astfel </a:t>
                </a:r>
                <a:r>
                  <a:rPr lang="ro-RO" sz="1800" dirty="0">
                    <a:solidFill>
                      <a:srgbClr val="FF0000"/>
                    </a:solidFill>
                    <a:latin typeface="Arial Body"/>
                    <a:cs typeface="Times New Roman" panose="02020603050405020304" pitchFamily="18" charset="0"/>
                  </a:rPr>
                  <a:t>încât costul lui este inferior valorii </a:t>
                </a:r>
                <a:r>
                  <a:rPr lang="ro-RO" sz="1800" i="1" dirty="0">
                    <a:solidFill>
                      <a:srgbClr val="FF0000"/>
                    </a:solidFill>
                    <a:latin typeface="Arial Body"/>
                    <a:cs typeface="Times New Roman" panose="02020603050405020304" pitchFamily="18" charset="0"/>
                  </a:rPr>
                  <a:t>Cmax</a:t>
                </a:r>
                <a:r>
                  <a:rPr lang="ro-RO" sz="1800" dirty="0">
                    <a:solidFill>
                      <a:srgbClr val="FF0000"/>
                    </a:solidFill>
                    <a:latin typeface="Arial Body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Dacă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val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vectorul valorilor asociate celor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obiecte și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cost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vectorul costurilor, reprezentarea unui candidat la soluție: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𝑣𝑒𝑐𝑡𝑜𝑟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𝑏𝑖𝑛𝑎𝑟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𝑒𝑙𝑒𝑚𝑒𝑛𝑡𝑒</m:t>
                      </m:r>
                    </m:oMath>
                  </m:oMathPara>
                </a14:m>
                <a:endParaRPr lang="ro-RO" sz="18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ro-RO" sz="1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𝑑𝑎𝑐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ă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𝑜𝑏𝑖𝑒𝑐𝑡𝑢𝑙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𝑓𝑜𝑠𝑡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𝑠𝑒𝑙𝑒𝑐𝑡𝑎𝑡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î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𝑚𝑢𝑙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ț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𝑖𝑚𝑒</m:t>
                              </m:r>
                            </m:e>
                            <m:e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0, î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𝑐𝑎𝑧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𝑐𝑜𝑛𝑡𝑟𝑎𝑟</m:t>
                              </m:r>
                              <m:r>
                                <a:rPr lang="ro-RO" sz="180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  <m:r>
                        <a:rPr lang="ro-RO" sz="18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o-RO" sz="180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m:rPr>
                          <m:sty m:val="p"/>
                        </m:rPr>
                        <a:rPr lang="ro-RO" sz="1800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Funcția de evaluare (fitness)</a:t>
                </a:r>
                <a:endParaRPr lang="ro-RO" sz="1800" i="1" dirty="0">
                  <a:latin typeface="Arial Body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𝑣𝑎𝑙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06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en-US" altLang="en-US" sz="2800" b="1" dirty="0">
                <a:solidFill>
                  <a:schemeClr val="bg2"/>
                </a:solidFill>
              </a:rPr>
              <a:t>P</a:t>
            </a:r>
            <a:r>
              <a:rPr lang="ro-RO" altLang="en-US" sz="2800" b="1" dirty="0">
                <a:solidFill>
                  <a:schemeClr val="bg2"/>
                </a:solidFill>
              </a:rPr>
              <a:t>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noProof="0" dirty="0"/>
                  <a:t>Reprezentarea unei tentative de soluție: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18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 noProof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1800" i="1" noProof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18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1800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noProof="0" dirty="0"/>
                  <a:t>, pentru fiecare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18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noProof="0" dirty="0"/>
                  <a:t> este în {0,1}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 noProof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o-RO" sz="1800" noProof="0" dirty="0"/>
                  <a:t> este candidat la soluție </a:t>
                </a:r>
                <a:r>
                  <a:rPr lang="ro-RO" sz="1800" noProof="0" dirty="0">
                    <a:solidFill>
                      <a:srgbClr val="FF0000"/>
                    </a:solidFill>
                  </a:rPr>
                  <a:t>(soluție fezabilă sau admisibilă</a:t>
                </a:r>
                <a:r>
                  <a:rPr lang="ro-RO" sz="1800" noProof="0" dirty="0"/>
                  <a:t>) dacă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noProof="0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1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1800" i="1" noProof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1800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1800" i="1" noProof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 i="1" noProof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 noProof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18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1800" i="1" noProof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18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18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18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18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18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ro-RO" sz="1800" noProof="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noProof="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noProof="0" dirty="0"/>
                  <a:t>Problema este una cu restricții – nu orice vector binar este admisibil</a:t>
                </a:r>
              </a:p>
              <a:p>
                <a:pPr marL="0" indent="0" algn="just">
                  <a:buNone/>
                </a:pPr>
                <a:endParaRPr lang="ro-RO" sz="1800" noProof="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noProof="0" dirty="0"/>
                  <a:t>Spațiul soluțiilor (spațiul genotipurilor)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o-RO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1800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o-RO" sz="1800" noProof="0" dirty="0">
                    <a:solidFill>
                      <a:srgbClr val="FF0000"/>
                    </a:solidFill>
                  </a:rPr>
                  <a:t> cu cost(s)</a:t>
                </a:r>
                <a14:m>
                  <m:oMath xmlns:m="http://schemas.openxmlformats.org/officeDocument/2006/math">
                    <m:r>
                      <a:rPr lang="ro-RO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o-RO" sz="1800" noProof="0" dirty="0" err="1">
                    <a:solidFill>
                      <a:srgbClr val="FF0000"/>
                    </a:solidFill>
                  </a:rPr>
                  <a:t>Cmax</a:t>
                </a:r>
                <a:endParaRPr lang="ro-RO" sz="1800" noProof="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noProof="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noProof="0" dirty="0">
                    <a:latin typeface="Arial Body"/>
                    <a:cs typeface="Times New Roman" panose="02020603050405020304" pitchFamily="18" charset="0"/>
                  </a:rPr>
                  <a:t>Vecinii unui vector </a:t>
                </a:r>
                <a:r>
                  <a:rPr lang="ro-RO" sz="1800" i="1" noProof="0" dirty="0">
                    <a:latin typeface="Arial Body"/>
                    <a:cs typeface="Times New Roman" panose="02020603050405020304" pitchFamily="18" charset="0"/>
                  </a:rPr>
                  <a:t>s</a:t>
                </a:r>
                <a:r>
                  <a:rPr lang="ro-RO" sz="1800" noProof="0" dirty="0">
                    <a:latin typeface="Arial Body"/>
                    <a:cs typeface="Times New Roman" panose="02020603050405020304" pitchFamily="18" charset="0"/>
                  </a:rPr>
                  <a:t>: acei vectori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8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b="0" i="1" noProof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o-RO" sz="1800" noProof="0" dirty="0">
                    <a:latin typeface="Arial Body"/>
                    <a:cs typeface="Times New Roman" panose="02020603050405020304" pitchFamily="18" charset="0"/>
                  </a:rPr>
                  <a:t> cu proprietatea că sunt </a:t>
                </a:r>
                <a:r>
                  <a:rPr lang="ro-RO" sz="1800" noProof="0" dirty="0">
                    <a:solidFill>
                      <a:srgbClr val="FF0000"/>
                    </a:solidFill>
                    <a:latin typeface="Arial Body"/>
                    <a:cs typeface="Times New Roman" panose="02020603050405020304" pitchFamily="18" charset="0"/>
                  </a:rPr>
                  <a:t>identici cu s cu excepția unui bit</a:t>
                </a:r>
                <a:r>
                  <a:rPr lang="ro-RO" sz="1800" noProof="0" dirty="0">
                    <a:latin typeface="Arial Body"/>
                    <a:cs typeface="Times New Roman" panose="02020603050405020304" pitchFamily="18" charset="0"/>
                  </a:rPr>
                  <a:t> și sunt </a:t>
                </a:r>
                <a:r>
                  <a:rPr lang="ro-RO" sz="1800" noProof="0" dirty="0">
                    <a:solidFill>
                      <a:srgbClr val="FF0000"/>
                    </a:solidFill>
                    <a:latin typeface="Arial Body"/>
                    <a:cs typeface="Times New Roman" panose="02020603050405020304" pitchFamily="18" charset="0"/>
                  </a:rPr>
                  <a:t>soluții fezabile </a:t>
                </a:r>
              </a:p>
            </p:txBody>
          </p:sp>
        </mc:Choice>
        <mc:Fallback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 r="-59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en-US" altLang="en-US" sz="2800" b="1" dirty="0">
                <a:solidFill>
                  <a:schemeClr val="bg2"/>
                </a:solidFill>
              </a:rPr>
              <a:t>P</a:t>
            </a:r>
            <a:r>
              <a:rPr lang="ro-RO" altLang="en-US" sz="2800" b="1" dirty="0">
                <a:solidFill>
                  <a:schemeClr val="bg2"/>
                </a:solidFill>
              </a:rPr>
              <a:t>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5211763"/>
          </a:xfrm>
        </p:spPr>
        <p:txBody>
          <a:bodyPr/>
          <a:lstStyle/>
          <a:p>
            <a:pPr marL="0" indent="0" algn="just">
              <a:buNone/>
            </a:pPr>
            <a:endParaRPr lang="en-US" sz="1800" b="1" dirty="0">
              <a:latin typeface="Arial Body"/>
              <a:cs typeface="Times New Roman" panose="02020603050405020304" pitchFamily="18" charset="0"/>
            </a:endParaRPr>
          </a:p>
        </p:txBody>
      </p:sp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3" name="Picture 2" descr="0–1 Knapsack problem: Top solutions explained | Better Programming">
            <a:extLst>
              <a:ext uri="{FF2B5EF4-FFF2-40B4-BE49-F238E27FC236}">
                <a16:creationId xmlns:a16="http://schemas.microsoft.com/office/drawing/2014/main" id="{FC5FC963-D263-4BEB-A4BA-0DBC913A4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56679"/>
            <a:ext cx="5427173" cy="381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 bwMode="auto">
          <a:xfrm>
            <a:off x="2819400" y="2388661"/>
            <a:ext cx="609600" cy="552450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</a:t>
            </a:r>
          </a:p>
        </p:txBody>
      </p:sp>
      <p:sp>
        <p:nvSpPr>
          <p:cNvPr id="6" name="Up Arrow 5"/>
          <p:cNvSpPr/>
          <p:nvPr/>
        </p:nvSpPr>
        <p:spPr bwMode="auto">
          <a:xfrm>
            <a:off x="4114800" y="4202930"/>
            <a:ext cx="609600" cy="630766"/>
          </a:xfrm>
          <a:prstGeom prst="up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2</a:t>
            </a:r>
          </a:p>
        </p:txBody>
      </p:sp>
      <p:sp>
        <p:nvSpPr>
          <p:cNvPr id="7" name="Multiply 6"/>
          <p:cNvSpPr/>
          <p:nvPr/>
        </p:nvSpPr>
        <p:spPr bwMode="auto">
          <a:xfrm>
            <a:off x="3680691" y="4288366"/>
            <a:ext cx="1562100" cy="533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8" name="Left Arrow 7"/>
          <p:cNvSpPr/>
          <p:nvPr/>
        </p:nvSpPr>
        <p:spPr bwMode="auto">
          <a:xfrm>
            <a:off x="4976091" y="2689551"/>
            <a:ext cx="533400" cy="510359"/>
          </a:xfrm>
          <a:prstGeom prst="lef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738250"/>
              </p:ext>
            </p:extLst>
          </p:nvPr>
        </p:nvGraphicFramePr>
        <p:xfrm>
          <a:off x="1166293" y="5839844"/>
          <a:ext cx="61425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517">
                  <a:extLst>
                    <a:ext uri="{9D8B030D-6E8A-4147-A177-3AD203B41FA5}">
                      <a16:colId xmlns:a16="http://schemas.microsoft.com/office/drawing/2014/main" val="773873391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441602637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306006078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258010485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298090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1937"/>
                  </a:ext>
                </a:extLst>
              </a:tr>
            </a:tbl>
          </a:graphicData>
        </a:graphic>
      </p:graphicFrame>
      <p:sp>
        <p:nvSpPr>
          <p:cNvPr id="9" name="Curved Right Arrow 8"/>
          <p:cNvSpPr/>
          <p:nvPr/>
        </p:nvSpPr>
        <p:spPr bwMode="auto">
          <a:xfrm>
            <a:off x="1286164" y="2417954"/>
            <a:ext cx="365585" cy="3400091"/>
          </a:xfrm>
          <a:prstGeom prst="curvedRight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11" name="Bent-Up Arrow 10"/>
          <p:cNvSpPr/>
          <p:nvPr/>
        </p:nvSpPr>
        <p:spPr bwMode="auto">
          <a:xfrm flipV="1">
            <a:off x="4183322" y="4957063"/>
            <a:ext cx="236278" cy="716371"/>
          </a:xfrm>
          <a:prstGeom prst="bentUp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>
            <a:off x="2390718" y="3825081"/>
            <a:ext cx="89995" cy="1916765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5638800" y="2847183"/>
            <a:ext cx="76200" cy="2894663"/>
          </a:xfrm>
          <a:prstGeom prst="down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14" name="Curved Left Arrow 13"/>
          <p:cNvSpPr/>
          <p:nvPr/>
        </p:nvSpPr>
        <p:spPr bwMode="auto">
          <a:xfrm>
            <a:off x="6477000" y="4288366"/>
            <a:ext cx="304800" cy="1529679"/>
          </a:xfrm>
          <a:prstGeom prst="curvedLeftArrow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030397"/>
              </p:ext>
            </p:extLst>
          </p:nvPr>
        </p:nvGraphicFramePr>
        <p:xfrm>
          <a:off x="1166293" y="5830913"/>
          <a:ext cx="61425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517">
                  <a:extLst>
                    <a:ext uri="{9D8B030D-6E8A-4147-A177-3AD203B41FA5}">
                      <a16:colId xmlns:a16="http://schemas.microsoft.com/office/drawing/2014/main" val="773873391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441602637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306006078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258010485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298090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1937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05341"/>
              </p:ext>
            </p:extLst>
          </p:nvPr>
        </p:nvGraphicFramePr>
        <p:xfrm>
          <a:off x="1166292" y="5833453"/>
          <a:ext cx="61425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517">
                  <a:extLst>
                    <a:ext uri="{9D8B030D-6E8A-4147-A177-3AD203B41FA5}">
                      <a16:colId xmlns:a16="http://schemas.microsoft.com/office/drawing/2014/main" val="773873391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441602637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306006078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2580104853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298090316"/>
                    </a:ext>
                  </a:extLst>
                </a:gridCol>
              </a:tblGrid>
              <a:tr h="3572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    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1937"/>
                  </a:ext>
                </a:extLst>
              </a:tr>
            </a:tbl>
          </a:graphicData>
        </a:graphic>
      </p:graphicFrame>
      <p:sp>
        <p:nvSpPr>
          <p:cNvPr id="18" name="Multiply 17"/>
          <p:cNvSpPr/>
          <p:nvPr/>
        </p:nvSpPr>
        <p:spPr bwMode="auto">
          <a:xfrm>
            <a:off x="3978828" y="5871974"/>
            <a:ext cx="517512" cy="288718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515644"/>
              </p:ext>
            </p:extLst>
          </p:nvPr>
        </p:nvGraphicFramePr>
        <p:xfrm>
          <a:off x="1166291" y="5856780"/>
          <a:ext cx="61425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517">
                  <a:extLst>
                    <a:ext uri="{9D8B030D-6E8A-4147-A177-3AD203B41FA5}">
                      <a16:colId xmlns:a16="http://schemas.microsoft.com/office/drawing/2014/main" val="4233353761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185568112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2108846885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155754837"/>
                    </a:ext>
                  </a:extLst>
                </a:gridCol>
                <a:gridCol w="1228517">
                  <a:extLst>
                    <a:ext uri="{9D8B030D-6E8A-4147-A177-3AD203B41FA5}">
                      <a16:colId xmlns:a16="http://schemas.microsoft.com/office/drawing/2014/main" val="91091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   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4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40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Hillclimbing– problema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=[]</a:t>
                </a: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Pentru 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t=0,…,MAX-1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Genereaz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ă aleator x, soluție fezabilă (cost(x)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&lt;=</a:t>
                </a: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cost_max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)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, cu valoare vx</a:t>
                </a:r>
                <a:endParaRPr lang="en-US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Local=0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C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ât timp local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==0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Calculează mulțimea vecinilor V (un vecin diferă de x într-un bit și este soluție fezabilă), cu calitățile C</a:t>
                </a: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V=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local=1</a:t>
                </a: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Altfel: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xn – cel mai bun vecin, cu  calitatea vxn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vxn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&gt;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vx</a:t>
                </a: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vx=vxn</a:t>
                </a: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x=xn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 local=1</a:t>
                </a:r>
              </a:p>
              <a:p>
                <a:pPr marL="685800" lvl="1" algn="just"/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Puncte=Puncte+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[x],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+[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vx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 algn="just">
                  <a:buNone/>
                </a:pP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Solu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ția calculată -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𝑃𝑢𝑛𝑐𝑡𝑒</m:t>
                    </m:r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x este cu calitate maximă</a:t>
                </a: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593" t="-563" r="-593" b="-38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1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04801" y="1599055"/>
                <a:ext cx="5181600" cy="4039745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o-RO" sz="1800" dirty="0"/>
                  <a:t>Aranjați N regine pe o tablă de șah </a:t>
                </a:r>
                <a:r>
                  <a:rPr lang="ro-RO" sz="1800" dirty="0" err="1"/>
                  <a:t>NxN</a:t>
                </a:r>
                <a:r>
                  <a:rPr lang="ro-RO" sz="1800" dirty="0"/>
                  <a:t> astfel încât oricare două piese se află în poziție de non-atac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:r>
                  <a:rPr lang="ro-RO" sz="1800" dirty="0"/>
                  <a:t>I. </a:t>
                </a:r>
                <a:r>
                  <a:rPr lang="ro-RO" sz="1800" b="1" dirty="0"/>
                  <a:t>Reprezentarea</a:t>
                </a:r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o-RO" sz="1800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– regina din linia i este regăsită în coloana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o-RO" sz="1800" dirty="0"/>
              </a:p>
              <a:p>
                <a:pPr algn="just">
                  <a:buFontTx/>
                  <a:buChar char="-"/>
                </a:pPr>
                <a:r>
                  <a:rPr lang="ro-RO" sz="1800" dirty="0"/>
                  <a:t>orice pereche de regine – linii diferite și coloane diferite</a:t>
                </a:r>
              </a:p>
              <a:p>
                <a:pPr algn="just">
                  <a:buFontTx/>
                  <a:buChar char="-"/>
                </a:pPr>
                <a:r>
                  <a:rPr lang="ro-RO" sz="1800" dirty="0">
                    <a:solidFill>
                      <a:srgbClr val="FF0000"/>
                    </a:solidFill>
                  </a:rPr>
                  <a:t>condiția ca orice 2 perechi de regine să se afle pe diagonale diferite </a:t>
                </a:r>
                <a:r>
                  <a:rPr lang="ro-RO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1800" b="1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reprezentat</a:t>
                </a:r>
                <a:r>
                  <a:rPr lang="ro-RO" sz="18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ă în fitness</a:t>
                </a:r>
              </a:p>
              <a:p>
                <a:pPr marL="0" indent="0" algn="just">
                  <a:buNone/>
                </a:pPr>
                <a:endParaRPr lang="ro-RO" sz="1800" b="1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04801" y="1599055"/>
                <a:ext cx="5181600" cy="4039745"/>
              </a:xfrm>
              <a:blipFill>
                <a:blip r:embed="rId2"/>
                <a:stretch>
                  <a:fillRect l="-941" t="-754" r="-941" b="-10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143001" y="321109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143001" y="3207522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143001" y="20788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143001" y="182163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E8094A6-B078-43EE-BBD2-65809BBF6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380" y="1897380"/>
          <a:ext cx="2392718" cy="2395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248913" imgH="7258579" progId="Visio.Drawing.11">
                  <p:embed/>
                </p:oleObj>
              </mc:Choice>
              <mc:Fallback>
                <p:oleObj name="Visio" r:id="rId3" imgW="7248913" imgH="7258579" progId="Visio.Drawing.11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E8094A6-B078-43EE-BBD2-65809BBF6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380" y="1897380"/>
                        <a:ext cx="2392718" cy="2395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603966" y="4475661"/>
                <a:ext cx="257769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15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5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966" y="4475661"/>
                <a:ext cx="2577699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A3582386-01F1-D13A-5D0F-0E294E294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Problema celor N regine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253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17591" y="1076540"/>
                <a:ext cx="8826409" cy="54004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o-RO" sz="1800" dirty="0"/>
                  <a:t>II. Fitness – f(p) numărul de perechi de regine aflate în poziție de non-atac în reprezentarea p </a:t>
                </a:r>
              </a:p>
              <a:p>
                <a:pPr marL="0" indent="0">
                  <a:buNone/>
                </a:pPr>
                <a:r>
                  <a:rPr lang="ro-RO" sz="1800" dirty="0"/>
                  <a:t>- Soluția problemei </a:t>
                </a:r>
                <a:r>
                  <a:rPr lang="ro-RO" sz="1800" dirty="0">
                    <a:sym typeface="Wingdings" panose="05000000000000000000" pitchFamily="2" charset="2"/>
                  </a:rPr>
                  <a:t> p: maximizează f</a:t>
                </a:r>
              </a:p>
              <a:p>
                <a:pPr marL="0" indent="0">
                  <a:buNone/>
                </a:pPr>
                <a:r>
                  <a:rPr lang="ro-RO" sz="1800" dirty="0">
                    <a:sym typeface="Wingdings" panose="05000000000000000000" pitchFamily="2" charset="2"/>
                  </a:rPr>
                  <a:t>- Maximul funcției f </a:t>
                </a:r>
                <a:r>
                  <a:rPr lang="en-US" sz="1800" dirty="0">
                    <a:sym typeface="Wingdings" panose="05000000000000000000" pitchFamily="2" charset="2"/>
                  </a:rPr>
                  <a:t></a:t>
                </a:r>
                <a:r>
                  <a:rPr lang="ro-RO" sz="18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  <m:sup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= numărul total de perechi de regine (numărăm o pereche o dată)</a:t>
                </a:r>
              </a:p>
              <a:p>
                <a:pPr>
                  <a:buFontTx/>
                  <a:buChar char="-"/>
                </a:pPr>
                <a:r>
                  <a:rPr lang="ro-RO" sz="1800" dirty="0">
                    <a:sym typeface="Wingdings" panose="05000000000000000000" pitchFamily="2" charset="2"/>
                  </a:rPr>
                  <a:t>f(p) = |{(i,j)/ i&lt;j, |i-j|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|p(i)-p(j)|}|</a:t>
                </a:r>
              </a:p>
              <a:p>
                <a:pPr marL="0" indent="0">
                  <a:buNone/>
                </a:pPr>
                <a:r>
                  <a:rPr lang="ro-RO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   = n*(n-1)/2 -|{(i,j)/ i&lt;j, |i-j|=|p(i)-p(j)|}|  penalizarea unei erori de aranjare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1800" dirty="0">
                    <a:sym typeface="Wingdings" panose="05000000000000000000" pitchFamily="2" charset="2"/>
                  </a:rPr>
                  <a:t>III. Vecinii unui individ (permutare)  toate transpozițiile permutării</a:t>
                </a: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1900" dirty="0">
                    <a:sym typeface="Wingdings" panose="05000000000000000000" pitchFamily="2" charset="2"/>
                  </a:rPr>
                  <a:t>Transpozițiile lui P:</a:t>
                </a:r>
                <a:r>
                  <a:rPr lang="en-US" sz="19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ro-RO" sz="1900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ro-RO" sz="1900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ro-RO" sz="1900" dirty="0">
                    <a:sym typeface="Wingdings" panose="05000000000000000000" pitchFamily="2" charset="2"/>
                  </a:rPr>
                  <a:t>,...,</a:t>
                </a:r>
                <a:r>
                  <a:rPr lang="en-US" sz="19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ro-RO" sz="19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ro-RO" sz="1900" dirty="0">
                    <a:sym typeface="Wingdings" panose="05000000000000000000" pitchFamily="2" charset="2"/>
                  </a:rPr>
                  <a:t> </a:t>
                </a:r>
                <a:r>
                  <a:rPr lang="en-US" sz="1900" dirty="0">
                    <a:sym typeface="Wingdings" panose="05000000000000000000" pitchFamily="2" charset="2"/>
                  </a:rPr>
                  <a:t> sunt </a:t>
                </a:r>
                <a:r>
                  <a:rPr lang="ro-RO" sz="19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n*(n-1)/2 </a:t>
                </a:r>
                <a:r>
                  <a:rPr lang="en-US" sz="1900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transpozi</a:t>
                </a:r>
                <a:r>
                  <a:rPr lang="ro-RO" sz="19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ții</a:t>
                </a:r>
                <a:endParaRPr lang="ro-RO" sz="19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ro-RO" sz="135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35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17591" y="1076540"/>
                <a:ext cx="8826409" cy="5400459"/>
              </a:xfrm>
              <a:blipFill>
                <a:blip r:embed="rId2"/>
                <a:stretch>
                  <a:fillRect l="-552" t="-90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143001" y="321109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143001" y="3207522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143001" y="7072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143001" y="2078809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143001" y="1821634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>
              <a:latin typeface="Garamond" pitchFamily="18" charset="0"/>
            </a:endParaRPr>
          </a:p>
        </p:txBody>
      </p:sp>
      <p:sp>
        <p:nvSpPr>
          <p:cNvPr id="26" name="Line Callout 1 25"/>
          <p:cNvSpPr/>
          <p:nvPr/>
        </p:nvSpPr>
        <p:spPr>
          <a:xfrm>
            <a:off x="4400753" y="3176781"/>
            <a:ext cx="3600246" cy="504437"/>
          </a:xfrm>
          <a:prstGeom prst="borderCallout1">
            <a:avLst>
              <a:gd name="adj1" fmla="val 18750"/>
              <a:gd name="adj2" fmla="val -8333"/>
              <a:gd name="adj3" fmla="val -122120"/>
              <a:gd name="adj4" fmla="val -20501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Numărul perechilor de regine aranjate corect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8857E3-AA49-8ACE-35FE-360BCD8CF4DE}"/>
                  </a:ext>
                </a:extLst>
              </p:cNvPr>
              <p:cNvSpPr txBox="1"/>
              <p:nvPr/>
            </p:nvSpPr>
            <p:spPr>
              <a:xfrm>
                <a:off x="533400" y="5181600"/>
                <a:ext cx="2577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8857E3-AA49-8ACE-35FE-360BCD8CF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81600"/>
                <a:ext cx="25776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F046F18-4ED2-7D1B-EF57-173C39575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Problema celor N regine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030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85CB-F7CA-8037-0843-C37CAD4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14E77AC-AF00-73DA-2C7A-1E2B2324C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Hillclimbing– problema celor N regine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15B52DC9-07BA-9332-73D5-3226EB19BA6C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=[]</a:t>
                </a:r>
                <a:endParaRPr lang="ro-RO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Pentru 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t=0,…,MAX-1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 err="1">
                    <a:latin typeface="Arial Body"/>
                    <a:cs typeface="Times New Roman" panose="02020603050405020304" pitchFamily="18" charset="0"/>
                  </a:rPr>
                  <a:t>Genereaz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ă 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aleator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p, tentativă de soluție (permutare), cu valoare 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vp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=f(p)</a:t>
                </a:r>
                <a:endParaRPr lang="en-US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Local=0</a:t>
                </a:r>
              </a:p>
              <a:p>
                <a:pPr marL="685800" lvl="1" algn="just">
                  <a:buFont typeface="Wingdings" panose="05000000000000000000" pitchFamily="2" charset="2"/>
                  <a:buChar char="q"/>
                </a:pP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C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ât timp local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==0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Calculează mulțimea vecinilor V (transpoziții ale lui p), cu calitățile C</a:t>
                </a: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V=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[]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local=1</a:t>
                </a:r>
              </a:p>
              <a:p>
                <a:pPr lvl="2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Altfel: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pn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 – cel mai bun vecin, cu  calitatea f(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pn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)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f(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pn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)</a:t>
                </a:r>
                <a:r>
                  <a:rPr lang="en-US" sz="1800" b="1" dirty="0">
                    <a:latin typeface="Arial Body"/>
                    <a:cs typeface="Times New Roman" panose="02020603050405020304" pitchFamily="18" charset="0"/>
                  </a:rPr>
                  <a:t>&gt;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vp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p=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pn</a:t>
                </a:r>
                <a:endParaRPr lang="ro-RO" sz="1800" b="1" dirty="0">
                  <a:latin typeface="Arial Body"/>
                  <a:cs typeface="Times New Roman" panose="02020603050405020304" pitchFamily="18" charset="0"/>
                </a:endParaRPr>
              </a:p>
              <a:p>
                <a:pPr lvl="4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vp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=f(</a:t>
                </a:r>
                <a:r>
                  <a:rPr lang="ro-RO" sz="1800" b="1" dirty="0" err="1">
                    <a:latin typeface="Arial Body"/>
                    <a:cs typeface="Times New Roman" panose="02020603050405020304" pitchFamily="18" charset="0"/>
                  </a:rPr>
                  <a:t>pn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)</a:t>
                </a:r>
              </a:p>
              <a:p>
                <a:pPr lvl="3" indent="-28575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Altfel local=1</a:t>
                </a:r>
              </a:p>
              <a:p>
                <a:pPr marL="685800" lvl="1" algn="just"/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Puncte=Puncte+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[x], 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=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Calitati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+[</a:t>
                </a: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vx</a:t>
                </a:r>
                <a:r>
                  <a:rPr lang="en-US" sz="1800" dirty="0">
                    <a:latin typeface="Arial Body"/>
                    <a:cs typeface="Times New Roman" panose="02020603050405020304" pitchFamily="18" charset="0"/>
                  </a:rPr>
                  <a:t>]</a:t>
                </a:r>
              </a:p>
              <a:p>
                <a:pPr marL="0" indent="0" algn="just">
                  <a:buNone/>
                </a:pPr>
                <a:r>
                  <a:rPr lang="en-US" sz="1800" dirty="0" err="1">
                    <a:latin typeface="Arial Body"/>
                    <a:cs typeface="Times New Roman" panose="02020603050405020304" pitchFamily="18" charset="0"/>
                  </a:rPr>
                  <a:t>Solu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ția calculată -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𝑃𝑢𝑛𝑐𝑡𝑒</m:t>
                    </m:r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x este cu calitate maximă</a:t>
                </a:r>
              </a:p>
            </p:txBody>
          </p:sp>
        </mc:Choice>
        <mc:Fallback xmlns="">
          <p:sp>
            <p:nvSpPr>
              <p:cNvPr id="17411" name="Rectangle 3">
                <a:extLst>
                  <a:ext uri="{FF2B5EF4-FFF2-40B4-BE49-F238E27FC236}">
                    <a16:creationId xmlns:a16="http://schemas.microsoft.com/office/drawing/2014/main" id="{15B52DC9-07BA-9332-73D5-3226EB19B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593" t="-563" r="-593" b="-38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>
            <a:extLst>
              <a:ext uri="{FF2B5EF4-FFF2-40B4-BE49-F238E27FC236}">
                <a16:creationId xmlns:a16="http://schemas.microsoft.com/office/drawing/2014/main" id="{57E27301-B20D-1A7A-8483-6049D5A6E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>
            <a:extLst>
              <a:ext uri="{FF2B5EF4-FFF2-40B4-BE49-F238E27FC236}">
                <a16:creationId xmlns:a16="http://schemas.microsoft.com/office/drawing/2014/main" id="{CFD832A9-A49D-9D71-0BFB-CFEBA5C72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>
            <a:extLst>
              <a:ext uri="{FF2B5EF4-FFF2-40B4-BE49-F238E27FC236}">
                <a16:creationId xmlns:a16="http://schemas.microsoft.com/office/drawing/2014/main" id="{70DE009C-5FD9-6BB7-CFAC-301AA1651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>
            <a:extLst>
              <a:ext uri="{FF2B5EF4-FFF2-40B4-BE49-F238E27FC236}">
                <a16:creationId xmlns:a16="http://schemas.microsoft.com/office/drawing/2014/main" id="{17B081E3-D5F1-F094-427B-98BFF0A53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>
            <a:extLst>
              <a:ext uri="{FF2B5EF4-FFF2-40B4-BE49-F238E27FC236}">
                <a16:creationId xmlns:a16="http://schemas.microsoft.com/office/drawing/2014/main" id="{9684AAED-2BE0-0592-4D77-835246C66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>
            <a:extLst>
              <a:ext uri="{FF2B5EF4-FFF2-40B4-BE49-F238E27FC236}">
                <a16:creationId xmlns:a16="http://schemas.microsoft.com/office/drawing/2014/main" id="{15EC63CA-9E47-90EE-D6F0-36796062F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>
            <a:extLst>
              <a:ext uri="{FF2B5EF4-FFF2-40B4-BE49-F238E27FC236}">
                <a16:creationId xmlns:a16="http://schemas.microsoft.com/office/drawing/2014/main" id="{F0E321A1-BFA1-8D29-48FE-72A6A9144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>
            <a:extLst>
              <a:ext uri="{FF2B5EF4-FFF2-40B4-BE49-F238E27FC236}">
                <a16:creationId xmlns:a16="http://schemas.microsoft.com/office/drawing/2014/main" id="{90C9C11C-8266-2185-978A-1A1D1DEF8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>
            <a:extLst>
              <a:ext uri="{FF2B5EF4-FFF2-40B4-BE49-F238E27FC236}">
                <a16:creationId xmlns:a16="http://schemas.microsoft.com/office/drawing/2014/main" id="{C2B286DF-627E-6B6A-2A0E-C8EA570D7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>
            <a:extLst>
              <a:ext uri="{FF2B5EF4-FFF2-40B4-BE49-F238E27FC236}">
                <a16:creationId xmlns:a16="http://schemas.microsoft.com/office/drawing/2014/main" id="{A1C70CB1-ACFE-9411-712A-877D98BFE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>
            <a:extLst>
              <a:ext uri="{FF2B5EF4-FFF2-40B4-BE49-F238E27FC236}">
                <a16:creationId xmlns:a16="http://schemas.microsoft.com/office/drawing/2014/main" id="{9D0CB1F4-8A00-1630-102C-6AB0A9E3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>
            <a:extLst>
              <a:ext uri="{FF2B5EF4-FFF2-40B4-BE49-F238E27FC236}">
                <a16:creationId xmlns:a16="http://schemas.microsoft.com/office/drawing/2014/main" id="{D77253E9-7E6B-6F40-A989-C78D2DB3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>
            <a:extLst>
              <a:ext uri="{FF2B5EF4-FFF2-40B4-BE49-F238E27FC236}">
                <a16:creationId xmlns:a16="http://schemas.microsoft.com/office/drawing/2014/main" id="{1B20BCDE-C835-29D1-9876-A565E69BA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>
            <a:extLst>
              <a:ext uri="{FF2B5EF4-FFF2-40B4-BE49-F238E27FC236}">
                <a16:creationId xmlns:a16="http://schemas.microsoft.com/office/drawing/2014/main" id="{1556722F-FE18-3CD1-9B89-45022D45F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>
            <a:extLst>
              <a:ext uri="{FF2B5EF4-FFF2-40B4-BE49-F238E27FC236}">
                <a16:creationId xmlns:a16="http://schemas.microsoft.com/office/drawing/2014/main" id="{B2BA3135-24A3-67E2-C992-04CAFA315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>
            <a:extLst>
              <a:ext uri="{FF2B5EF4-FFF2-40B4-BE49-F238E27FC236}">
                <a16:creationId xmlns:a16="http://schemas.microsoft.com/office/drawing/2014/main" id="{E6F589B6-787F-4D03-DE96-7103C2B1B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>
            <a:extLst>
              <a:ext uri="{FF2B5EF4-FFF2-40B4-BE49-F238E27FC236}">
                <a16:creationId xmlns:a16="http://schemas.microsoft.com/office/drawing/2014/main" id="{90429D6C-6EBA-656E-8628-10F55C932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>
            <a:extLst>
              <a:ext uri="{FF2B5EF4-FFF2-40B4-BE49-F238E27FC236}">
                <a16:creationId xmlns:a16="http://schemas.microsoft.com/office/drawing/2014/main" id="{E9450809-326B-6449-1665-80756A57C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>
            <a:extLst>
              <a:ext uri="{FF2B5EF4-FFF2-40B4-BE49-F238E27FC236}">
                <a16:creationId xmlns:a16="http://schemas.microsoft.com/office/drawing/2014/main" id="{A824CAA2-CE71-A421-E053-2D97DDFF4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7849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3234</TotalTime>
  <Words>1034</Words>
  <Application>Microsoft Office PowerPoint</Application>
  <PresentationFormat>On-screen Show (4:3)</PresentationFormat>
  <Paragraphs>154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Arial Black</vt:lpstr>
      <vt:lpstr>Arial Body</vt:lpstr>
      <vt:lpstr>Calibri</vt:lpstr>
      <vt:lpstr>Cambria Math</vt:lpstr>
      <vt:lpstr>Garamond</vt:lpstr>
      <vt:lpstr>Times New Roman</vt:lpstr>
      <vt:lpstr>Wingdings</vt:lpstr>
      <vt:lpstr>Stream</vt:lpstr>
      <vt:lpstr>Pixel</vt:lpstr>
      <vt:lpstr>Visio</vt:lpstr>
      <vt:lpstr>   Rezolvarea problemelor prin algoritmul hill climbing   </vt:lpstr>
      <vt:lpstr>Probleme de optimizare</vt:lpstr>
      <vt:lpstr>Probleme de optimizare</vt:lpstr>
      <vt:lpstr>Hillclimbing– problema de maxim a funcției f</vt:lpstr>
      <vt:lpstr>Hillclimbing– exemplu</vt:lpstr>
      <vt:lpstr>Hillclimbing– exemplu</vt:lpstr>
      <vt:lpstr>Problema 0-1 a rucsacului</vt:lpstr>
      <vt:lpstr>Problema 0-1 a rucsacului</vt:lpstr>
      <vt:lpstr>Problema 0-1 a rucsacului</vt:lpstr>
      <vt:lpstr>Hillclimbing– problema 0-1 a rucsacului</vt:lpstr>
      <vt:lpstr>Problema celor N regine</vt:lpstr>
      <vt:lpstr>Problema celor N regine</vt:lpstr>
      <vt:lpstr>Hillclimbing– problema celor N regine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309</cp:revision>
  <dcterms:created xsi:type="dcterms:W3CDTF">2007-06-04T09:28:42Z</dcterms:created>
  <dcterms:modified xsi:type="dcterms:W3CDTF">2026-02-17T10:46:35Z</dcterms:modified>
</cp:coreProperties>
</file>