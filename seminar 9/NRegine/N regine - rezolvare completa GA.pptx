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0" r:id="rId4"/>
    <p:sldId id="263" r:id="rId5"/>
    <p:sldId id="264" r:id="rId6"/>
    <p:sldId id="265" r:id="rId7"/>
    <p:sldId id="333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 custScaleX="114807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 custScaleX="116920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332116" y="2691857"/>
          <a:ext cx="1313397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8416" y="2728157"/>
        <a:ext cx="1240797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20947" y="2968767"/>
              </a:moveTo>
              <a:arcTo wR="1487387" hR="1487387" stAng="5090892" swAng="58999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571500" y="2691857"/>
          <a:ext cx="1337570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sp:txBody>
      <dsp:txXfrm>
        <a:off x="607800" y="2728157"/>
        <a:ext cx="1264970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7BE11-D5CC-42E7-821B-7497CB8E8D7C}" type="datetimeFigureOut">
              <a:rPr lang="ro-RO" smtClean="0"/>
              <a:t>14.04.2026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19212-A9C7-44EC-8DA5-D4E235452DB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755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6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9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7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6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3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FDA91-A1AF-44FC-9E08-CE7DF184B86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57646" y="1301234"/>
                <a:ext cx="6017623" cy="423741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o-RO" sz="2200" dirty="0"/>
                  <a:t>Aranjați pe o tablă de șah NxN N regine astfel încât oricare două piese se află in poziție de non-atac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200" dirty="0"/>
              </a:p>
              <a:p>
                <a:pPr marL="0" indent="0" algn="just">
                  <a:buNone/>
                </a:pPr>
                <a:r>
                  <a:rPr lang="ro-RO" sz="2200" dirty="0"/>
                  <a:t>I. </a:t>
                </a:r>
                <a:r>
                  <a:rPr lang="ro-RO" sz="2200" b="1" dirty="0"/>
                  <a:t>Reprezentarea</a:t>
                </a:r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o-RO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o-RO" sz="2200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200" dirty="0"/>
                  <a:t> – regina din linia i este regasită in coloana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o-RO" sz="2200" dirty="0"/>
              </a:p>
              <a:p>
                <a:pPr algn="just">
                  <a:buFontTx/>
                  <a:buChar char="-"/>
                </a:pPr>
                <a:r>
                  <a:rPr lang="ro-RO" sz="2200" dirty="0"/>
                  <a:t>orice pereche de regine – linii diferite și coloane diferite</a:t>
                </a:r>
              </a:p>
              <a:p>
                <a:pPr algn="just">
                  <a:buFontTx/>
                  <a:buChar char="-"/>
                </a:pPr>
                <a:r>
                  <a:rPr lang="ro-RO" sz="2200" dirty="0">
                    <a:solidFill>
                      <a:srgbClr val="FF0000"/>
                    </a:solidFill>
                  </a:rPr>
                  <a:t>condiția ca orice 2 perechi de regine să se afle pe diagonale diferite </a:t>
                </a:r>
                <a:r>
                  <a:rPr lang="ro-RO" sz="2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2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200" b="1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reprezentat</a:t>
                </a:r>
                <a:r>
                  <a:rPr lang="ro-RO" sz="2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ă în fitness</a:t>
                </a:r>
              </a:p>
              <a:p>
                <a:pPr marL="0" indent="0" algn="just">
                  <a:buNone/>
                </a:pPr>
                <a:endParaRPr lang="ro-RO" sz="2200" b="1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sz="2200" dirty="0"/>
                  <a:t> – spațiul permutărilor de orin n = spațiul soluțiilor </a:t>
                </a:r>
                <a:r>
                  <a:rPr lang="ro-RO" sz="2200" dirty="0">
                    <a:sym typeface="Wingdings" panose="05000000000000000000" pitchFamily="2" charset="2"/>
                  </a:rPr>
                  <a:t> problemă fără constrangeri</a:t>
                </a:r>
              </a:p>
              <a:p>
                <a:pPr marL="0" indent="0" algn="just">
                  <a:buNone/>
                </a:pPr>
                <a:endParaRPr lang="ro-RO" sz="20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57646" y="1301234"/>
                <a:ext cx="6017623" cy="4237417"/>
              </a:xfrm>
              <a:blipFill>
                <a:blip r:embed="rId3"/>
                <a:stretch>
                  <a:fillRect l="-1114" t="-2586" r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E8094A6-B078-43EE-BBD2-65809BBF6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3172" y="1386839"/>
          <a:ext cx="3190291" cy="319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248913" imgH="7258579" progId="Visio.Drawing.11">
                  <p:embed/>
                </p:oleObj>
              </mc:Choice>
              <mc:Fallback>
                <p:oleObj name="Visio" r:id="rId4" imgW="7248913" imgH="7258579" progId="Visio.Drawing.11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E8094A6-B078-43EE-BBD2-65809BBF6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172" y="1386839"/>
                        <a:ext cx="3190291" cy="3193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471954" y="4824547"/>
                <a:ext cx="34369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954" y="4824547"/>
                <a:ext cx="343693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61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96686" y="1301234"/>
                <a:ext cx="10371908" cy="53281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o-RO" sz="2000" b="1" dirty="0"/>
                  <a:t>II. Fitness </a:t>
                </a:r>
                <a:r>
                  <a:rPr lang="ro-RO" sz="2000" dirty="0"/>
                  <a:t>– f(p) numărul de perechi de regine aflate în poziție de non-atac în reprezentarea p </a:t>
                </a:r>
              </a:p>
              <a:p>
                <a:pPr marL="0" indent="0">
                  <a:buNone/>
                </a:pPr>
                <a:r>
                  <a:rPr lang="ro-RO" sz="2000" dirty="0"/>
                  <a:t>- Soluția problemei </a:t>
                </a:r>
                <a:r>
                  <a:rPr lang="ro-RO" sz="2000" dirty="0">
                    <a:sym typeface="Wingdings" panose="05000000000000000000" pitchFamily="2" charset="2"/>
                  </a:rPr>
                  <a:t> p: maximizează f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Maximul functiei f </a:t>
                </a:r>
                <a:r>
                  <a:rPr lang="en-US" sz="2000" dirty="0">
                    <a:sym typeface="Wingdings" panose="05000000000000000000" pitchFamily="2" charset="2"/>
                  </a:rPr>
                  <a:t></a:t>
                </a:r>
                <a:r>
                  <a:rPr lang="ro-RO" sz="20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o-RO" sz="2000" dirty="0">
                    <a:sym typeface="Wingdings" panose="05000000000000000000" pitchFamily="2" charset="2"/>
                  </a:rPr>
                  <a:t>= numărul total de perechi de regine (numărăm o pereche o dată)</a:t>
                </a: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f(p) = |{(i,j)/ i&lt;j, |i-j|</a:t>
                </a:r>
                <a14:m>
                  <m:oMath xmlns:m="http://schemas.openxmlformats.org/officeDocument/2006/math">
                    <m:r>
                      <a:rPr lang="ro-RO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</m:oMath>
                </a14:m>
                <a:r>
                  <a:rPr lang="ro-RO" sz="2000" dirty="0">
                    <a:sym typeface="Wingdings" panose="05000000000000000000" pitchFamily="2" charset="2"/>
                  </a:rPr>
                  <a:t>|p(i)-p(j)|}|</a:t>
                </a:r>
              </a:p>
              <a:p>
                <a:pPr marL="0" indent="0">
                  <a:buNone/>
                </a:pP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   = n*(n-1)/2 -|{(i,j)/ i&lt;j, |i-j|=|p(i)-p(j)|}|  penalizarea unei erori de aranjare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2000" b="1" dirty="0">
                    <a:sym typeface="Wingdings" panose="05000000000000000000" pitchFamily="2" charset="2"/>
                  </a:rPr>
                  <a:t>III. Populația inițială </a:t>
                </a:r>
                <a:r>
                  <a:rPr lang="ro-RO" sz="2000" dirty="0">
                    <a:sym typeface="Wingdings" panose="05000000000000000000" pitchFamily="2" charset="2"/>
                  </a:rPr>
                  <a:t>– aleator</a:t>
                </a:r>
              </a:p>
              <a:p>
                <a:pPr marL="0" indent="0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2000" b="1" dirty="0">
                    <a:sym typeface="Wingdings" panose="05000000000000000000" pitchFamily="2" charset="2"/>
                  </a:rPr>
                  <a:t>IV. Modelul de populație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populații cu dimensiune constantă, dim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modelul generațional</a:t>
                </a: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96686" y="1301234"/>
                <a:ext cx="10371908" cy="5328165"/>
              </a:xfrm>
              <a:blipFill>
                <a:blip r:embed="rId2"/>
                <a:stretch>
                  <a:fillRect l="-646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  <p:sp>
        <p:nvSpPr>
          <p:cNvPr id="26" name="Line Callout 1 25"/>
          <p:cNvSpPr/>
          <p:nvPr/>
        </p:nvSpPr>
        <p:spPr>
          <a:xfrm>
            <a:off x="5686697" y="3692843"/>
            <a:ext cx="4685212" cy="544945"/>
          </a:xfrm>
          <a:prstGeom prst="borderCallout1">
            <a:avLst>
              <a:gd name="adj1" fmla="val 18750"/>
              <a:gd name="adj2" fmla="val -8333"/>
              <a:gd name="adj3" fmla="val -180138"/>
              <a:gd name="adj4" fmla="val -24227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Numărul perechilor de regine aranjate corect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9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0491" y="891693"/>
            <a:ext cx="8921931" cy="52534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r>
              <a:rPr lang="ro-RO" sz="2000" b="1" dirty="0">
                <a:sym typeface="Wingdings" panose="05000000000000000000" pitchFamily="2" charset="2"/>
              </a:rPr>
              <a:t>V.</a:t>
            </a:r>
            <a:r>
              <a:rPr lang="en-US" sz="2000" b="1" dirty="0"/>
              <a:t> </a:t>
            </a:r>
            <a:r>
              <a:rPr lang="en-US" sz="2000" b="1" dirty="0" err="1"/>
              <a:t>Muta</a:t>
            </a:r>
            <a:r>
              <a:rPr lang="ro-RO" sz="2000" b="1" dirty="0"/>
              <a:t>ț</a:t>
            </a:r>
            <a:r>
              <a:rPr lang="en-US" sz="2000" b="1" dirty="0" err="1"/>
              <a:t>ia</a:t>
            </a:r>
            <a:endParaRPr lang="en-US" sz="2000" b="1" dirty="0"/>
          </a:p>
          <a:p>
            <a:pPr>
              <a:buFontTx/>
              <a:buChar char="-"/>
            </a:pPr>
            <a:endParaRPr lang="ro-RO" sz="2000" dirty="0"/>
          </a:p>
          <a:p>
            <a:pPr>
              <a:buFontTx/>
              <a:buChar char="-"/>
            </a:pPr>
            <a:r>
              <a:rPr lang="en-US" sz="2000" dirty="0"/>
              <a:t>Cu </a:t>
            </a:r>
            <a:r>
              <a:rPr lang="en-US" sz="2000" dirty="0" err="1"/>
              <a:t>probabilitate</a:t>
            </a:r>
            <a:r>
              <a:rPr lang="en-US" sz="2000" dirty="0"/>
              <a:t> mic</a:t>
            </a:r>
            <a:r>
              <a:rPr lang="ro-RO" sz="2000" dirty="0"/>
              <a:t>ă</a:t>
            </a:r>
            <a:r>
              <a:rPr lang="en-US" sz="2000" dirty="0"/>
              <a:t>; pm = </a:t>
            </a:r>
            <a:r>
              <a:rPr lang="en-US" sz="2000" dirty="0" err="1"/>
              <a:t>probabilitatea</a:t>
            </a:r>
            <a:r>
              <a:rPr lang="en-US" sz="2000" dirty="0"/>
              <a:t> de </a:t>
            </a:r>
            <a:r>
              <a:rPr lang="en-US" sz="2000" dirty="0" err="1"/>
              <a:t>muta</a:t>
            </a:r>
            <a:r>
              <a:rPr lang="ro-RO" sz="2000" dirty="0"/>
              <a:t>ț</a:t>
            </a:r>
            <a:r>
              <a:rPr lang="en-US" sz="2000" dirty="0" err="1"/>
              <a:t>ie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 err="1">
                <a:sym typeface="Wingdings" panose="05000000000000000000" pitchFamily="2" charset="2"/>
              </a:rPr>
              <a:t>Problema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ym typeface="Wingdings" panose="05000000000000000000" pitchFamily="2" charset="2"/>
              </a:rPr>
              <a:t>este </a:t>
            </a:r>
            <a:r>
              <a:rPr lang="en-US" sz="2000" dirty="0">
                <a:sym typeface="Wingdings" panose="05000000000000000000" pitchFamily="2" charset="2"/>
              </a:rPr>
              <a:t>cu </a:t>
            </a:r>
            <a:r>
              <a:rPr lang="en-US" sz="2000" dirty="0" err="1">
                <a:sym typeface="Wingdings" panose="05000000000000000000" pitchFamily="2" charset="2"/>
              </a:rPr>
              <a:t>reprezent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prin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individ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Pm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k/Dim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ro-RO" sz="2000" dirty="0">
                <a:sym typeface="Wingdings" panose="05000000000000000000" pitchFamily="2" charset="2"/>
              </a:rPr>
              <a:t>î</a:t>
            </a:r>
            <a:r>
              <a:rPr lang="en-US" sz="2000" dirty="0">
                <a:sym typeface="Wingdings" panose="05000000000000000000" pitchFamily="2" charset="2"/>
              </a:rPr>
              <a:t>n </a:t>
            </a:r>
            <a:r>
              <a:rPr lang="en-US" sz="2000" dirty="0" err="1">
                <a:sym typeface="Wingdings" panose="05000000000000000000" pitchFamily="2" charset="2"/>
              </a:rPr>
              <a:t>medie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num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indivizilor</a:t>
            </a:r>
            <a:r>
              <a:rPr lang="en-US" sz="2000" dirty="0">
                <a:sym typeface="Wingdings" panose="05000000000000000000" pitchFamily="2" charset="2"/>
              </a:rPr>
              <a:t> care </a:t>
            </a:r>
            <a:r>
              <a:rPr lang="en-US" sz="2000" dirty="0" err="1">
                <a:sym typeface="Wingdings" panose="05000000000000000000" pitchFamily="2" charset="2"/>
              </a:rPr>
              <a:t>sufer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k</a:t>
            </a:r>
          </a:p>
          <a:p>
            <a:pPr>
              <a:buFontTx/>
              <a:buChar char="-"/>
            </a:pPr>
            <a:endParaRPr lang="ro-RO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popula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iei</a:t>
            </a:r>
            <a:r>
              <a:rPr lang="en-US" sz="2000" dirty="0">
                <a:sym typeface="Wingdings" panose="05000000000000000000" pitchFamily="2" charset="2"/>
              </a:rPr>
              <a:t> – schema general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pentru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probleme</a:t>
            </a:r>
            <a:r>
              <a:rPr lang="en-US" sz="2000" dirty="0">
                <a:sym typeface="Wingdings" panose="05000000000000000000" pitchFamily="2" charset="2"/>
              </a:rPr>
              <a:t> f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r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constr</a:t>
            </a:r>
            <a:r>
              <a:rPr lang="ro-RO" sz="2000" dirty="0">
                <a:sym typeface="Wingdings" panose="05000000000000000000" pitchFamily="2" charset="2"/>
              </a:rPr>
              <a:t>â</a:t>
            </a:r>
            <a:r>
              <a:rPr lang="en-US" sz="2000" dirty="0" err="1">
                <a:sym typeface="Wingdings" panose="05000000000000000000" pitchFamily="2" charset="2"/>
              </a:rPr>
              <a:t>ngeri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ym typeface="Wingdings" panose="05000000000000000000" pitchFamily="2" charset="2"/>
              </a:rPr>
              <a:t>reprezentarea prin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individ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Problema este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de ordine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–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muta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ț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ia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prin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inserare </a:t>
            </a:r>
            <a:r>
              <a:rPr lang="ro-RO" sz="2000" dirty="0">
                <a:sym typeface="Wingdings" panose="05000000000000000000" pitchFamily="2" charset="2"/>
              </a:rPr>
              <a:t>(este posibilă și alegerea operatorului interschimbare)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8703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3737" y="1301234"/>
            <a:ext cx="8229600" cy="498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sym typeface="Wingdings" panose="05000000000000000000" pitchFamily="2" charset="2"/>
              </a:rPr>
              <a:t>V</a:t>
            </a:r>
            <a:r>
              <a:rPr lang="en-US" sz="2400" b="1" dirty="0">
                <a:sym typeface="Wingdings" panose="05000000000000000000" pitchFamily="2" charset="2"/>
              </a:rPr>
              <a:t>I</a:t>
            </a:r>
            <a:r>
              <a:rPr lang="ro-RO" sz="2400" b="1" dirty="0">
                <a:sym typeface="Wingdings" panose="05000000000000000000" pitchFamily="2" charset="2"/>
              </a:rPr>
              <a:t>.</a:t>
            </a:r>
            <a:r>
              <a:rPr lang="en-US" b="1" dirty="0"/>
              <a:t> </a:t>
            </a:r>
            <a:r>
              <a:rPr lang="en-US" sz="2000" b="1" dirty="0" err="1"/>
              <a:t>Recombinarea</a:t>
            </a:r>
            <a:endParaRPr lang="en-US" sz="2000" b="1" dirty="0"/>
          </a:p>
          <a:p>
            <a:pPr marL="457200" lvl="1" indent="0" algn="just">
              <a:buNone/>
            </a:pPr>
            <a:endParaRPr lang="ro-RO" altLang="en-US" sz="2600" dirty="0"/>
          </a:p>
          <a:p>
            <a:pPr marL="457200" lvl="1" indent="0" algn="just">
              <a:buNone/>
            </a:pPr>
            <a:r>
              <a:rPr lang="en-US" altLang="en-US" sz="2600" dirty="0"/>
              <a:t>- </a:t>
            </a:r>
            <a:r>
              <a:rPr lang="en-US" altLang="en-US" sz="2000" dirty="0"/>
              <a:t>Cu </a:t>
            </a:r>
            <a:r>
              <a:rPr lang="en-US" altLang="en-US" sz="2000" dirty="0" err="1"/>
              <a:t>probabilitate</a:t>
            </a:r>
            <a:r>
              <a:rPr lang="en-US" altLang="en-US" sz="2000" dirty="0"/>
              <a:t> </a:t>
            </a:r>
            <a:r>
              <a:rPr lang="ro-RO" altLang="en-US" sz="2000" dirty="0"/>
              <a:t>mare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probabilitatea</a:t>
            </a:r>
            <a:r>
              <a:rPr lang="en-US" altLang="en-US" sz="2000" dirty="0"/>
              <a:t> de crossover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  <a:endParaRPr lang="en-US" altLang="en-US" sz="2000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dim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copii</a:t>
            </a:r>
            <a:endParaRPr lang="ro-RO" altLang="en-US" sz="2000" dirty="0">
              <a:solidFill>
                <a:srgbClr val="FF0000"/>
              </a:solidFill>
            </a:endParaRPr>
          </a:p>
          <a:p>
            <a:pPr lvl="1" algn="just">
              <a:buFontTx/>
              <a:buChar char="-"/>
            </a:pPr>
            <a:r>
              <a:rPr lang="en-US" altLang="en-US" sz="2000" dirty="0"/>
              <a:t>dim p</a:t>
            </a:r>
            <a:r>
              <a:rPr lang="ro-RO" altLang="en-US" sz="2000" dirty="0"/>
              <a:t>ă</a:t>
            </a:r>
            <a:r>
              <a:rPr lang="en-US" altLang="en-US" sz="2000" dirty="0" err="1"/>
              <a:t>rin</a:t>
            </a:r>
            <a:r>
              <a:rPr lang="ro-RO" altLang="en-US" sz="2000" dirty="0"/>
              <a:t>ț</a:t>
            </a:r>
            <a:r>
              <a:rPr lang="en-US" altLang="en-US" sz="2000" dirty="0" err="1"/>
              <a:t>i</a:t>
            </a:r>
            <a:r>
              <a:rPr lang="en-US" altLang="en-US" sz="2000" dirty="0" err="1">
                <a:sym typeface="Wingdings" panose="05000000000000000000" pitchFamily="2" charset="2"/>
              </a:rPr>
              <a:t>dim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copii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: </a:t>
            </a:r>
            <a:r>
              <a:rPr lang="en-US" altLang="en-US" sz="2000" dirty="0">
                <a:sym typeface="Wingdings" panose="05000000000000000000" pitchFamily="2" charset="2"/>
              </a:rPr>
              <a:t>cu </a:t>
            </a:r>
            <a:r>
              <a:rPr lang="en-US" altLang="en-US" sz="2000" dirty="0" err="1">
                <a:sym typeface="Wingdings" panose="05000000000000000000" pitchFamily="2" charset="2"/>
              </a:rPr>
              <a:t>probabilitatea</a:t>
            </a:r>
            <a:r>
              <a:rPr lang="en-US" altLang="en-US" sz="2000" dirty="0">
                <a:sym typeface="Wingdings" panose="05000000000000000000" pitchFamily="2" charset="2"/>
              </a:rPr>
              <a:t> pc </a:t>
            </a:r>
            <a:r>
              <a:rPr lang="ro-RO" altLang="en-US" sz="2000" dirty="0">
                <a:sym typeface="Wingdings" panose="05000000000000000000" pitchFamily="2" charset="2"/>
              </a:rPr>
              <a:t>indivizii rezultați </a:t>
            </a:r>
            <a:r>
              <a:rPr lang="en-US" altLang="en-US" sz="2000" dirty="0" err="1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noi</a:t>
            </a:r>
            <a:r>
              <a:rPr lang="en-US" altLang="en-US" sz="2000" dirty="0"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ym typeface="Wingdings" panose="05000000000000000000" pitchFamily="2" charset="2"/>
              </a:rPr>
              <a:t>restul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chiar din populația de părinți, prin recombinare asexuată</a:t>
            </a:r>
          </a:p>
          <a:p>
            <a:pPr lvl="1" algn="just">
              <a:buFontTx/>
              <a:buChar char="-"/>
            </a:pPr>
            <a:endParaRPr lang="ro-RO" altLang="en-US" sz="2000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S</a:t>
            </a:r>
            <a:r>
              <a:rPr lang="en-US" altLang="en-US" sz="2000" dirty="0" err="1">
                <a:sym typeface="Wingdings" panose="05000000000000000000" pitchFamily="2" charset="2"/>
              </a:rPr>
              <a:t>chema</a:t>
            </a:r>
            <a:r>
              <a:rPr lang="en-US" altLang="en-US" sz="2000" dirty="0">
                <a:sym typeface="Wingdings" panose="05000000000000000000" pitchFamily="2" charset="2"/>
              </a:rPr>
              <a:t> general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la </a:t>
            </a:r>
            <a:r>
              <a:rPr lang="en-US" altLang="en-US" sz="2000" dirty="0" err="1">
                <a:sym typeface="Wingdings" panose="05000000000000000000" pitchFamily="2" charset="2"/>
              </a:rPr>
              <a:t>nivel</a:t>
            </a:r>
            <a:r>
              <a:rPr lang="en-US" altLang="en-US" sz="2000" dirty="0">
                <a:sym typeface="Wingdings" panose="05000000000000000000" pitchFamily="2" charset="2"/>
              </a:rPr>
              <a:t> de </a:t>
            </a:r>
            <a:r>
              <a:rPr lang="en-US" altLang="en-US" sz="2000" dirty="0" err="1">
                <a:sym typeface="Wingdings" panose="05000000000000000000" pitchFamily="2" charset="2"/>
              </a:rPr>
              <a:t>populatie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este </a:t>
            </a:r>
            <a:r>
              <a:rPr lang="en-US" altLang="en-US" sz="2000" dirty="0" err="1">
                <a:sym typeface="Wingdings" panose="05000000000000000000" pitchFamily="2" charset="2"/>
              </a:rPr>
              <a:t>pentru</a:t>
            </a:r>
            <a:r>
              <a:rPr lang="en-US" altLang="en-US" sz="2000" dirty="0">
                <a:sym typeface="Wingdings" panose="05000000000000000000" pitchFamily="2" charset="2"/>
              </a:rPr>
              <a:t> problem</a:t>
            </a:r>
            <a:r>
              <a:rPr lang="ro-RO" altLang="en-US" sz="2000" dirty="0">
                <a:sym typeface="Wingdings" panose="05000000000000000000" pitchFamily="2" charset="2"/>
              </a:rPr>
              <a:t>e</a:t>
            </a:r>
            <a:r>
              <a:rPr lang="en-US" altLang="en-US" sz="2000" dirty="0">
                <a:sym typeface="Wingdings" panose="05000000000000000000" pitchFamily="2" charset="2"/>
              </a:rPr>
              <a:t> f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r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constr</a:t>
            </a:r>
            <a:r>
              <a:rPr lang="ro-RO" altLang="en-US" sz="2000" dirty="0">
                <a:sym typeface="Wingdings" panose="05000000000000000000" pitchFamily="2" charset="2"/>
              </a:rPr>
              <a:t>â</a:t>
            </a:r>
            <a:r>
              <a:rPr lang="en-US" altLang="en-US" sz="2000" dirty="0" err="1">
                <a:sym typeface="Wingdings" panose="05000000000000000000" pitchFamily="2" charset="2"/>
              </a:rPr>
              <a:t>ngeri</a:t>
            </a:r>
            <a:endParaRPr lang="ro-RO" altLang="en-US" sz="2000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O</a:t>
            </a:r>
            <a:r>
              <a:rPr lang="en-US" altLang="en-US" sz="2000" dirty="0" err="1">
                <a:sym typeface="Wingdings" panose="05000000000000000000" pitchFamily="2" charset="2"/>
              </a:rPr>
              <a:t>peratorul</a:t>
            </a:r>
            <a:r>
              <a:rPr lang="en-US" altLang="en-US" sz="2000" dirty="0">
                <a:sym typeface="Wingdings" panose="05000000000000000000" pitchFamily="2" charset="2"/>
              </a:rPr>
              <a:t> particular </a:t>
            </a:r>
            <a:r>
              <a:rPr lang="en-US" altLang="en-US" sz="2000" dirty="0" err="1">
                <a:sym typeface="Wingdings" panose="05000000000000000000" pitchFamily="2" charset="2"/>
              </a:rPr>
              <a:t>utilizat</a:t>
            </a:r>
            <a:r>
              <a:rPr lang="ro-RO" altLang="en-US" sz="2000" dirty="0">
                <a:sym typeface="Wingdings" panose="05000000000000000000" pitchFamily="2" charset="2"/>
              </a:rPr>
              <a:t> ține cont de faptul că problema este cu dependență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de ordine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– </a:t>
            </a:r>
            <a:r>
              <a:rPr lang="en-US" altLang="en-US" sz="2000" b="1" dirty="0">
                <a:sym typeface="Wingdings" panose="05000000000000000000" pitchFamily="2" charset="2"/>
              </a:rPr>
              <a:t>OCX </a:t>
            </a:r>
            <a:r>
              <a:rPr lang="en-US" altLang="en-US" sz="2000" dirty="0">
                <a:sym typeface="Wingdings" panose="05000000000000000000" pitchFamily="2" charset="2"/>
              </a:rPr>
              <a:t>(order crossover – </a:t>
            </a:r>
            <a:r>
              <a:rPr lang="en-US" altLang="en-US" sz="2000" dirty="0" err="1">
                <a:sym typeface="Wingdings" panose="05000000000000000000" pitchFamily="2" charset="2"/>
              </a:rPr>
              <a:t>recombinare</a:t>
            </a:r>
            <a:r>
              <a:rPr lang="en-US" altLang="en-US" sz="2000" dirty="0">
                <a:sym typeface="Wingdings" panose="05000000000000000000" pitchFamily="2" charset="2"/>
              </a:rPr>
              <a:t> de </a:t>
            </a:r>
            <a:r>
              <a:rPr lang="en-US" altLang="en-US" sz="2000" dirty="0" err="1">
                <a:sym typeface="Wingdings" panose="05000000000000000000" pitchFamily="2" charset="2"/>
              </a:rPr>
              <a:t>ordine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  <a:endParaRPr lang="ro-RO" alt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0211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8295"/>
            <a:ext cx="10515600" cy="53186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Selecția părinților  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Numărul părinților – bazat pe model (</a:t>
            </a:r>
            <a:r>
              <a:rPr lang="ro-RO" altLang="en-US" sz="2000" dirty="0" err="1"/>
              <a:t>dim</a:t>
            </a:r>
            <a:r>
              <a:rPr lang="ro-RO" altLang="en-US" sz="2000" dirty="0"/>
              <a:t>)</a:t>
            </a:r>
          </a:p>
          <a:p>
            <a:pPr lvl="1" algn="just">
              <a:buFontTx/>
              <a:buChar char="-"/>
            </a:pPr>
            <a:r>
              <a:rPr lang="ro-RO" sz="2000" dirty="0"/>
              <a:t>Funcția fitness este </a:t>
            </a:r>
            <a:r>
              <a:rPr lang="ro-RO" sz="2000" dirty="0">
                <a:solidFill>
                  <a:srgbClr val="FF0000"/>
                </a:solidFill>
              </a:rPr>
              <a:t>pozitivă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poate</a:t>
            </a:r>
            <a:r>
              <a:rPr lang="en-US" sz="2000" dirty="0">
                <a:sym typeface="Wingdings" panose="05000000000000000000" pitchFamily="2" charset="2"/>
              </a:rPr>
              <a:t> fi </a:t>
            </a:r>
            <a:r>
              <a:rPr lang="en-US" sz="2000" dirty="0" err="1">
                <a:sym typeface="Wingdings" panose="05000000000000000000" pitchFamily="2" charset="2"/>
              </a:rPr>
              <a:t>utilizat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orice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probabilitate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selec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ție</a:t>
            </a:r>
            <a:r>
              <a:rPr lang="ro-RO" sz="2000" dirty="0">
                <a:sym typeface="Wingdings" panose="05000000000000000000" pitchFamily="2" charset="2"/>
              </a:rPr>
              <a:t> (de tip FPS sau rang) simulată cu mecanismul </a:t>
            </a:r>
            <a:r>
              <a:rPr lang="ro-RO" sz="2000" b="1" dirty="0">
                <a:sym typeface="Wingdings" panose="05000000000000000000" pitchFamily="2" charset="2"/>
              </a:rPr>
              <a:t>SUS (de preferat) </a:t>
            </a:r>
            <a:r>
              <a:rPr lang="ro-RO" sz="2000" dirty="0">
                <a:sym typeface="Wingdings" panose="05000000000000000000" pitchFamily="2" charset="2"/>
              </a:rPr>
              <a:t>sau ruletă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Alegerile făcute – </a:t>
            </a:r>
            <a:r>
              <a:rPr lang="ro-RO" sz="2000" b="1" dirty="0">
                <a:sym typeface="Wingdings" panose="05000000000000000000" pitchFamily="2" charset="2"/>
              </a:rPr>
              <a:t>FPS cu sigma scalare și </a:t>
            </a:r>
            <a:r>
              <a:rPr lang="en-US" sz="2000" b="1" dirty="0" err="1">
                <a:sym typeface="Wingdings" panose="05000000000000000000" pitchFamily="2" charset="2"/>
              </a:rPr>
              <a:t>rulet</a:t>
            </a:r>
            <a:r>
              <a:rPr lang="ro-RO" sz="2000" b="1" dirty="0">
                <a:sym typeface="Wingdings" panose="05000000000000000000" pitchFamily="2" charset="2"/>
              </a:rPr>
              <a:t>ă</a:t>
            </a:r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Înlocuirea populație curente (selecția generației următoare)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Mecanismul de înlocuire – bazat pe model (generațional)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Sunt propagați toți copiii, cu excepția situației în care cel mai bun individ </a:t>
            </a:r>
            <a:r>
              <a:rPr lang="en-US" altLang="en-US" sz="2000" dirty="0"/>
              <a:t>“</a:t>
            </a:r>
            <a:r>
              <a:rPr lang="en-US" altLang="en-US" sz="2000" dirty="0" err="1"/>
              <a:t>vechi</a:t>
            </a:r>
            <a:r>
              <a:rPr lang="en-US" altLang="en-US" sz="2000" dirty="0"/>
              <a:t>” (</a:t>
            </a:r>
            <a:r>
              <a:rPr lang="ro-RO" altLang="en-US" sz="2000" dirty="0"/>
              <a:t>din generația curentă) este mai bun decât toți indivizii noi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585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491" y="1002541"/>
            <a:ext cx="10515600" cy="5311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o-RO" sz="2000" b="1" dirty="0"/>
          </a:p>
          <a:p>
            <a:pPr marL="0" indent="0" algn="just">
              <a:buNone/>
            </a:pPr>
            <a:r>
              <a:rPr lang="en-US" sz="2000" b="1" dirty="0"/>
              <a:t>IX. Condi</a:t>
            </a:r>
            <a:r>
              <a:rPr lang="ro-RO" sz="2000" b="1" dirty="0"/>
              <a:t>ția de continuare a căutării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Nu am depășit NMAX  cicluri evolutive (iterații)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Populația are măcar 2 indivizi cu calități diferite  (variabilitatea nu este nulă)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Nu a fost calculat maximul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(care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este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deja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cunoscut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ro-RO" altLang="en-US" sz="2000" dirty="0">
                <a:sym typeface="Wingdings" panose="05000000000000000000" pitchFamily="2" charset="2"/>
              </a:rPr>
              <a:t> n*(n-1)/2</a:t>
            </a:r>
          </a:p>
          <a:p>
            <a:pPr marL="0" indent="0" algn="just">
              <a:buNone/>
            </a:pP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15325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3535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6438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7753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231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10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6374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160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6303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817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4392491" y="4229101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52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2895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803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2895600" y="5286374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4960695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752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3547590" y="1939126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Cutie </a:t>
            </a:r>
            <a:r>
              <a:rPr lang="en-US" sz="7200" b="1" dirty="0" err="1"/>
              <a:t>neagr</a:t>
            </a:r>
            <a:r>
              <a:rPr lang="ro-RO" sz="7200" b="1" dirty="0"/>
              <a:t>ă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895050" y="5286376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1752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1752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895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91" y="637227"/>
            <a:ext cx="10515600" cy="5311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o-RO" sz="2000" b="1" dirty="0"/>
          </a:p>
          <a:p>
            <a:pPr marL="0" indent="0" algn="just">
              <a:buNone/>
            </a:pPr>
            <a:r>
              <a:rPr lang="en-US" sz="2000" b="1" dirty="0"/>
              <a:t>                         </a:t>
            </a:r>
            <a:r>
              <a:rPr lang="en-US" sz="2000" b="1" dirty="0" err="1"/>
              <a:t>Algoritmul</a:t>
            </a:r>
            <a:r>
              <a:rPr lang="en-US" sz="2000" b="1" dirty="0"/>
              <a:t> genetic (GA)</a:t>
            </a:r>
            <a:endParaRPr lang="ro-RO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33" y="1525526"/>
            <a:ext cx="8309568" cy="49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8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654</Words>
  <Application>Microsoft Office PowerPoint</Application>
  <PresentationFormat>Widescreen</PresentationFormat>
  <Paragraphs>83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Catalina</cp:lastModifiedBy>
  <cp:revision>25</cp:revision>
  <dcterms:created xsi:type="dcterms:W3CDTF">2020-03-26T12:54:00Z</dcterms:created>
  <dcterms:modified xsi:type="dcterms:W3CDTF">2026-04-14T09:44:24Z</dcterms:modified>
</cp:coreProperties>
</file>