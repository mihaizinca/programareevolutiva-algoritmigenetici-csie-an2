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61" r:id="rId4"/>
    <p:sldId id="264" r:id="rId5"/>
    <p:sldId id="265" r:id="rId6"/>
    <p:sldId id="266" r:id="rId7"/>
    <p:sldId id="333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9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 custScaleX="114807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 custScaleX="116920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332116" y="2691857"/>
          <a:ext cx="1313397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8416" y="2728157"/>
        <a:ext cx="1240797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20947" y="2968767"/>
              </a:moveTo>
              <a:arcTo wR="1487387" hR="1487387" stAng="5090892" swAng="58999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571500" y="2691857"/>
          <a:ext cx="1337570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sp:txBody>
      <dsp:txXfrm>
        <a:off x="607800" y="2728157"/>
        <a:ext cx="1264970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DCBE3-E183-49E0-9643-107FEC4A54DA}" type="datetimeFigureOut">
              <a:rPr lang="ro-RO" smtClean="0"/>
              <a:t>14.04.2026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4E170-01DF-479B-8E64-A450BD365B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4262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E4E92-9AD6-48F8-A366-D3FB78C89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418" y="1439185"/>
            <a:ext cx="3812063" cy="2957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092" y="1348509"/>
                <a:ext cx="5569526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o-RO" sz="2000" dirty="0"/>
                  <a:t>Fie </a:t>
                </a:r>
                <a:r>
                  <a:rPr lang="ro-RO" sz="2000" i="1" dirty="0"/>
                  <a:t>n</a:t>
                </a:r>
                <a:r>
                  <a:rPr lang="ro-RO" sz="2000" dirty="0"/>
                  <a:t> orașe interconectate două câte două și </a:t>
                </a:r>
                <a:r>
                  <a:rPr lang="en-US" sz="2000" dirty="0"/>
                  <a:t>C</a:t>
                </a:r>
                <a:r>
                  <a:rPr lang="ro-RO" sz="2000" dirty="0"/>
                  <a:t> matricea costurilor de deplasare între orașe:</a:t>
                </a:r>
                <a:endParaRPr lang="en-US" sz="2000" dirty="0"/>
              </a:p>
              <a:p>
                <a:pPr algn="just"/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o-RO" sz="2000" dirty="0"/>
                  <a:t> reprezintă costul tranziției directe de la orașul </a:t>
                </a:r>
                <a:r>
                  <a:rPr lang="ro-RO" sz="2000" i="1" dirty="0"/>
                  <a:t>i</a:t>
                </a:r>
                <a:r>
                  <a:rPr lang="ro-RO" sz="2000" dirty="0"/>
                  <a:t> la orașul </a:t>
                </a:r>
                <a:r>
                  <a:rPr lang="ro-RO" sz="2000" i="1" dirty="0"/>
                  <a:t>j</a:t>
                </a:r>
                <a:r>
                  <a:rPr lang="ro-RO" sz="2000" dirty="0"/>
                  <a:t>. </a:t>
                </a:r>
                <a:endParaRPr lang="en-US" sz="2000" dirty="0"/>
              </a:p>
              <a:p>
                <a:pPr algn="just"/>
                <a:r>
                  <a:rPr lang="ro-RO" sz="2000" dirty="0"/>
                  <a:t>Un comis-voiajor trebuie să facă livrări în toate cele n orașe, plecând dintr-un oraș </a:t>
                </a:r>
                <a:r>
                  <a:rPr lang="ro-RO" sz="2000" i="1" dirty="0"/>
                  <a:t>i</a:t>
                </a:r>
                <a:r>
                  <a:rPr lang="ro-RO" sz="2000" dirty="0"/>
                  <a:t> oarecare dar fixat și reîntorcându-se în </a:t>
                </a:r>
                <a:r>
                  <a:rPr lang="ro-RO" sz="2000" i="1" dirty="0"/>
                  <a:t>i</a:t>
                </a:r>
                <a:r>
                  <a:rPr lang="ro-RO" sz="2000" dirty="0"/>
                  <a:t>. </a:t>
                </a:r>
                <a:r>
                  <a:rPr lang="ro-RO" sz="2000" b="1" dirty="0"/>
                  <a:t>Problema este de a găsi o ordine de parcurgere a orașelor astfel încât costul transportului să fie minim.</a:t>
                </a:r>
                <a:endParaRPr lang="en-US" sz="20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2" y="1348509"/>
                <a:ext cx="5569526" cy="3139321"/>
              </a:xfrm>
              <a:prstGeom prst="rect">
                <a:avLst/>
              </a:prstGeom>
              <a:blipFill>
                <a:blip r:embed="rId3"/>
                <a:stretch>
                  <a:fillRect l="-1205" t="-971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0E194F-A59F-4EC9-BEB4-09984323B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731" y="1892648"/>
            <a:ext cx="3402330" cy="25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9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</p:spPr>
            <p:txBody>
              <a:bodyPr>
                <a:normAutofit fontScale="85000" lnSpcReduction="20000"/>
              </a:bodyPr>
              <a:lstStyle/>
              <a:p>
                <a:pPr marL="571500" indent="-571500">
                  <a:buAutoNum type="romanUcPeriod"/>
                </a:pPr>
                <a:r>
                  <a:rPr lang="en-US" sz="2400" b="1" dirty="0"/>
                  <a:t>Reprezentarea </a:t>
                </a:r>
                <a:r>
                  <a:rPr lang="en-US" sz="2400" dirty="0"/>
                  <a:t>– n </a:t>
                </a:r>
                <a:r>
                  <a:rPr lang="en-US" sz="2400" dirty="0" err="1"/>
                  <a:t>adrese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p</a:t>
                </a:r>
                <a:r>
                  <a:rPr lang="en-US" sz="2400" dirty="0" err="1"/>
                  <a:t>rin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permut</a:t>
                </a:r>
                <a:r>
                  <a:rPr lang="ro-RO" sz="2400" dirty="0"/>
                  <a:t>ă</a:t>
                </a:r>
                <a:r>
                  <a:rPr lang="en-US" sz="2400" dirty="0" err="1"/>
                  <a:t>ri</a:t>
                </a:r>
                <a:r>
                  <a:rPr lang="en-US" sz="2400" dirty="0"/>
                  <a:t> – spatial </a:t>
                </a:r>
                <a:r>
                  <a:rPr lang="en-US" sz="2400" dirty="0" err="1"/>
                  <a:t>solu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iilor</a:t>
                </a:r>
                <a:r>
                  <a:rPr lang="ro-RO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– </a:t>
                </a:r>
                <a:r>
                  <a:rPr lang="en-US" sz="2400" dirty="0" err="1"/>
                  <a:t>orice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permutare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este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candidat</a:t>
                </a:r>
                <a:r>
                  <a:rPr lang="en-US" sz="2400" dirty="0"/>
                  <a:t> la </a:t>
                </a:r>
                <a:r>
                  <a:rPr lang="en-US" sz="2400" dirty="0" err="1"/>
                  <a:t>solu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ie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ro-RO" sz="2400" dirty="0"/>
                  <a:t>p</a:t>
                </a:r>
                <a:r>
                  <a:rPr lang="en-US" sz="2400" dirty="0" err="1"/>
                  <a:t>roblema</a:t>
                </a:r>
                <a:r>
                  <a:rPr lang="en-US" sz="2400" dirty="0"/>
                  <a:t> </a:t>
                </a:r>
                <a:r>
                  <a:rPr lang="ro-RO" sz="2400" dirty="0"/>
                  <a:t>este </a:t>
                </a:r>
                <a:r>
                  <a:rPr lang="en-US" sz="2400" dirty="0"/>
                  <a:t>f</a:t>
                </a:r>
                <a:r>
                  <a:rPr lang="ro-RO" sz="2400" dirty="0"/>
                  <a:t>ă</a:t>
                </a:r>
                <a:r>
                  <a:rPr lang="en-US" sz="2400" dirty="0"/>
                  <a:t>r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constr</a:t>
                </a:r>
                <a:r>
                  <a:rPr lang="ro-RO" sz="2400" dirty="0"/>
                  <a:t>â</a:t>
                </a:r>
                <a:r>
                  <a:rPr lang="en-US" sz="2400" dirty="0" err="1"/>
                  <a:t>ngeri</a:t>
                </a:r>
                <a:endParaRPr lang="ro-RO" sz="2400" dirty="0"/>
              </a:p>
              <a:p>
                <a:pPr>
                  <a:buFontTx/>
                  <a:buChar char="-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II. </a:t>
                </a:r>
                <a:r>
                  <a:rPr lang="en-US" sz="2400" b="1" dirty="0" err="1"/>
                  <a:t>Func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ia</a:t>
                </a:r>
                <a:r>
                  <a:rPr lang="en-US" sz="2400" b="1" dirty="0"/>
                  <a:t> fitness</a:t>
                </a:r>
              </a:p>
              <a:p>
                <a:pPr marL="0" indent="0">
                  <a:buNone/>
                </a:pPr>
                <a:r>
                  <a:rPr lang="en-US" sz="2400" dirty="0"/>
                  <a:t>C- </a:t>
                </a:r>
                <a:r>
                  <a:rPr lang="ro-RO" sz="2400" dirty="0"/>
                  <a:t>matrice </a:t>
                </a:r>
                <a:r>
                  <a:rPr lang="en-US" sz="2400" dirty="0" err="1"/>
                  <a:t>nxn</a:t>
                </a:r>
                <a:r>
                  <a:rPr lang="ro-RO" sz="2400" dirty="0"/>
                  <a:t>:</a:t>
                </a:r>
                <a:r>
                  <a:rPr lang="en-US" sz="2400" dirty="0"/>
                  <a:t> C(</a:t>
                </a:r>
                <a:r>
                  <a:rPr lang="en-US" sz="2400" dirty="0" err="1"/>
                  <a:t>i,j</a:t>
                </a:r>
                <a:r>
                  <a:rPr lang="en-US" sz="2400" dirty="0"/>
                  <a:t>) – </a:t>
                </a:r>
                <a:r>
                  <a:rPr lang="en-US" sz="2400" dirty="0" err="1"/>
                  <a:t>costul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r>
                  <a:rPr lang="en-US" sz="2400" dirty="0" err="1">
                    <a:sym typeface="Wingdings" panose="05000000000000000000" pitchFamily="2" charset="2"/>
                  </a:rPr>
                  <a:t>j</a:t>
                </a:r>
                <a:r>
                  <a:rPr lang="en-US" sz="2400" dirty="0">
                    <a:sym typeface="Wingdings" panose="05000000000000000000" pitchFamily="2" charset="2"/>
                  </a:rPr>
                  <a:t> (direct); </a:t>
                </a:r>
                <a:r>
                  <a:rPr lang="en-US" sz="2400" dirty="0" err="1">
                    <a:sym typeface="Wingdings" panose="05000000000000000000" pitchFamily="2" charset="2"/>
                  </a:rPr>
                  <a:t>dac</a:t>
                </a:r>
                <a:r>
                  <a:rPr lang="ro-RO" sz="2400" dirty="0">
                    <a:sym typeface="Wingdings" panose="05000000000000000000" pitchFamily="2" charset="2"/>
                  </a:rPr>
                  <a:t>ă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i</a:t>
                </a:r>
                <a:r>
                  <a:rPr lang="en-US" sz="2400" dirty="0">
                    <a:sym typeface="Wingdings" panose="05000000000000000000" pitchFamily="2" charset="2"/>
                  </a:rPr>
                  <a:t>=j, </a:t>
                </a:r>
                <a:r>
                  <a:rPr lang="en-US" sz="2400" dirty="0" err="1">
                    <a:sym typeface="Wingdings" panose="05000000000000000000" pitchFamily="2" charset="2"/>
                  </a:rPr>
                  <a:t>atunci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costul</a:t>
                </a:r>
                <a:r>
                  <a:rPr lang="en-US" sz="2400" dirty="0">
                    <a:sym typeface="Wingdings" panose="05000000000000000000" pitchFamily="2" charset="2"/>
                  </a:rPr>
                  <a:t> e </a:t>
                </a:r>
                <a:r>
                  <a:rPr lang="en-US" sz="2400" dirty="0" err="1">
                    <a:sym typeface="Wingdings" panose="05000000000000000000" pitchFamily="2" charset="2"/>
                  </a:rPr>
                  <a:t>nul</a:t>
                </a:r>
                <a:endParaRPr lang="ro-RO" sz="24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ro-RO" sz="21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𝐹𝑖𝑡𝑛𝑒𝑠𝑠</m:t>
                      </m:r>
                      <m:d>
                        <m:dPr>
                          <m:ctrlP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d>
                            <m:dPr>
                              <m:ctrlPr>
                                <a:rPr lang="ro-RO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ro-RO" sz="2400" dirty="0"/>
              </a:p>
              <a:p>
                <a:pPr marL="0" indent="0">
                  <a:buNone/>
                </a:pPr>
                <a:r>
                  <a:rPr lang="en-US" sz="2400" b="1" dirty="0"/>
                  <a:t>III. </a:t>
                </a:r>
                <a:r>
                  <a:rPr lang="en-US" sz="2400" b="1" dirty="0" err="1"/>
                  <a:t>Modelul</a:t>
                </a:r>
                <a:r>
                  <a:rPr lang="en-US" sz="2400" b="1" dirty="0"/>
                  <a:t> de </a:t>
                </a:r>
                <a:r>
                  <a:rPr lang="en-US" sz="2400" b="1" dirty="0" err="1"/>
                  <a:t>popula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ie</a:t>
                </a:r>
                <a:endParaRPr lang="en-US" sz="2400" b="1" dirty="0"/>
              </a:p>
              <a:p>
                <a:pPr>
                  <a:buFontTx/>
                  <a:buChar char="-"/>
                </a:pPr>
                <a:r>
                  <a:rPr lang="en-US" sz="2400" dirty="0" err="1"/>
                  <a:t>Popula</a:t>
                </a:r>
                <a:r>
                  <a:rPr lang="ro-RO" sz="2400" dirty="0"/>
                  <a:t>ț</a:t>
                </a:r>
                <a:r>
                  <a:rPr lang="en-US" sz="2400" dirty="0"/>
                  <a:t>ii cu </a:t>
                </a:r>
                <a:r>
                  <a:rPr lang="en-US" sz="2400" dirty="0" err="1"/>
                  <a:t>dimensiuni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constante</a:t>
                </a:r>
                <a:r>
                  <a:rPr lang="en-US" sz="2400" dirty="0"/>
                  <a:t> </a:t>
                </a:r>
                <a:r>
                  <a:rPr lang="ro-RO" sz="2400" dirty="0"/>
                  <a:t>î</a:t>
                </a:r>
                <a:r>
                  <a:rPr lang="en-US" sz="2400" dirty="0"/>
                  <a:t>n </a:t>
                </a:r>
                <a:r>
                  <a:rPr lang="en-US" sz="2400" dirty="0" err="1"/>
                  <a:t>timp</a:t>
                </a:r>
                <a:r>
                  <a:rPr lang="en-US" sz="2400" dirty="0"/>
                  <a:t> - </a:t>
                </a:r>
                <a:r>
                  <a:rPr lang="ro-RO" sz="2400" dirty="0"/>
                  <a:t>d</a:t>
                </a:r>
                <a:r>
                  <a:rPr lang="en-US" sz="2400" dirty="0" err="1"/>
                  <a:t>im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2400" dirty="0" err="1"/>
                  <a:t>Modelul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bazat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</a:t>
                </a:r>
                <a:r>
                  <a:rPr lang="en-US" sz="2400" dirty="0"/>
                  <a:t> genera</a:t>
                </a:r>
                <a:r>
                  <a:rPr lang="ro-RO" sz="2400" dirty="0"/>
                  <a:t>ț</a:t>
                </a:r>
                <a:r>
                  <a:rPr lang="en-US" sz="2400" dirty="0"/>
                  <a:t>ii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IV. </a:t>
                </a:r>
                <a:r>
                  <a:rPr lang="en-US" sz="2400" b="1" dirty="0" err="1"/>
                  <a:t>Popula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ia</a:t>
                </a:r>
                <a:r>
                  <a:rPr lang="en-US" sz="2400" b="1" dirty="0"/>
                  <a:t> la </a:t>
                </a:r>
                <a:r>
                  <a:rPr lang="en-US" sz="2400" b="1" dirty="0" err="1"/>
                  <a:t>momentul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ini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ial</a:t>
                </a:r>
                <a:r>
                  <a:rPr lang="en-US" sz="2400" b="1" dirty="0"/>
                  <a:t> </a:t>
                </a:r>
                <a:r>
                  <a:rPr lang="en-US" sz="2400" dirty="0"/>
                  <a:t>– </a:t>
                </a:r>
                <a:r>
                  <a:rPr lang="en-US" sz="2400" dirty="0" err="1"/>
                  <a:t>aleator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a.i</a:t>
                </a:r>
                <a:r>
                  <a:rPr lang="en-US" sz="2400" dirty="0"/>
                  <a:t>. </a:t>
                </a:r>
                <a:r>
                  <a:rPr lang="en-US" sz="2400" dirty="0" err="1"/>
                  <a:t>fiecare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individ</a:t>
                </a:r>
                <a:r>
                  <a:rPr lang="en-US" sz="2400" dirty="0"/>
                  <a:t> s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aibe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aceea</a:t>
                </a:r>
                <a:r>
                  <a:rPr lang="ro-RO" sz="2400" dirty="0"/>
                  <a:t>ș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:r>
                  <a:rPr lang="ro-RO" sz="2400" dirty="0"/>
                  <a:t>ș</a:t>
                </a:r>
                <a:r>
                  <a:rPr lang="en-US" sz="2400" dirty="0" err="1"/>
                  <a:t>ans</a:t>
                </a:r>
                <a:r>
                  <a:rPr lang="ro-RO" sz="2400" dirty="0"/>
                  <a:t>ă</a:t>
                </a:r>
                <a:r>
                  <a:rPr lang="en-US" sz="2400" dirty="0"/>
                  <a:t> de a fi </a:t>
                </a:r>
                <a:r>
                  <a:rPr lang="en-US" sz="2400" dirty="0" err="1"/>
                  <a:t>generat</a:t>
                </a:r>
                <a:endParaRPr lang="en-US" sz="2400" dirty="0"/>
              </a:p>
              <a:p>
                <a:pPr>
                  <a:buFontTx/>
                  <a:buChar char="-"/>
                </a:pPr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  <a:blipFill>
                <a:blip r:embed="rId2"/>
                <a:stretch>
                  <a:fillRect l="-638" t="-2128" b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sp>
        <p:nvSpPr>
          <p:cNvPr id="5" name="Line Callout 1 4"/>
          <p:cNvSpPr/>
          <p:nvPr/>
        </p:nvSpPr>
        <p:spPr>
          <a:xfrm>
            <a:off x="8358909" y="2004291"/>
            <a:ext cx="2004291" cy="544945"/>
          </a:xfrm>
          <a:prstGeom prst="borderCallout1">
            <a:avLst>
              <a:gd name="adj1" fmla="val 18750"/>
              <a:gd name="adj2" fmla="val -8333"/>
              <a:gd name="adj3" fmla="val 220975"/>
              <a:gd name="adj4" fmla="val -29724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funcție de minim</a:t>
            </a:r>
          </a:p>
          <a:p>
            <a:pPr algn="ctr"/>
            <a:endParaRPr lang="en-US" dirty="0"/>
          </a:p>
        </p:txBody>
      </p:sp>
      <p:sp>
        <p:nvSpPr>
          <p:cNvPr id="6" name="Line Callout 1 5"/>
          <p:cNvSpPr/>
          <p:nvPr/>
        </p:nvSpPr>
        <p:spPr>
          <a:xfrm>
            <a:off x="8224982" y="4091710"/>
            <a:ext cx="2036618" cy="872836"/>
          </a:xfrm>
          <a:prstGeom prst="borderCallout1">
            <a:avLst>
              <a:gd name="adj1" fmla="val 18750"/>
              <a:gd name="adj2" fmla="val -8333"/>
              <a:gd name="adj3" fmla="val -3247"/>
              <a:gd name="adj4" fmla="val -380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Funcția fitness</a:t>
            </a:r>
          </a:p>
          <a:p>
            <a:pPr algn="ctr"/>
            <a:r>
              <a:rPr lang="ro-RO" sz="2000" dirty="0">
                <a:sym typeface="Wingdings" panose="05000000000000000000" pitchFamily="2" charset="2"/>
              </a:rPr>
              <a:t>(de maxim)</a:t>
            </a:r>
          </a:p>
          <a:p>
            <a:pPr algn="ctr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15539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8" y="1012342"/>
            <a:ext cx="10515600" cy="4843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V. </a:t>
            </a:r>
            <a:r>
              <a:rPr lang="en-US" sz="2000" b="1" dirty="0" err="1"/>
              <a:t>Muta</a:t>
            </a:r>
            <a:r>
              <a:rPr lang="ro-RO" sz="2000" b="1" dirty="0"/>
              <a:t>ț</a:t>
            </a:r>
            <a:r>
              <a:rPr lang="en-US" sz="2000" b="1" dirty="0" err="1"/>
              <a:t>ia</a:t>
            </a:r>
            <a:endParaRPr lang="ro-RO" sz="2000" b="1" dirty="0"/>
          </a:p>
          <a:p>
            <a:pPr marL="0" indent="0">
              <a:buNone/>
            </a:pPr>
            <a:endParaRPr lang="en-US" sz="2000" b="1" dirty="0"/>
          </a:p>
          <a:p>
            <a:pPr>
              <a:buFontTx/>
              <a:buChar char="-"/>
            </a:pPr>
            <a:r>
              <a:rPr lang="en-US" sz="2000" dirty="0"/>
              <a:t>Cu </a:t>
            </a:r>
            <a:r>
              <a:rPr lang="en-US" sz="2000" dirty="0" err="1"/>
              <a:t>probabilitate</a:t>
            </a:r>
            <a:r>
              <a:rPr lang="en-US" sz="2000" dirty="0"/>
              <a:t> mic</a:t>
            </a:r>
            <a:r>
              <a:rPr lang="ro-RO" sz="2000" dirty="0"/>
              <a:t>ă</a:t>
            </a:r>
            <a:r>
              <a:rPr lang="en-US" sz="2000" dirty="0"/>
              <a:t>; pm = </a:t>
            </a:r>
            <a:r>
              <a:rPr lang="en-US" sz="2000" dirty="0" err="1"/>
              <a:t>probabilitatea</a:t>
            </a:r>
            <a:r>
              <a:rPr lang="en-US" sz="2000" dirty="0"/>
              <a:t> de </a:t>
            </a:r>
            <a:r>
              <a:rPr lang="en-US" sz="2000" dirty="0" err="1"/>
              <a:t>muta</a:t>
            </a:r>
            <a:r>
              <a:rPr lang="ro-RO" sz="2000" dirty="0"/>
              <a:t>ț</a:t>
            </a:r>
            <a:r>
              <a:rPr lang="en-US" sz="2000" dirty="0" err="1"/>
              <a:t>ie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 err="1">
                <a:sym typeface="Wingdings" panose="05000000000000000000" pitchFamily="2" charset="2"/>
              </a:rPr>
              <a:t>Problema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ym typeface="Wingdings" panose="05000000000000000000" pitchFamily="2" charset="2"/>
              </a:rPr>
              <a:t>este </a:t>
            </a:r>
            <a:r>
              <a:rPr lang="en-US" sz="2000" dirty="0">
                <a:sym typeface="Wingdings" panose="05000000000000000000" pitchFamily="2" charset="2"/>
              </a:rPr>
              <a:t>cu </a:t>
            </a:r>
            <a:r>
              <a:rPr lang="en-US" sz="2000" dirty="0" err="1">
                <a:sym typeface="Wingdings" panose="05000000000000000000" pitchFamily="2" charset="2"/>
              </a:rPr>
              <a:t>reprezent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prin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individ</a:t>
            </a:r>
            <a:endParaRPr 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ro-RO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Pm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k/Dim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ro-RO" sz="2000" dirty="0">
                <a:sym typeface="Wingdings" panose="05000000000000000000" pitchFamily="2" charset="2"/>
              </a:rPr>
              <a:t>î</a:t>
            </a:r>
            <a:r>
              <a:rPr lang="en-US" sz="2000" dirty="0">
                <a:sym typeface="Wingdings" panose="05000000000000000000" pitchFamily="2" charset="2"/>
              </a:rPr>
              <a:t>n </a:t>
            </a:r>
            <a:r>
              <a:rPr lang="en-US" sz="2000" dirty="0" err="1">
                <a:sym typeface="Wingdings" panose="05000000000000000000" pitchFamily="2" charset="2"/>
              </a:rPr>
              <a:t>medie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num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indivizilor</a:t>
            </a:r>
            <a:r>
              <a:rPr lang="en-US" sz="2000" dirty="0">
                <a:sym typeface="Wingdings" panose="05000000000000000000" pitchFamily="2" charset="2"/>
              </a:rPr>
              <a:t> care </a:t>
            </a:r>
            <a:r>
              <a:rPr lang="en-US" sz="2000" dirty="0" err="1">
                <a:sym typeface="Wingdings" panose="05000000000000000000" pitchFamily="2" charset="2"/>
              </a:rPr>
              <a:t>sufer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k</a:t>
            </a:r>
          </a:p>
          <a:p>
            <a:pPr>
              <a:buFontTx/>
              <a:buChar char="-"/>
            </a:pPr>
            <a:endParaRPr lang="ro-RO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popula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iei</a:t>
            </a:r>
            <a:r>
              <a:rPr lang="en-US" sz="2000" dirty="0">
                <a:sym typeface="Wingdings" panose="05000000000000000000" pitchFamily="2" charset="2"/>
              </a:rPr>
              <a:t> –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schema general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muta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pentru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probleme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f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r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constr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â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ngeri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ym typeface="Wingdings" panose="05000000000000000000" pitchFamily="2" charset="2"/>
              </a:rPr>
              <a:t>reprezentarea prin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individ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Problema este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u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dependen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ță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adiacen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ță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–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muta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ia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prin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inversiune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393693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3" y="868219"/>
            <a:ext cx="10515600" cy="554889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VI. </a:t>
            </a:r>
            <a:r>
              <a:rPr lang="en-US" sz="2000" b="1" dirty="0" err="1"/>
              <a:t>Recombinarea</a:t>
            </a:r>
            <a:endParaRPr lang="en-US" sz="2000" b="1" dirty="0"/>
          </a:p>
          <a:p>
            <a:pPr>
              <a:buFontTx/>
              <a:buChar char="-"/>
            </a:pPr>
            <a:endParaRPr lang="ro-RO" altLang="en-US" sz="2000" dirty="0"/>
          </a:p>
          <a:p>
            <a:pPr>
              <a:buFontTx/>
              <a:buChar char="-"/>
            </a:pPr>
            <a:r>
              <a:rPr lang="en-US" altLang="en-US" sz="2000" dirty="0"/>
              <a:t>Cu </a:t>
            </a:r>
            <a:r>
              <a:rPr lang="en-US" altLang="en-US" sz="2000" dirty="0" err="1"/>
              <a:t>probabilitate</a:t>
            </a:r>
            <a:r>
              <a:rPr lang="en-US" altLang="en-US" sz="2000" dirty="0"/>
              <a:t> </a:t>
            </a:r>
            <a:r>
              <a:rPr lang="ro-RO" altLang="en-US" sz="2000" dirty="0"/>
              <a:t>mare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probabilitatea</a:t>
            </a:r>
            <a:r>
              <a:rPr lang="en-US" altLang="en-US" sz="2000" dirty="0"/>
              <a:t> de crossover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dim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copii</a:t>
            </a:r>
            <a:endParaRPr lang="ro-RO" alt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en-US" sz="2000" dirty="0"/>
              <a:t>dim p</a:t>
            </a:r>
            <a:r>
              <a:rPr lang="ro-RO" altLang="en-US" sz="2000" dirty="0"/>
              <a:t>ă</a:t>
            </a:r>
            <a:r>
              <a:rPr lang="en-US" altLang="en-US" sz="2000" dirty="0" err="1"/>
              <a:t>rin</a:t>
            </a:r>
            <a:r>
              <a:rPr lang="ro-RO" altLang="en-US" sz="2000" dirty="0"/>
              <a:t>ț</a:t>
            </a:r>
            <a:r>
              <a:rPr lang="en-US" altLang="en-US" sz="2000" dirty="0" err="1"/>
              <a:t>i</a:t>
            </a:r>
            <a:r>
              <a:rPr lang="en-US" altLang="en-US" sz="2000" dirty="0" err="1">
                <a:sym typeface="Wingdings" panose="05000000000000000000" pitchFamily="2" charset="2"/>
              </a:rPr>
              <a:t>dim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copii</a:t>
            </a:r>
            <a:r>
              <a:rPr lang="en-US" altLang="en-US" sz="2000" dirty="0">
                <a:sym typeface="Wingdings" panose="05000000000000000000" pitchFamily="2" charset="2"/>
              </a:rPr>
              <a:t> (cu </a:t>
            </a:r>
            <a:r>
              <a:rPr lang="en-US" altLang="en-US" sz="2000" dirty="0" err="1">
                <a:sym typeface="Wingdings" panose="05000000000000000000" pitchFamily="2" charset="2"/>
              </a:rPr>
              <a:t>probabilitatea</a:t>
            </a:r>
            <a:r>
              <a:rPr lang="en-US" altLang="en-US" sz="2000" dirty="0">
                <a:sym typeface="Wingdings" panose="05000000000000000000" pitchFamily="2" charset="2"/>
              </a:rPr>
              <a:t> pc </a:t>
            </a:r>
            <a:r>
              <a:rPr lang="ro-RO" altLang="en-US" sz="2000" dirty="0">
                <a:sym typeface="Wingdings" panose="05000000000000000000" pitchFamily="2" charset="2"/>
              </a:rPr>
              <a:t>indivizii rezultați </a:t>
            </a:r>
            <a:r>
              <a:rPr lang="en-US" altLang="en-US" sz="2000" dirty="0" err="1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noi</a:t>
            </a:r>
            <a:r>
              <a:rPr lang="en-US" altLang="en-US" sz="2000" dirty="0"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ym typeface="Wingdings" panose="05000000000000000000" pitchFamily="2" charset="2"/>
              </a:rPr>
              <a:t>restul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chiar din populația de părinți, prin recombinare asexuată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ro-RO" alt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S</a:t>
            </a:r>
            <a:r>
              <a:rPr lang="en-US" altLang="en-US" sz="2000" dirty="0" err="1">
                <a:sym typeface="Wingdings" panose="05000000000000000000" pitchFamily="2" charset="2"/>
              </a:rPr>
              <a:t>chema</a:t>
            </a:r>
            <a:r>
              <a:rPr lang="en-US" altLang="en-US" sz="2000" dirty="0">
                <a:sym typeface="Wingdings" panose="05000000000000000000" pitchFamily="2" charset="2"/>
              </a:rPr>
              <a:t> general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la </a:t>
            </a:r>
            <a:r>
              <a:rPr lang="en-US" altLang="en-US" sz="2000" dirty="0" err="1">
                <a:sym typeface="Wingdings" panose="05000000000000000000" pitchFamily="2" charset="2"/>
              </a:rPr>
              <a:t>nivel</a:t>
            </a:r>
            <a:r>
              <a:rPr lang="en-US" altLang="en-US" sz="2000" dirty="0">
                <a:sym typeface="Wingdings" panose="05000000000000000000" pitchFamily="2" charset="2"/>
              </a:rPr>
              <a:t> de </a:t>
            </a:r>
            <a:r>
              <a:rPr lang="en-US" altLang="en-US" sz="2000" dirty="0" err="1">
                <a:sym typeface="Wingdings" panose="05000000000000000000" pitchFamily="2" charset="2"/>
              </a:rPr>
              <a:t>populatie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pentru</a:t>
            </a:r>
            <a:r>
              <a:rPr lang="en-US" altLang="en-US" sz="2000" dirty="0">
                <a:sym typeface="Wingdings" panose="05000000000000000000" pitchFamily="2" charset="2"/>
              </a:rPr>
              <a:t> problem</a:t>
            </a:r>
            <a:r>
              <a:rPr lang="ro-RO" altLang="en-US" sz="2000" dirty="0">
                <a:sym typeface="Wingdings" panose="05000000000000000000" pitchFamily="2" charset="2"/>
              </a:rPr>
              <a:t>e</a:t>
            </a:r>
            <a:r>
              <a:rPr lang="en-US" altLang="en-US" sz="2000" dirty="0">
                <a:sym typeface="Wingdings" panose="05000000000000000000" pitchFamily="2" charset="2"/>
              </a:rPr>
              <a:t> f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r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constr</a:t>
            </a:r>
            <a:r>
              <a:rPr lang="ro-RO" altLang="en-US" sz="2000" dirty="0">
                <a:sym typeface="Wingdings" panose="05000000000000000000" pitchFamily="2" charset="2"/>
              </a:rPr>
              <a:t>â</a:t>
            </a:r>
            <a:r>
              <a:rPr lang="en-US" altLang="en-US" sz="2000" dirty="0" err="1">
                <a:sym typeface="Wingdings" panose="05000000000000000000" pitchFamily="2" charset="2"/>
              </a:rPr>
              <a:t>ngeri</a:t>
            </a:r>
            <a:endParaRPr lang="en-US" alt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en-US" sz="2000" dirty="0" err="1">
                <a:sym typeface="Wingdings" panose="05000000000000000000" pitchFamily="2" charset="2"/>
              </a:rPr>
              <a:t>Operatorul</a:t>
            </a:r>
            <a:r>
              <a:rPr lang="en-US" altLang="en-US" sz="2000" dirty="0">
                <a:sym typeface="Wingdings" panose="05000000000000000000" pitchFamily="2" charset="2"/>
              </a:rPr>
              <a:t> particular </a:t>
            </a:r>
            <a:r>
              <a:rPr lang="en-US" altLang="en-US" sz="2000" dirty="0" err="1">
                <a:sym typeface="Wingdings" panose="05000000000000000000" pitchFamily="2" charset="2"/>
              </a:rPr>
              <a:t>utilizat</a:t>
            </a:r>
            <a:r>
              <a:rPr lang="ro-RO" altLang="en-US" sz="2000" dirty="0">
                <a:sym typeface="Wingdings" panose="05000000000000000000" pitchFamily="2" charset="2"/>
              </a:rPr>
              <a:t>, ales pentru </a:t>
            </a:r>
            <a:r>
              <a:rPr lang="ro-RO" altLang="en-US" sz="2000" b="1" dirty="0">
                <a:sym typeface="Wingdings" panose="05000000000000000000" pitchFamily="2" charset="2"/>
              </a:rPr>
              <a:t>probleme </a:t>
            </a:r>
            <a:r>
              <a:rPr lang="en-US" altLang="en-US" sz="2000" b="1" dirty="0">
                <a:sym typeface="Wingdings" panose="05000000000000000000" pitchFamily="2" charset="2"/>
              </a:rPr>
              <a:t>cu </a:t>
            </a:r>
            <a:r>
              <a:rPr lang="en-US" altLang="en-US" sz="2000" b="1" dirty="0" err="1">
                <a:sym typeface="Wingdings" panose="05000000000000000000" pitchFamily="2" charset="2"/>
              </a:rPr>
              <a:t>dependen</a:t>
            </a:r>
            <a:r>
              <a:rPr lang="ro-RO" altLang="en-US" sz="2000" b="1" dirty="0">
                <a:sym typeface="Wingdings" panose="05000000000000000000" pitchFamily="2" charset="2"/>
              </a:rPr>
              <a:t>ță de adiacență</a:t>
            </a:r>
            <a:r>
              <a:rPr lang="en-US" altLang="en-US" sz="2000" dirty="0">
                <a:sym typeface="Wingdings" panose="05000000000000000000" pitchFamily="2" charset="2"/>
              </a:rPr>
              <a:t> – </a:t>
            </a:r>
            <a:r>
              <a:rPr lang="ro-RO" altLang="en-US" sz="2000" b="1" dirty="0">
                <a:sym typeface="Wingdings" panose="05000000000000000000" pitchFamily="2" charset="2"/>
              </a:rPr>
              <a:t>PMX</a:t>
            </a:r>
            <a:r>
              <a:rPr lang="en-US" altLang="en-US" sz="2000" b="1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(</a:t>
            </a:r>
            <a:r>
              <a:rPr lang="ro-RO" altLang="en-US" sz="2000" dirty="0">
                <a:sym typeface="Wingdings" panose="05000000000000000000" pitchFamily="2" charset="2"/>
              </a:rPr>
              <a:t>Partially Mapped Crossover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  <a:endParaRPr lang="ro-RO" alt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30741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8073"/>
            <a:ext cx="10515600" cy="55488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Selecția părinților  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Numărul părinților – bazat pe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Funcția fitness este </a:t>
            </a:r>
            <a:r>
              <a:rPr lang="ro-RO" sz="2000" dirty="0">
                <a:solidFill>
                  <a:srgbClr val="FF0000"/>
                </a:solidFill>
              </a:rPr>
              <a:t>pozitivă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poate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fi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utilizat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orice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probabilitate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selec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ție </a:t>
            </a:r>
            <a:r>
              <a:rPr lang="ro-RO" sz="2000" dirty="0">
                <a:sym typeface="Wingdings" panose="05000000000000000000" pitchFamily="2" charset="2"/>
              </a:rPr>
              <a:t>(de tip FPS sau rang) simulată cu mecanismul SUS (</a:t>
            </a:r>
            <a:r>
              <a:rPr lang="ro-RO" sz="2000" b="1" dirty="0">
                <a:sym typeface="Wingdings" panose="05000000000000000000" pitchFamily="2" charset="2"/>
              </a:rPr>
              <a:t>de preferat</a:t>
            </a:r>
            <a:r>
              <a:rPr lang="ro-RO" sz="2000" dirty="0">
                <a:sym typeface="Wingdings" panose="05000000000000000000" pitchFamily="2" charset="2"/>
              </a:rPr>
              <a:t>) sau ruletă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Alegerile făcute – </a:t>
            </a:r>
            <a:r>
              <a:rPr lang="ro-RO" sz="2000" b="1" dirty="0">
                <a:sym typeface="Wingdings" panose="05000000000000000000" pitchFamily="2" charset="2"/>
              </a:rPr>
              <a:t>FPS cu sigma scalare și SUS</a:t>
            </a:r>
          </a:p>
          <a:p>
            <a:pPr lvl="1" algn="just">
              <a:buFontTx/>
              <a:buChar char="-"/>
            </a:pPr>
            <a:endParaRPr lang="ro-RO" sz="2000" b="1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endParaRPr lang="ro-RO" sz="20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Înlocuirea populație curente (selecția generației următoare)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Mecanismul de înlocuire – bazat pe model 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Sunt propagați toți copiii, cu excepția situației în care cel mai bun individ </a:t>
            </a:r>
            <a:r>
              <a:rPr lang="en-US" altLang="en-US" sz="2000" dirty="0"/>
              <a:t>“</a:t>
            </a:r>
            <a:r>
              <a:rPr lang="en-US" altLang="en-US" sz="2000" dirty="0" err="1"/>
              <a:t>vechi</a:t>
            </a:r>
            <a:r>
              <a:rPr lang="en-US" altLang="en-US" sz="2000" dirty="0"/>
              <a:t>” (</a:t>
            </a:r>
            <a:r>
              <a:rPr lang="ro-RO" altLang="en-US" sz="2000" dirty="0"/>
              <a:t>din generația curentă) este mai bun decât toți indivizii noi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000" b="1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37249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IX. Condi</a:t>
            </a:r>
            <a:r>
              <a:rPr lang="ro-RO" sz="2000" b="1" dirty="0"/>
              <a:t>ția de continuare a căutării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Nu am depășit NMAX  cicluri evolutive (iterații)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Populația are măcar 2 indivizi cu calități diferite  (variabilitatea nu este nulă)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Pe parcursul ultimelor K cicluri evolutive s-a schimbat măcar o dată calitatea cea mai bună 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În rezolvare, k =NMAX/3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253245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3535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6438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7753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231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10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6374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160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6303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817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4392491" y="4229101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52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2895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803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2895600" y="5286374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4960695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752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3547590" y="1939126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Cutie </a:t>
            </a:r>
            <a:r>
              <a:rPr lang="en-US" sz="7200" b="1" dirty="0" err="1"/>
              <a:t>neagr</a:t>
            </a:r>
            <a:r>
              <a:rPr lang="ro-RO" sz="7200" b="1" dirty="0"/>
              <a:t>ă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895050" y="5286376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1752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1752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895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4691" y="637227"/>
            <a:ext cx="10515600" cy="5311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o-RO" sz="2000" b="1" dirty="0"/>
          </a:p>
          <a:p>
            <a:pPr marL="0" indent="0" algn="just">
              <a:buNone/>
            </a:pPr>
            <a:r>
              <a:rPr lang="en-US" sz="2000" b="1" dirty="0"/>
              <a:t>                         </a:t>
            </a:r>
            <a:r>
              <a:rPr lang="en-US" sz="2000" b="1" dirty="0" err="1"/>
              <a:t>Algoritmul</a:t>
            </a:r>
            <a:r>
              <a:rPr lang="en-US" sz="2000" b="1" dirty="0"/>
              <a:t> genetic (GA)</a:t>
            </a:r>
            <a:endParaRPr lang="ro-RO" sz="20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33" y="1525526"/>
            <a:ext cx="8309568" cy="49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5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668</Words>
  <Application>Microsoft Office PowerPoint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Catalina</cp:lastModifiedBy>
  <cp:revision>27</cp:revision>
  <dcterms:created xsi:type="dcterms:W3CDTF">2020-03-19T11:04:16Z</dcterms:created>
  <dcterms:modified xsi:type="dcterms:W3CDTF">2026-04-14T10:50:21Z</dcterms:modified>
</cp:coreProperties>
</file>