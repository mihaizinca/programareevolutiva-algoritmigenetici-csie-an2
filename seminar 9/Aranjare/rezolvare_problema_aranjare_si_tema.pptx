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1" r:id="rId3"/>
    <p:sldId id="262" r:id="rId4"/>
    <p:sldId id="263" r:id="rId5"/>
    <p:sldId id="259" r:id="rId6"/>
    <p:sldId id="260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6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7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4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9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8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3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1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7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37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5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541A3-0700-47B6-91E1-316FE4373AE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5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o-RO" sz="2000" dirty="0"/>
                  <a:t>Enunț: </a:t>
                </a:r>
              </a:p>
              <a:p>
                <a:pPr marL="0" indent="0" algn="just">
                  <a:buNone/>
                </a:pPr>
                <a:r>
                  <a:rPr lang="ro-RO" sz="2000" dirty="0"/>
                  <a:t>Aranjați n câini și m (m&gt;1) pisici în cerc astfel încât între 2 câini (aranjați consecutiv) fie să nu se afle nicio pisică, fie să existe cel puțin două.</a:t>
                </a:r>
              </a:p>
              <a:p>
                <a:pPr marL="0" indent="0" algn="just">
                  <a:buNone/>
                </a:pPr>
                <a:r>
                  <a:rPr lang="ro-RO" sz="2000" dirty="0"/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Reprezentare: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Genotip </a:t>
                </a:r>
                <a:r>
                  <a:rPr lang="ro-RO" sz="2000" dirty="0">
                    <a:sym typeface="Wingdings" panose="05000000000000000000" pitchFamily="2" charset="2"/>
                  </a:rPr>
                  <a:t> vector binar cu m+n elemente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0  câine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1 pisică</a:t>
                </a:r>
              </a:p>
              <a:p>
                <a:pPr marL="457200" lvl="1" indent="0" algn="just">
                  <a:buNone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Spațiul soluțiilor </a:t>
                </a:r>
                <a:r>
                  <a:rPr lang="ro-RO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ro-RO" sz="20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ro-RO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o-RO" sz="2000" dirty="0"/>
                  <a:t> </a:t>
                </a:r>
                <a:r>
                  <a:rPr lang="ro-RO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o-RO" sz="2000" dirty="0"/>
                  <a:t> numărul elementelor lui S</a:t>
                </a:r>
              </a:p>
              <a:p>
                <a:pPr marL="0" indent="0" algn="just">
                  <a:buNone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Problema este modelată fără constrângeri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2000" dirty="0"/>
              </a:p>
              <a:p>
                <a:pPr marL="457200" lvl="1" indent="0" algn="just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  <a:blipFill>
                <a:blip r:embed="rId2"/>
                <a:stretch>
                  <a:fillRect l="-741" t="-1100" r="-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809897"/>
                <a:ext cx="8229600" cy="5286105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Funcție fitness</a:t>
                </a:r>
                <a:r>
                  <a:rPr lang="en-US" sz="2000" dirty="0"/>
                  <a:t>:</a:t>
                </a:r>
                <a:endParaRPr lang="ro-RO" sz="2000" dirty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X </a:t>
                </a:r>
                <a:r>
                  <a:rPr lang="ro-RO" sz="2000" dirty="0"/>
                  <a:t>genotip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Cost(X) = numărul aranjărilor greșite:</a:t>
                </a:r>
              </a:p>
              <a:p>
                <a:pPr lvl="2" algn="just">
                  <a:buFont typeface="Wingdings" panose="05000000000000000000" pitchFamily="2" charset="2"/>
                  <a:buChar char="q"/>
                </a:pPr>
                <a:r>
                  <a:rPr lang="ro-RO" dirty="0"/>
                  <a:t>poziții i </a:t>
                </a:r>
                <a:r>
                  <a:rPr lang="ro-RO" dirty="0">
                    <a:sym typeface="Wingdings" panose="05000000000000000000" pitchFamily="2" charset="2"/>
                  </a:rPr>
                  <a:t></a:t>
                </a:r>
                <a:r>
                  <a:rPr lang="ro-RO" dirty="0"/>
                  <a:t> X(i)=X(i+2)=0, X(i+1)=1, i=0,…,m+n-3  </a:t>
                </a:r>
              </a:p>
              <a:p>
                <a:pPr lvl="2" algn="just">
                  <a:buFont typeface="Wingdings" panose="05000000000000000000" pitchFamily="2" charset="2"/>
                  <a:buChar char="q"/>
                </a:pPr>
                <a:r>
                  <a:rPr lang="ro-RO" dirty="0"/>
                  <a:t>eventualele erori în șirul X(n+m-2), X(n+m-1), X(0), X(1) </a:t>
                </a:r>
              </a:p>
              <a:p>
                <a:pPr marL="914400" lvl="2" indent="0" algn="just">
                  <a:buNone/>
                </a:pPr>
                <a:r>
                  <a:rPr lang="ro-RO" dirty="0">
                    <a:sym typeface="Wingdings" panose="05000000000000000000" pitchFamily="2" charset="2"/>
                  </a:rPr>
                  <a:t>        X(n+m-2)=X(0)=0, X(n+m-1)=1; X(n+m-1)=X(1)=0, X(0)=1</a:t>
                </a:r>
              </a:p>
              <a:p>
                <a:pPr lvl="2" algn="just">
                  <a:buFont typeface="Wingdings" panose="05000000000000000000" pitchFamily="2" charset="2"/>
                  <a:buChar char="q"/>
                </a:pPr>
                <a:r>
                  <a:rPr lang="ro-RO" dirty="0"/>
                  <a:t> 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𝑆𝑢𝑚𝑎</m:t>
                    </m:r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ro-R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o-RO" dirty="0"/>
                  <a:t>  </a:t>
                </a:r>
                <a:r>
                  <a:rPr lang="ro-RO" dirty="0">
                    <a:sym typeface="Wingdings" panose="05000000000000000000" pitchFamily="2" charset="2"/>
                  </a:rPr>
                  <a:t> cost(X)+=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o-RO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𝑆𝑢𝑚𝑎</m:t>
                        </m:r>
                        <m:d>
                          <m:d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ro-RO" dirty="0"/>
              </a:p>
              <a:p>
                <a:pPr marL="914400" lvl="2" indent="0" algn="just">
                  <a:buNone/>
                </a:pPr>
                <a:endParaRPr lang="ro-RO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2000" b="0" i="1" dirty="0">
                  <a:latin typeface="Cambria Math" panose="02040503050406030204" pitchFamily="18" charset="0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𝐹𝑖𝑡𝑛𝑒𝑠𝑠</m:t>
                    </m:r>
                    <m:d>
                      <m:dPr>
                        <m:ctrlPr>
                          <a:rPr lang="ro-RO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r>
                  <a:rPr lang="ro-RO" sz="2000" dirty="0"/>
                  <a:t> </a:t>
                </a:r>
                <a:r>
                  <a:rPr lang="ro-RO" sz="2000" dirty="0">
                    <a:sym typeface="Wingdings" panose="05000000000000000000" pitchFamily="2" charset="2"/>
                  </a:rPr>
                  <a:t> cu valori pozitive</a:t>
                </a:r>
              </a:p>
              <a:p>
                <a:pPr marL="457200" lvl="1" indent="0" algn="just">
                  <a:buNone/>
                </a:pPr>
                <a:endParaRPr lang="ro-RO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o-RO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o-RO" sz="20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ro-RO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ro-RO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𝐹𝑖𝑛𝑡𝑒𝑠𝑠</m:t>
                        </m:r>
                        <m:d>
                          <m:dPr>
                            <m:ctrlP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ro-RO" sz="20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809897"/>
                <a:ext cx="8229600" cy="5286105"/>
              </a:xfrm>
              <a:blipFill>
                <a:blip r:embed="rId2"/>
                <a:stretch>
                  <a:fillRect l="-667" t="-126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0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 Modelul de populație </a:t>
                </a:r>
                <a:r>
                  <a:rPr lang="ro-RO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>
                    <a:sym typeface="Wingdings" panose="05000000000000000000" pitchFamily="2" charset="2"/>
                  </a:rPr>
                  <a:t> genera</a:t>
                </a:r>
                <a:r>
                  <a:rPr lang="ro-RO" sz="2000" dirty="0">
                    <a:sym typeface="Wingdings" panose="05000000000000000000" pitchFamily="2" charset="2"/>
                  </a:rPr>
                  <a:t>țional (problema NP-completă, funcția fitness ușor de evaluat), populații cu dimensiune constantă, Dim</a:t>
                </a:r>
              </a:p>
              <a:p>
                <a:pPr marL="0" indent="0" algn="just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 Mutația: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Problemă fără constrângeri </a:t>
                </a:r>
                <a:r>
                  <a:rPr lang="ro-RO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>
                    <a:sym typeface="Wingdings" panose="05000000000000000000" pitchFamily="2" charset="2"/>
                  </a:rPr>
                  <a:t> schema general</a:t>
                </a:r>
                <a:r>
                  <a:rPr lang="ro-RO" sz="2000" dirty="0">
                    <a:sym typeface="Wingdings" panose="05000000000000000000" pitchFamily="2" charset="2"/>
                  </a:rPr>
                  <a:t>ă de mutație la nivel de populație: fără constrângeri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Mutația este la nivel de poziție (genă) 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endParaRPr lang="ro-RO" sz="2000" dirty="0">
                  <a:sym typeface="Wingdings" panose="05000000000000000000" pitchFamily="2" charset="2"/>
                </a:endParaRPr>
              </a:p>
              <a:p>
                <a:pPr marL="457200" lvl="1" indent="0" algn="just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reprezentare binară 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ro-RO" sz="2000" dirty="0">
                    <a:sym typeface="Wingdings" panose="05000000000000000000" pitchFamily="2" charset="2"/>
                  </a:rPr>
                  <a:t>bitflip</a:t>
                </a:r>
              </a:p>
              <a:p>
                <a:pPr marL="457200" lvl="1" indent="0" algn="just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𝐷𝑖𝑚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ro-RO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  <m:r>
                              <a:rPr lang="ro-RO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ro-RO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>
                  <a:sym typeface="Wingdings" panose="05000000000000000000" pitchFamily="2" charset="2"/>
                </a:endParaRPr>
              </a:p>
              <a:p>
                <a:pPr marL="914400" lvl="2" indent="0" algn="just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ro-RO" sz="20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  <a:blipFill>
                <a:blip r:embed="rId2"/>
                <a:stretch>
                  <a:fillRect l="-667" t="-1210" r="-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02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</p:spPr>
            <p:txBody>
              <a:bodyPr>
                <a:normAutofit/>
              </a:bodyPr>
              <a:lstStyle/>
              <a:p>
                <a:pPr marL="457200" lvl="1" indent="0" algn="just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Crossover</a:t>
                </a:r>
                <a:r>
                  <a:rPr lang="ro-RO" sz="20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Problemă fără constrângeri </a:t>
                </a:r>
                <a:r>
                  <a:rPr lang="ro-RO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>
                    <a:sym typeface="Wingdings" panose="05000000000000000000" pitchFamily="2" charset="2"/>
                  </a:rPr>
                  <a:t> schema general</a:t>
                </a:r>
                <a:r>
                  <a:rPr lang="ro-RO" sz="2000" dirty="0">
                    <a:sym typeface="Wingdings" panose="05000000000000000000" pitchFamily="2" charset="2"/>
                  </a:rPr>
                  <a:t>ă de </a:t>
                </a:r>
                <a:r>
                  <a:rPr lang="en-US" sz="2000" dirty="0">
                    <a:sym typeface="Wingdings" panose="05000000000000000000" pitchFamily="2" charset="2"/>
                  </a:rPr>
                  <a:t>crossover</a:t>
                </a:r>
                <a:r>
                  <a:rPr lang="ro-RO" sz="2000" dirty="0">
                    <a:sym typeface="Wingdings" panose="05000000000000000000" pitchFamily="2" charset="2"/>
                  </a:rPr>
                  <a:t> la nivel de populație: fără constrângeri</a:t>
                </a:r>
              </a:p>
              <a:p>
                <a:pPr marL="457200" lvl="1" indent="0" algn="just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Crossover la nivel de pereche de indivizi</a:t>
                </a:r>
              </a:p>
              <a:p>
                <a:pPr marL="457200" lvl="1" indent="0" algn="just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Reprezentare binară  unipunct/multipunct/uniform</a:t>
                </a:r>
              </a:p>
              <a:p>
                <a:pPr marL="457200" lvl="1" indent="0" algn="just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sub>
                    </m:sSub>
                    <m:r>
                      <a:rPr lang="ro-RO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&gt;0.7</m:t>
                    </m:r>
                  </m:oMath>
                </a14:m>
                <a:endParaRPr lang="ro-RO" sz="2000" dirty="0"/>
              </a:p>
              <a:p>
                <a:pPr marL="457200" lvl="1" indent="0" algn="just">
                  <a:buNone/>
                </a:pPr>
                <a:endParaRPr lang="ro-RO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Model generaționl </a:t>
                </a:r>
                <a:r>
                  <a:rPr lang="ro-RO" sz="2000" dirty="0">
                    <a:sym typeface="Wingdings" panose="05000000000000000000" pitchFamily="2" charset="2"/>
                  </a:rPr>
                  <a:t> include recombinare asexuată (nr. copii=dim)</a:t>
                </a:r>
                <a:endParaRPr lang="ro-RO" sz="2000" dirty="0"/>
              </a:p>
              <a:p>
                <a:pPr marL="0" indent="0" algn="just">
                  <a:buNone/>
                </a:pPr>
                <a:endParaRPr lang="ro-RO" sz="20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  <a:blipFill>
                <a:blip r:embed="rId2"/>
                <a:stretch>
                  <a:fillRect l="-667" r="-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75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836023"/>
            <a:ext cx="8229600" cy="525997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Selecția părinților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20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Model generațional  din dim indivizi în populația curentă selectăm dim părinți</a:t>
            </a:r>
          </a:p>
          <a:p>
            <a:pPr marL="400050" lvl="1" indent="0" algn="ctr">
              <a:buNone/>
            </a:pPr>
            <a:endParaRPr lang="ro-RO" sz="2000" dirty="0"/>
          </a:p>
          <a:p>
            <a:pPr lvl="1">
              <a:buFont typeface="Wingdings" pitchFamily="2" charset="2"/>
              <a:buChar char="q"/>
            </a:pPr>
            <a:r>
              <a:rPr lang="ro-RO" altLang="en-US" sz="2000" dirty="0"/>
              <a:t>Este utilizat mecanismul </a:t>
            </a:r>
            <a:r>
              <a:rPr lang="en-US" altLang="en-US" sz="2000" dirty="0"/>
              <a:t>SUS</a:t>
            </a:r>
            <a:r>
              <a:rPr lang="ro-RO" altLang="en-US" sz="2000" dirty="0"/>
              <a:t> cu distribuția de probabilitate FPS cu sigma-scalare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2000" b="1" dirty="0">
              <a:solidFill>
                <a:srgbClr val="FF0000"/>
              </a:solidFill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2000" dirty="0"/>
              <a:t>Selecția generației următoare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2000" dirty="0"/>
          </a:p>
          <a:p>
            <a:pPr lvl="1" algn="just">
              <a:buFont typeface="Wingdings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Model generațional  </a:t>
            </a:r>
            <a:r>
              <a:rPr lang="ro-RO" sz="2000" dirty="0"/>
              <a:t>elitist</a:t>
            </a:r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24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557349"/>
            <a:ext cx="8229600" cy="5538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dirty="0"/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Algoritmul este încheiat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după un număr maxim de iterații, sau</a:t>
            </a:r>
          </a:p>
          <a:p>
            <a:pPr lvl="1" algn="just">
              <a:buFont typeface="Wingdings" pitchFamily="2" charset="2"/>
              <a:buChar char="q"/>
            </a:pPr>
            <a:endParaRPr lang="ro-RO" sz="20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dacă în populația curentă toți indivizii au aceeași calitate, sau </a:t>
            </a:r>
          </a:p>
          <a:p>
            <a:pPr lvl="1" algn="just">
              <a:buFont typeface="Wingdings" pitchFamily="2" charset="2"/>
              <a:buChar char="q"/>
            </a:pPr>
            <a:endParaRPr lang="ro-RO" sz="20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dacă a fost calculat un individ cu fitness maxim (egal cu 1)</a:t>
            </a:r>
          </a:p>
          <a:p>
            <a:pPr marL="0" indent="0" algn="just">
              <a:buNone/>
            </a:pPr>
            <a:endParaRPr lang="ro-RO" sz="20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2000" dirty="0">
                <a:sym typeface="Wingdings" panose="05000000000000000000" pitchFamily="2" charset="2"/>
              </a:rPr>
              <a:t>Soluția calculată  cel mai bun individ din populația finală (datorită utilizării elitismului pentru selecția supraviețuitorilor)</a:t>
            </a:r>
          </a:p>
          <a:p>
            <a:pPr marL="0" indent="0" algn="just">
              <a:buNone/>
            </a:pPr>
            <a:endParaRPr lang="ro-RO" sz="20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6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Reprezentare – varianta 2 </a:t>
                </a:r>
                <a:r>
                  <a:rPr lang="ro-RO" sz="2000" dirty="0">
                    <a:sym typeface="Wingdings" panose="05000000000000000000" pitchFamily="2" charset="2"/>
                  </a:rPr>
                  <a:t> reprezentare prin permutări</a:t>
                </a: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Genotip </a:t>
                </a:r>
                <a:r>
                  <a:rPr lang="ro-RO" sz="2000" dirty="0">
                    <a:sym typeface="Wingdings" panose="05000000000000000000" pitchFamily="2" charset="2"/>
                  </a:rPr>
                  <a:t> permutare cu m+n elemente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0..m-1  pisici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>
                    <a:sym typeface="Wingdings" panose="05000000000000000000" pitchFamily="2" charset="2"/>
                  </a:rPr>
                  <a:t>m...n+m-1 câini</a:t>
                </a:r>
              </a:p>
              <a:p>
                <a:pPr marL="457200" lvl="1" indent="0" algn="just">
                  <a:buNone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noProof="0" dirty="0"/>
                  <a:t>Spațiul soluțiilor </a:t>
                </a:r>
                <a:r>
                  <a:rPr lang="ro-RO" sz="2000" noProof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000" noProof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P</m:t>
                    </m:r>
                    <m:d>
                      <m:dPr>
                        <m:ctrlPr>
                          <a:rPr lang="ro-RO" sz="200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sz="2000" noProof="0" dirty="0"/>
                  <a:t> </a:t>
                </a:r>
                <a:r>
                  <a:rPr lang="ro-RO" sz="2000" noProof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200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e>
                    </m:d>
                    <m:r>
                      <a:rPr lang="ro-RO" sz="2000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! </m:t>
                    </m:r>
                  </m:oMath>
                </a14:m>
                <a:r>
                  <a:rPr lang="ro-RO" sz="2000" noProof="0" dirty="0"/>
                  <a:t>numărul elementelor lui S </a:t>
                </a:r>
                <a:r>
                  <a:rPr lang="ro-RO" sz="2000" noProof="0" dirty="0">
                    <a:sym typeface="Wingdings" panose="05000000000000000000" pitchFamily="2" charset="2"/>
                  </a:rPr>
                  <a:t> dimensiune mult mai mare, </a:t>
                </a:r>
                <a:r>
                  <a:rPr lang="ro-RO" sz="2000" noProof="0">
                    <a:sym typeface="Wingdings" panose="05000000000000000000" pitchFamily="2" charset="2"/>
                  </a:rPr>
                  <a:t>prima variantă este mai bună </a:t>
                </a:r>
                <a:endParaRPr lang="ro-RO" sz="2000" noProof="0" dirty="0"/>
              </a:p>
              <a:p>
                <a:pPr marL="0" indent="0" algn="just">
                  <a:buNone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Problema este modelată fără constrângeri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Cate 3 elemente </a:t>
                </a:r>
                <a:r>
                  <a:rPr lang="ro-RO" sz="2000" dirty="0">
                    <a:sym typeface="Wingdings" panose="05000000000000000000" pitchFamily="2" charset="2"/>
                  </a:rPr>
                  <a:t>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600" dirty="0">
                    <a:sym typeface="Wingdings" panose="05000000000000000000" pitchFamily="2" charset="2"/>
                  </a:rPr>
                  <a:t>gresit: X(i)&gt;=m, X(i+1)&lt;m, X(i+2)&gt;=m + situațiile din margine: X(n+m-2),X(n+m-1),X(0), X(1) 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600" dirty="0">
                    <a:sym typeface="Wingdings" panose="05000000000000000000" pitchFamily="2" charset="2"/>
                  </a:rPr>
                  <a:t>Numărăm erorile – contor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600" i="1">
                        <a:latin typeface="Cambria Math" panose="02040503050406030204" pitchFamily="18" charset="0"/>
                      </a:rPr>
                      <m:t>𝐹𝑖𝑡𝑛𝑒𝑠𝑠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ro-RO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𝑐𝑜𝑛𝑡𝑜𝑟</m:t>
                        </m:r>
                        <m:d>
                          <m:d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r>
                  <a:rPr lang="ro-RO" sz="1600" dirty="0"/>
                  <a:t> </a:t>
                </a:r>
                <a:r>
                  <a:rPr lang="ro-RO" sz="1600" dirty="0">
                    <a:sym typeface="Wingdings" panose="05000000000000000000" pitchFamily="2" charset="2"/>
                  </a:rPr>
                  <a:t> cu valori pozitive</a:t>
                </a:r>
              </a:p>
              <a:p>
                <a:pPr marL="457200" lvl="1" indent="0" algn="just">
                  <a:buNone/>
                </a:pPr>
                <a:endParaRPr lang="ro-RO" sz="16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o-RO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ro-RO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ro-RO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𝐹𝑖𝑛𝑡𝑒𝑠𝑠</m:t>
                        </m:r>
                        <m:d>
                          <m:d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ro-RO" sz="16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2000" dirty="0"/>
              </a:p>
              <a:p>
                <a:pPr marL="457200" lvl="1" indent="0" algn="just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557349"/>
                <a:ext cx="8229600" cy="5538653"/>
              </a:xfrm>
              <a:blipFill>
                <a:blip r:embed="rId2"/>
                <a:stretch>
                  <a:fillRect l="-667" t="-1210" r="-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51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557349"/>
            <a:ext cx="8229600" cy="553865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457200" lvl="1" indent="0" algn="just">
              <a:buNone/>
            </a:pPr>
            <a:endParaRPr lang="en-US" sz="16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08732" y="2459504"/>
            <a:ext cx="74352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o-RO" sz="2000" dirty="0"/>
              <a:t>Tema 1 – proiectați rezolvarea GA în a doua variantă</a:t>
            </a:r>
          </a:p>
          <a:p>
            <a:pPr algn="just"/>
            <a:endParaRPr lang="ro-RO" sz="2000" dirty="0"/>
          </a:p>
          <a:p>
            <a:pPr lvl="1" algn="just"/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2590066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525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Catalina</dc:creator>
  <cp:lastModifiedBy>Catalina</cp:lastModifiedBy>
  <cp:revision>26</cp:revision>
  <dcterms:created xsi:type="dcterms:W3CDTF">2021-04-21T11:48:12Z</dcterms:created>
  <dcterms:modified xsi:type="dcterms:W3CDTF">2026-04-14T10:55:25Z</dcterms:modified>
</cp:coreProperties>
</file>