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8"/>
  </p:notesMasterIdLst>
  <p:sldIdLst>
    <p:sldId id="256" r:id="rId2"/>
    <p:sldId id="496" r:id="rId3"/>
    <p:sldId id="501" r:id="rId4"/>
    <p:sldId id="502" r:id="rId5"/>
    <p:sldId id="472" r:id="rId6"/>
    <p:sldId id="473" r:id="rId7"/>
    <p:sldId id="474" r:id="rId8"/>
    <p:sldId id="477" r:id="rId9"/>
    <p:sldId id="498" r:id="rId10"/>
    <p:sldId id="478" r:id="rId11"/>
    <p:sldId id="479" r:id="rId12"/>
    <p:sldId id="500" r:id="rId13"/>
    <p:sldId id="480" r:id="rId14"/>
    <p:sldId id="481" r:id="rId15"/>
    <p:sldId id="483" r:id="rId16"/>
    <p:sldId id="484" r:id="rId17"/>
    <p:sldId id="485" r:id="rId18"/>
    <p:sldId id="486" r:id="rId19"/>
    <p:sldId id="475" r:id="rId20"/>
    <p:sldId id="492" r:id="rId21"/>
    <p:sldId id="438" r:id="rId22"/>
    <p:sldId id="488" r:id="rId23"/>
    <p:sldId id="489" r:id="rId24"/>
    <p:sldId id="491" r:id="rId25"/>
    <p:sldId id="460" r:id="rId26"/>
    <p:sldId id="490" r:id="rId27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29FF2-BC44-4658-AC2D-BAE8AD18E1D6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3925" y="746125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53062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AEB9E-043C-45E6-9F5B-E49AAD5C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5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9" Type="http://schemas.openxmlformats.org/officeDocument/2006/relationships/image" Target="../media/image1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71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1"/>
            <a:ext cx="7772400" cy="3048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 err="1"/>
              <a:t>Algoritmi</a:t>
            </a:r>
            <a:r>
              <a:rPr lang="en-US" sz="4000" dirty="0"/>
              <a:t> ES</a:t>
            </a:r>
            <a:r>
              <a:rPr lang="ro-RO" sz="4000" dirty="0"/>
              <a:t> </a:t>
            </a:r>
            <a:br>
              <a:rPr lang="ro-RO" sz="4000" dirty="0"/>
            </a:br>
            <a:r>
              <a:rPr lang="ro-RO" sz="4000" dirty="0"/>
              <a:t>(Evolution</a:t>
            </a:r>
            <a:r>
              <a:rPr lang="en-US" sz="4000" dirty="0" err="1"/>
              <a:t>ary</a:t>
            </a:r>
            <a:r>
              <a:rPr lang="ro-RO" sz="4000" dirty="0"/>
              <a:t> Strategies)</a:t>
            </a:r>
            <a:br>
              <a:rPr lang="ro-RO" sz="4000" dirty="0">
                <a:effectLst/>
              </a:rPr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609600"/>
            <a:ext cx="8458200" cy="1524000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Schema generală EA</a:t>
            </a:r>
            <a:br>
              <a:rPr lang="en-US" sz="2800" b="1" dirty="0">
                <a:solidFill>
                  <a:schemeClr val="bg2"/>
                </a:solidFill>
              </a:rPr>
            </a:br>
            <a:br>
              <a:rPr lang="en-US" sz="2800" b="1" dirty="0">
                <a:solidFill>
                  <a:schemeClr val="bg2"/>
                </a:solidFill>
              </a:rPr>
            </a:br>
            <a:r>
              <a:rPr lang="ro-RO" sz="1800" b="1" i="1" dirty="0"/>
              <a:t>ES </a:t>
            </a:r>
            <a:r>
              <a:rPr lang="en-US" sz="1800" b="1" i="1" dirty="0"/>
              <a:t>- </a:t>
            </a:r>
            <a:r>
              <a:rPr lang="ro-RO" sz="1800" b="1" i="1" dirty="0"/>
              <a:t>clasa EA în care este implementată auto-adaptarea strategiei de selectare a parametrilor. </a:t>
            </a:r>
            <a:endParaRPr lang="ro-RO" altLang="en-US" sz="2600" b="1" i="1" dirty="0">
              <a:solidFill>
                <a:schemeClr val="bg2"/>
              </a:solidFill>
            </a:endParaRPr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762000" y="2286000"/>
            <a:ext cx="8001000" cy="4572000"/>
          </a:xfrm>
        </p:spPr>
        <p:txBody>
          <a:bodyPr/>
          <a:lstStyle/>
          <a:p>
            <a:endParaRPr lang="ro-RO" dirty="0"/>
          </a:p>
          <a:p>
            <a:endParaRPr lang="ro-RO" b="1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00"/>
            <a:ext cx="8077200" cy="402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198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Caracteristici ES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364163"/>
              </a:xfrm>
            </p:spPr>
            <p:txBody>
              <a:bodyPr/>
              <a:lstStyle/>
              <a:p>
                <a:pPr lvl="0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Reprezentarea cromozomială - vectori cu numere din mulțimea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ℝ</m:t>
                    </m:r>
                  </m:oMath>
                </a14:m>
                <a:endParaRPr lang="ro-RO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Mutația este principalul operator de variație care produce indivizi noi</a:t>
                </a:r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Mutația - zgomot gaussian, de obicei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0,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  <m:r>
                      <a:rPr lang="ro-RO" sz="18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 (mutație neuniformă sau fluaj)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𝜎</m:t>
                    </m:r>
                  </m:oMath>
                </a14:m>
                <a:r>
                  <a:rPr lang="ro-RO" sz="1800" dirty="0"/>
                  <a:t> este modificat pe parcursul evoluției algoritmului.</a:t>
                </a: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364163"/>
              </a:xfrm>
              <a:blipFill rotWithShape="1">
                <a:blip r:embed="rId2"/>
                <a:stretch>
                  <a:fillRect t="-569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571500" y="3048000"/>
              <a:ext cx="8001000" cy="3292842"/>
            </p:xfrm>
            <a:graphic>
              <a:graphicData uri="http://schemas.openxmlformats.org/drawingml/2006/table">
                <a:tbl>
                  <a:tblPr firstRow="1" firstCol="1" bandRow="1">
                    <a:tableStyleId>{E269D01E-BC32-4049-B463-5C60D7B0CCD2}</a:tableStyleId>
                  </a:tblPr>
                  <a:tblGrid>
                    <a:gridCol w="25457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552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Reprezentarea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Vectori cu componente numere reale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Recombinarea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Discretă sau intermediară (aritmetică)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Mutația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Perturbare gaussiană (mutație neuniformă)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părinților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Aleatoare, conform distribuției uniforme de probabilitate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432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supraviețuitorilor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De tipul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>
                                      <a:effectLst/>
                                      <a:latin typeface="Cambria Math"/>
                                    </a:rPr>
                                    <m:t>𝜇</m:t>
                                  </m:r>
                                  <m:r>
                                    <a:rPr lang="ro-RO" sz="1800">
                                      <a:effectLst/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ro-RO" sz="1800">
                                      <a:effectLst/>
                                      <a:latin typeface="Cambria Math"/>
                                    </a:rPr>
                                    <m:t>𝜆</m:t>
                                  </m:r>
                                </m:e>
                              </m:d>
                            </m:oMath>
                          </a14:m>
                          <a:r>
                            <a:rPr lang="ro-RO" sz="1800">
                              <a:effectLst/>
                            </a:rPr>
                            <a:t> sau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>
                                      <a:effectLst/>
                                      <a:latin typeface="Cambria Math"/>
                                    </a:rPr>
                                    <m:t>𝜇</m:t>
                                  </m:r>
                                  <m:r>
                                    <a:rPr lang="ro-RO" sz="1800">
                                      <a:effectLst/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ro-RO" sz="1800">
                                      <a:effectLst/>
                                      <a:latin typeface="Cambria Math"/>
                                    </a:rPr>
                                    <m:t>𝜆</m:t>
                                  </m:r>
                                </m:e>
                              </m:d>
                            </m:oMath>
                          </a14:m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Caracteristică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Auto-adaptarea dimensiunii (pragului) mutației </a:t>
                          </a:r>
                          <a14:m>
                            <m:oMath xmlns:m="http://schemas.openxmlformats.org/officeDocument/2006/math">
                              <m:r>
                                <a:rPr lang="ro-RO" sz="1800">
                                  <a:effectLst/>
                                  <a:latin typeface="Cambria Math"/>
                                </a:rPr>
                                <m:t>𝜎</m:t>
                              </m:r>
                            </m:oMath>
                          </a14:m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9146020"/>
                  </p:ext>
                </p:extLst>
              </p:nvPr>
            </p:nvGraphicFramePr>
            <p:xfrm>
              <a:off x="571500" y="3048000"/>
              <a:ext cx="8001000" cy="3292842"/>
            </p:xfrm>
            <a:graphic>
              <a:graphicData uri="http://schemas.openxmlformats.org/drawingml/2006/table">
                <a:tbl>
                  <a:tblPr firstRow="1" firstCol="1" bandRow="1">
                    <a:tableStyleId>{E269D01E-BC32-4049-B463-5C60D7B0CCD2}</a:tableStyleId>
                  </a:tblPr>
                  <a:tblGrid>
                    <a:gridCol w="2545773"/>
                    <a:gridCol w="5455227"/>
                  </a:tblGrid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Reprezentarea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Vectori cu componente numere reale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Recombinarea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Discretă sau intermediară (aritmetică)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Mutația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Perturbare gaussiană (mutație neuniformă)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</a:tr>
                  <a:tr h="61061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părinților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Aleatoare, conform distribuției uniforme de probabilitate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</a:tr>
                  <a:tr h="91432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supraviețuitorilor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374" t="-218000" r="-782" b="-55333"/>
                          </a:stretch>
                        </a:blipFill>
                      </a:tcPr>
                    </a:tc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Caracteristică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374" t="-662500" r="-782" b="-1527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776041"/>
                  </p:ext>
                </p:extLst>
              </p:nvPr>
            </p:nvGraphicFramePr>
            <p:xfrm>
              <a:off x="571500" y="3048000"/>
              <a:ext cx="8001000" cy="3608310"/>
            </p:xfrm>
            <a:graphic>
              <a:graphicData uri="http://schemas.openxmlformats.org/drawingml/2006/table">
                <a:tbl>
                  <a:tblPr firstRow="1" firstCol="1" bandRow="1">
                    <a:tableStyleId>{638B1855-1B75-4FBE-930C-398BA8C253C6}</a:tableStyleId>
                  </a:tblPr>
                  <a:tblGrid>
                    <a:gridCol w="25457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552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Reprezentarea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Vectori cu componente numere reale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Recombinarea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Discretă sau intermediară (aritmetică)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Mutația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Perturbare gaussiană (mutație neuniformă)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părinților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noProof="0" dirty="0">
                              <a:effectLst/>
                            </a:rPr>
                            <a:t>Populația</a:t>
                          </a:r>
                          <a:r>
                            <a:rPr lang="ro-RO" sz="1800" baseline="0" noProof="0" dirty="0">
                              <a:effectLst/>
                            </a:rPr>
                            <a:t> curentă = populația de părinți </a:t>
                          </a:r>
                        </a:p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baseline="0" noProof="0" dirty="0">
                              <a:effectLst/>
                            </a:rPr>
                            <a:t>Realizarea perechilor de crossover - a</a:t>
                          </a:r>
                          <a:r>
                            <a:rPr lang="ro-RO" sz="1800" noProof="0" dirty="0">
                              <a:effectLst/>
                            </a:rPr>
                            <a:t>leatoare, conform distribuției uniforme </a:t>
                          </a:r>
                          <a:r>
                            <a:rPr lang="ro-RO" sz="1800" dirty="0">
                              <a:effectLst/>
                            </a:rPr>
                            <a:t>de probabilitate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432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supraviețuitorilor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De tipul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ro-RO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ro-RO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oMath>
                          </a14:m>
                          <a:r>
                            <a:rPr lang="ro-RO" sz="1800">
                              <a:effectLst/>
                            </a:rPr>
                            <a:t> sau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ro-RO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o-RO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</m:oMath>
                          </a14:m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Caracteristică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Auto-adaptarea dimensiunii (pragului) mutației </a:t>
                          </a:r>
                          <a14:m>
                            <m:oMath xmlns:m="http://schemas.openxmlformats.org/officeDocument/2006/math">
                              <m:r>
                                <a:rPr lang="ro-RO" sz="1800">
                                  <a:effectLst/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a14:m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9776041"/>
                  </p:ext>
                </p:extLst>
              </p:nvPr>
            </p:nvGraphicFramePr>
            <p:xfrm>
              <a:off x="571500" y="3048000"/>
              <a:ext cx="8001000" cy="3608310"/>
            </p:xfrm>
            <a:graphic>
              <a:graphicData uri="http://schemas.openxmlformats.org/drawingml/2006/table">
                <a:tbl>
                  <a:tblPr firstRow="1" firstCol="1" bandRow="1">
                    <a:tableStyleId>{638B1855-1B75-4FBE-930C-398BA8C253C6}</a:tableStyleId>
                  </a:tblPr>
                  <a:tblGrid>
                    <a:gridCol w="25457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45522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Reprezentarea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Vectori cu componente numere reale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dirty="0">
                              <a:effectLst/>
                            </a:rPr>
                            <a:t>Recombinarea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Discretă sau intermediară (aritmetică)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Mutația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Perturbare gaussiană (mutație neuniformă)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6084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părinților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noProof="0" dirty="0">
                              <a:effectLst/>
                            </a:rPr>
                            <a:t>Populația</a:t>
                          </a:r>
                          <a:r>
                            <a:rPr lang="ro-RO" sz="1800" baseline="0" noProof="0" dirty="0">
                              <a:effectLst/>
                            </a:rPr>
                            <a:t> curentă = populația de părinți </a:t>
                          </a:r>
                        </a:p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 baseline="0" noProof="0" dirty="0">
                              <a:effectLst/>
                            </a:rPr>
                            <a:t>Realizarea perechilor de crossover - a</a:t>
                          </a:r>
                          <a:r>
                            <a:rPr lang="ro-RO" sz="1800" noProof="0" dirty="0">
                              <a:effectLst/>
                            </a:rPr>
                            <a:t>leatoare, conform distribuției uniforme </a:t>
                          </a:r>
                          <a:r>
                            <a:rPr lang="ro-RO" sz="1800" dirty="0">
                              <a:effectLst/>
                            </a:rPr>
                            <a:t>de probabilitate</a:t>
                          </a:r>
                          <a:endParaRPr lang="en-US" sz="18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4326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Selecția supraviețuitorilor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7433" t="-252667" r="-1116" b="-5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4197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800">
                              <a:effectLst/>
                            </a:rPr>
                            <a:t>Caracteristică</a:t>
                          </a:r>
                          <a:endParaRPr lang="en-US" sz="18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47433" t="-724658" r="-1116" b="-191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0812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6"/>
              <p:cNvSpPr txBox="1">
                <a:spLocks/>
              </p:cNvSpPr>
              <p:nvPr/>
            </p:nvSpPr>
            <p:spPr bwMode="auto">
              <a:xfrm>
                <a:off x="427038" y="909092"/>
                <a:ext cx="8640763" cy="53578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54864" tIns="91440" rIns="91440" bIns="45720" numCol="1" anchor="t" anchorCtr="0" compatLnSpc="1">
                <a:prstTxWarp prst="textNoShape">
                  <a:avLst/>
                </a:prstTxWarp>
              </a:bodyPr>
              <a:lstStyle>
                <a:lvl1pPr marL="438150" indent="-319088" algn="l" rtl="0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 2" pitchFamily="18" charset="2"/>
                  <a:buChar char="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30250" indent="-2730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90000"/>
                  <a:buFont typeface="Wingdings" pitchFamily="2" charset="2"/>
                  <a:buChar char="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95363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E66C7D"/>
                  </a:buClr>
                  <a:buFont typeface="Arial" charset="0"/>
                  <a:buChar char="▪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16025" indent="-1825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6BB76D"/>
                  </a:buClr>
                  <a:buFont typeface="Arial" charset="0"/>
                  <a:buChar char="▪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425575" indent="-1825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E88651"/>
                  </a:buClr>
                  <a:buFont typeface="Wingdings 3" pitchFamily="18" charset="2"/>
                  <a:buChar char=""/>
                  <a:defRPr lang="en-US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27632" indent="-182880" algn="l" rtl="0" eaLnBrk="1" latinLnBrk="0" hangingPunct="1">
                  <a:spcBef>
                    <a:spcPct val="20000"/>
                  </a:spcBef>
                  <a:buClr>
                    <a:schemeClr val="accent6"/>
                  </a:buClr>
                  <a:buSzPct val="100000"/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29968" indent="-182880" algn="l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Wingdings 2" pitchFamily="18" charset="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31136" indent="-182880" algn="l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Wingdings 2" pitchFamily="18" charset="2"/>
                  <a:buChar char="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lvl="0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ro-RO" sz="2400" dirty="0">
                    <a:cs typeface="Arial" panose="020B0604020202020204" pitchFamily="34" charset="0"/>
                  </a:rPr>
                  <a:t>Reprezentare în ES: fenotip </a:t>
                </a:r>
                <a:r>
                  <a:rPr lang="ro-RO" sz="2400" dirty="0">
                    <a:latin typeface="Times New Roman"/>
                    <a:cs typeface="Times New Roman"/>
                  </a:rPr>
                  <a:t>↔</a:t>
                </a:r>
                <a:r>
                  <a:rPr lang="ro-RO" sz="2400" dirty="0">
                    <a:cs typeface="Arial" panose="020B0604020202020204" pitchFamily="34" charset="0"/>
                  </a:rPr>
                  <a:t> genotip</a:t>
                </a:r>
              </a:p>
              <a:p>
                <a:pPr lvl="1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ro-RO" sz="2000" i="1" dirty="0">
                    <a:cs typeface="Arial" panose="020B0604020202020204" pitchFamily="34" charset="0"/>
                  </a:rPr>
                  <a:t>Fenotip</a:t>
                </a:r>
                <a:r>
                  <a:rPr lang="ro-RO" sz="2000" dirty="0">
                    <a:cs typeface="Arial" panose="020B0604020202020204" pitchFamily="34" charset="0"/>
                  </a:rPr>
                  <a:t>: parametrii problemei de rezolvat sunt elemente dintr-un spațiu continuu: </a:t>
                </a:r>
                <a14:m>
                  <m:oMath xmlns:m="http://schemas.openxmlformats.org/officeDocument/2006/math">
                    <m:r>
                      <a:rPr lang="ro-RO" sz="2000" b="0" i="1" smtClean="0">
                        <a:solidFill>
                          <a:srgbClr val="0000FF"/>
                        </a:solidFill>
                        <a:latin typeface="Cambria Math"/>
                        <a:cs typeface="Arial" panose="020B0604020202020204" pitchFamily="34" charset="0"/>
                      </a:rPr>
                      <m:t>𝑓</m:t>
                    </m:r>
                    <m:r>
                      <a:rPr lang="ro-RO" sz="2000" b="0" i="1" smtClean="0">
                        <a:solidFill>
                          <a:srgbClr val="0000FF"/>
                        </a:solidFill>
                        <a:latin typeface="Cambria Math"/>
                        <a:cs typeface="Arial" panose="020B0604020202020204" pitchFamily="34" charset="0"/>
                      </a:rPr>
                      <m:t>:</m:t>
                    </m:r>
                    <m:sSup>
                      <m:sSupPr>
                        <m:ctrlPr>
                          <a:rPr lang="ro-RO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ro-RO" sz="2000" b="0" i="1" smtClean="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ro-RO" sz="2000" b="0" i="1" smtClean="0">
                            <a:solidFill>
                              <a:srgbClr val="0000FF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  <m:r>
                      <a:rPr lang="ro-RO" sz="2000" b="0" i="1" smtClean="0">
                        <a:solidFill>
                          <a:srgbClr val="0000FF"/>
                        </a:solidFill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→</m:t>
                    </m:r>
                    <m:r>
                      <a:rPr lang="ro-RO" sz="2000" b="0" i="1" smtClean="0">
                        <a:solidFill>
                          <a:srgbClr val="0000FF"/>
                        </a:solidFill>
                        <a:latin typeface="Cambria Math"/>
                        <a:ea typeface="Cambria Math"/>
                        <a:cs typeface="Arial" panose="020B0604020202020204" pitchFamily="34" charset="0"/>
                      </a:rPr>
                      <m:t>ℝ</m:t>
                    </m:r>
                  </m:oMath>
                </a14:m>
                <a:r>
                  <a:rPr lang="ro-RO" sz="2000" dirty="0">
                    <a:cs typeface="Arial" panose="020B0604020202020204" pitchFamily="34" charset="0"/>
                  </a:rPr>
                  <a:t> </a:t>
                </a:r>
                <a:r>
                  <a:rPr lang="ro-RO" sz="2000" dirty="0">
                    <a:latin typeface="Times New Roman"/>
                    <a:cs typeface="Times New Roman"/>
                  </a:rPr>
                  <a:t>→ </a:t>
                </a:r>
                <a14:m>
                  <m:oMath xmlns:m="http://schemas.openxmlformats.org/officeDocument/2006/math">
                    <m:r>
                      <a:rPr lang="ro-RO" sz="2000" i="1" smtClean="0">
                        <a:solidFill>
                          <a:srgbClr val="0000FF"/>
                        </a:solidFill>
                        <a:latin typeface="Cambria Math"/>
                      </a:rPr>
                      <m:t>𝑥</m:t>
                    </m:r>
                    <m:r>
                      <a:rPr lang="ro-RO" sz="2000" i="1" smtClean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o-RO" sz="2000" i="1" smtClean="0">
                        <a:solidFill>
                          <a:srgbClr val="0000FF"/>
                        </a:solidFill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ro-RO" sz="2000" dirty="0">
                    <a:solidFill>
                      <a:srgbClr val="0000FF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ro-RO" sz="2000" i="1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ro-RO" sz="2000" i="1">
                            <a:solidFill>
                              <a:srgbClr val="0000FF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lang="ro-RO" sz="2000" dirty="0">
                  <a:cs typeface="Arial" panose="020B0604020202020204" pitchFamily="34" charset="0"/>
                </a:endParaRPr>
              </a:p>
              <a:p>
                <a:pPr lvl="1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ro-RO" sz="2000" i="1" dirty="0">
                    <a:cs typeface="Arial" panose="020B0604020202020204" pitchFamily="34" charset="0"/>
                  </a:rPr>
                  <a:t>Genotip</a:t>
                </a:r>
                <a:r>
                  <a:rPr lang="ro-RO" sz="2000" dirty="0">
                    <a:cs typeface="Arial" panose="020B0604020202020204" pitchFamily="34" charset="0"/>
                  </a:rPr>
                  <a:t>: </a:t>
                </a:r>
              </a:p>
              <a:p>
                <a:pPr lvl="2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ro-RO" sz="1800" dirty="0">
                    <a:cs typeface="Arial" panose="020B0604020202020204" pitchFamily="34" charset="0"/>
                  </a:rPr>
                  <a:t>reprezentare candidat-soluție: similar cu fenotipul </a:t>
                </a:r>
                <a:r>
                  <a:rPr lang="ro-RO" sz="1800" dirty="0">
                    <a:latin typeface="Times New Roman"/>
                    <a:cs typeface="Times New Roman"/>
                  </a:rPr>
                  <a:t>→</a:t>
                </a:r>
                <a:r>
                  <a:rPr lang="ro-RO" sz="18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  <m:r>
                      <a:rPr lang="ro-RO" sz="180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o-RO" sz="1800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ro-RO" sz="1800" dirty="0">
                    <a:solidFill>
                      <a:srgbClr val="0070C0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ro-RO" sz="1800" i="1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ro-RO" sz="1800" i="1">
                            <a:solidFill>
                              <a:srgbClr val="0070C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lang="ro-RO" sz="1800" dirty="0">
                  <a:cs typeface="Arial" panose="020B0604020202020204" pitchFamily="34" charset="0"/>
                </a:endParaRPr>
              </a:p>
              <a:p>
                <a:pPr lvl="2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ro-RO" sz="1800" dirty="0">
                    <a:cs typeface="Arial" panose="020B0604020202020204" pitchFamily="34" charset="0"/>
                  </a:rPr>
                  <a:t>reprezentare parametri evoluție ES: variază </a:t>
                </a:r>
                <a:r>
                  <a:rPr lang="ro-RO" sz="1800" dirty="0">
                    <a:latin typeface="Times New Roman"/>
                    <a:cs typeface="Times New Roman"/>
                  </a:rPr>
                  <a:t>↔</a:t>
                </a:r>
                <a:r>
                  <a:rPr lang="ro-RO" sz="1800" dirty="0"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ro-RO" sz="1800" dirty="0">
                    <a:cs typeface="Times New Roman"/>
                  </a:rPr>
                  <a:t>autoadaptare</a:t>
                </a:r>
                <a:endParaRPr lang="ro-RO" sz="1800" dirty="0">
                  <a:cs typeface="Arial" panose="020B0604020202020204" pitchFamily="34" charset="0"/>
                </a:endParaRPr>
              </a:p>
              <a:p>
                <a:pPr lvl="3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ro-RO" sz="1800" dirty="0">
                    <a:cs typeface="Arial" panose="020B0604020202020204" pitchFamily="34" charset="0"/>
                  </a:rPr>
                  <a:t>tip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o-RO" sz="18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𝜎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 valori – uzual </a:t>
                </a:r>
                <a:r>
                  <a:rPr lang="ro-RO" sz="1800" dirty="0">
                    <a:solidFill>
                      <a:srgbClr val="FF0000"/>
                    </a:solidFill>
                  </a:rPr>
                  <a:t>1</a:t>
                </a:r>
                <a:r>
                  <a:rPr lang="ro-RO" sz="1800" dirty="0"/>
                  <a:t> sau </a:t>
                </a:r>
                <a:r>
                  <a:rPr lang="ro-RO" sz="1800" dirty="0">
                    <a:solidFill>
                      <a:srgbClr val="FF0000"/>
                    </a:solidFill>
                  </a:rPr>
                  <a:t>n</a:t>
                </a:r>
                <a:r>
                  <a:rPr lang="ro-RO" sz="1800" dirty="0"/>
                  <a:t>): dimensiune pas de mutație </a:t>
                </a:r>
                <a:r>
                  <a:rPr lang="ro-RO" sz="1800" dirty="0">
                    <a:latin typeface="Times New Roman"/>
                    <a:cs typeface="Times New Roman"/>
                  </a:rPr>
                  <a:t>→                          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𝜎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3"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o-RO" sz="1800" dirty="0">
                    <a:ea typeface="Cambria Math" panose="02040503050406030204" pitchFamily="18" charset="0"/>
                  </a:rPr>
                  <a:t>tip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o-RO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ro-RO" sz="1800" dirty="0">
                    <a:solidFill>
                      <a:srgbClr val="0000FF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o-RO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ro-RO" sz="18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valori): interacțiuni între dimensiunile pașilor de mutație, numai pentru mutație corelată </a:t>
                </a:r>
                <a:r>
                  <a:rPr lang="ro-RO" sz="1800" dirty="0">
                    <a:latin typeface="Times New Roman"/>
                    <a:cs typeface="Times New Roman"/>
                  </a:rPr>
                  <a:t>→    </a:t>
                </a:r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o-RO" sz="18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ro-RO" sz="18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ro-RO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ro-RO" sz="1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ro-RO" sz="1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sz="1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sz="1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ro-RO" sz="1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/2)×</m:t>
                    </m:r>
                    <m:d>
                      <m:dPr>
                        <m:ctrlPr>
                          <a:rPr lang="ro-RO" sz="1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  <m:r>
                          <a:rPr lang="ro-RO" sz="1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2" algn="just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ro-RO" sz="18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forma generală a unui cromozom: </a:t>
                </a:r>
                <a:r>
                  <a:rPr lang="ro-RO" sz="1800" dirty="0">
                    <a:ea typeface="Cambria Math" panose="02040503050406030204" pitchFamily="18" charset="0"/>
                  </a:rPr>
                  <a:t>cromozom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ro-RO" sz="18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ro-RO" sz="1800" i="1">
                            <a:latin typeface="Cambria Math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ro-RO" sz="1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endParaRPr lang="ro-RO" sz="1800" dirty="0"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1033462" lvl="3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b="1" i="1">
                              <a:latin typeface="Cambria Math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ro-RO" b="1" i="1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</m:d>
                      <m:r>
                        <a:rPr lang="ro-RO" b="1" i="1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o-RO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ro-RO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ro-RO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ro-RO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…,</m:t>
                              </m:r>
                              <m: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o-RO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ro-RO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ro-RO" b="1" i="1" dirty="0">
                  <a:latin typeface="Cambria Math"/>
                  <a:ea typeface="Cambria Math" panose="02040503050406030204" pitchFamily="18" charset="0"/>
                </a:endParaRPr>
              </a:p>
              <a:p>
                <a:pPr marL="1033462" lvl="3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b="1" i="1">
                              <a:latin typeface="Cambria Math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ro-RO" b="1" i="1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  <m:r>
                            <a:rPr lang="ro-RO" b="1" i="1">
                              <a:latin typeface="Cambria Math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ro-RO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</m:d>
                      <m:r>
                        <a:rPr lang="ro-RO" b="1" i="1">
                          <a:latin typeface="Cambria Math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ro-RO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ro-RO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ro-RO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ro-RO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…,</m:t>
                          </m:r>
                          <m:r>
                            <a:rPr lang="ro-RO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sSub>
                            <m:sSubPr>
                              <m:ctrlP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ro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</m:sub>
                          </m:sSub>
                        </m:sub>
                      </m:sSub>
                      <m:r>
                        <a:rPr lang="ro-RO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o-RO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ro-RO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ro-RO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ro-RO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sSub>
                            <m:sSubPr>
                              <m:ctrlPr>
                                <a:rPr lang="ro-RO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ro-RO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sub>
                          </m:sSub>
                        </m:sub>
                      </m:sSub>
                      <m:r>
                        <a:rPr lang="ro-RO" b="1" i="1">
                          <a:latin typeface="Cambria Math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o-RO" b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1033462" lvl="3" indent="0" algn="just">
                  <a:spcBef>
                    <a:spcPts val="600"/>
                  </a:spcBef>
                  <a:spcAft>
                    <a:spcPts val="600"/>
                  </a:spcAft>
                  <a:buNone/>
                </a:pPr>
                <a:endParaRPr lang="ro-RO" sz="18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lvl="1" algn="just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endParaRPr lang="ro-RO" sz="20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Content Placeholder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038" y="909092"/>
                <a:ext cx="8640763" cy="5357811"/>
              </a:xfrm>
              <a:prstGeom prst="rect">
                <a:avLst/>
              </a:prstGeom>
              <a:blipFill>
                <a:blip r:embed="rId2"/>
                <a:stretch>
                  <a:fillRect r="-705" b="-39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6" name="Subtitle 2"/>
          <p:cNvSpPr>
            <a:spLocks/>
          </p:cNvSpPr>
          <p:nvPr/>
        </p:nvSpPr>
        <p:spPr bwMode="auto">
          <a:xfrm>
            <a:off x="456453" y="69994"/>
            <a:ext cx="8077200" cy="1212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872" tIns="0" rIns="45720" bIns="0" anchor="ctr"/>
          <a:lstStyle/>
          <a:p>
            <a:pPr>
              <a:buClr>
                <a:schemeClr val="accent1"/>
              </a:buClr>
              <a:buSzPct val="80000"/>
              <a:buFont typeface="Wingdings 2" pitchFamily="18" charset="2"/>
              <a:buNone/>
            </a:pPr>
            <a:r>
              <a:rPr lang="ro-RO" sz="2800" b="1" dirty="0">
                <a:solidFill>
                  <a:schemeClr val="bg2"/>
                </a:solidFill>
                <a:latin typeface="+mj-lt"/>
              </a:rPr>
              <a:t>ES. Reprezentarea genotipurilor</a:t>
            </a:r>
            <a:endParaRPr lang="ro-RO" sz="2800" b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3237" y="2179839"/>
            <a:ext cx="8564564" cy="3434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Rounded Rectangle 17"/>
          <p:cNvSpPr/>
          <p:nvPr/>
        </p:nvSpPr>
        <p:spPr>
          <a:xfrm>
            <a:off x="635000" y="3250681"/>
            <a:ext cx="1981200" cy="469105"/>
          </a:xfrm>
          <a:prstGeom prst="roundRect">
            <a:avLst/>
          </a:prstGeom>
          <a:solidFill>
            <a:srgbClr val="FFFF00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Fenotip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000" y="4301533"/>
            <a:ext cx="1981200" cy="469105"/>
          </a:xfrm>
          <a:prstGeom prst="roundRect">
            <a:avLst/>
          </a:prstGeom>
          <a:solidFill>
            <a:srgbClr val="FFC000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Genotip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000" y="2414390"/>
            <a:ext cx="1981200" cy="469105"/>
          </a:xfrm>
          <a:prstGeom prst="roundRect">
            <a:avLst/>
          </a:prstGeom>
          <a:noFill/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GA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49700" y="3250680"/>
            <a:ext cx="1981200" cy="469105"/>
          </a:xfrm>
          <a:prstGeom prst="roundRect">
            <a:avLst/>
          </a:prstGeom>
          <a:solidFill>
            <a:srgbClr val="FFFF00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Fenotip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49700" y="4301533"/>
            <a:ext cx="4076700" cy="469105"/>
          </a:xfrm>
          <a:prstGeom prst="roundRect">
            <a:avLst/>
          </a:prstGeom>
          <a:solidFill>
            <a:srgbClr val="FFC000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Genotip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2324" y="2412753"/>
            <a:ext cx="1981200" cy="469105"/>
          </a:xfrm>
          <a:prstGeom prst="roundRect">
            <a:avLst/>
          </a:prstGeom>
          <a:noFill/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45200" y="3248906"/>
            <a:ext cx="1981200" cy="469105"/>
          </a:xfrm>
          <a:prstGeom prst="roundRect">
            <a:avLst/>
          </a:prstGeom>
          <a:solidFill>
            <a:srgbClr val="92D050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Parametri de control evoluție</a:t>
            </a:r>
          </a:p>
        </p:txBody>
      </p:sp>
      <p:sp>
        <p:nvSpPr>
          <p:cNvPr id="25" name="Right Arrow 24"/>
          <p:cNvSpPr/>
          <p:nvPr/>
        </p:nvSpPr>
        <p:spPr>
          <a:xfrm rot="5400000">
            <a:off x="1390229" y="3830415"/>
            <a:ext cx="470741" cy="342900"/>
          </a:xfrm>
          <a:prstGeom prst="rightArrow">
            <a:avLst>
              <a:gd name="adj1" fmla="val 31395"/>
              <a:gd name="adj2" fmla="val 40698"/>
            </a:avLst>
          </a:prstGeom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6" name="Right Arrow 25"/>
          <p:cNvSpPr/>
          <p:nvPr/>
        </p:nvSpPr>
        <p:spPr>
          <a:xfrm rot="5400000">
            <a:off x="6800429" y="3830416"/>
            <a:ext cx="470741" cy="342900"/>
          </a:xfrm>
          <a:prstGeom prst="rightArrow">
            <a:avLst>
              <a:gd name="adj1" fmla="val 31395"/>
              <a:gd name="adj2" fmla="val 40698"/>
            </a:avLst>
          </a:prstGeom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7" name="Right Arrow 26"/>
          <p:cNvSpPr/>
          <p:nvPr/>
        </p:nvSpPr>
        <p:spPr>
          <a:xfrm rot="5400000">
            <a:off x="4704930" y="3830415"/>
            <a:ext cx="470741" cy="342900"/>
          </a:xfrm>
          <a:prstGeom prst="rightArrow">
            <a:avLst>
              <a:gd name="adj1" fmla="val 31395"/>
              <a:gd name="adj2" fmla="val 40698"/>
            </a:avLst>
          </a:prstGeom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8" name="Rounded Rectangle 27"/>
          <p:cNvSpPr/>
          <p:nvPr/>
        </p:nvSpPr>
        <p:spPr>
          <a:xfrm>
            <a:off x="2177607" y="3766494"/>
            <a:ext cx="1505393" cy="469105"/>
          </a:xfrm>
          <a:prstGeom prst="roundRect">
            <a:avLst/>
          </a:prstGeom>
          <a:solidFill>
            <a:srgbClr val="92D050"/>
          </a:solidFill>
          <a:ln w="25400" cmpd="sng"/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Parametri </a:t>
            </a:r>
          </a:p>
          <a:p>
            <a:pPr algn="ctr"/>
            <a:r>
              <a:rPr lang="ro-RO" dirty="0">
                <a:solidFill>
                  <a:schemeClr val="tx1"/>
                </a:solidFill>
              </a:rPr>
              <a:t>de control</a:t>
            </a:r>
          </a:p>
        </p:txBody>
      </p:sp>
      <p:grpSp>
        <p:nvGrpSpPr>
          <p:cNvPr id="14340" name="Group 14339"/>
          <p:cNvGrpSpPr/>
          <p:nvPr/>
        </p:nvGrpSpPr>
        <p:grpSpPr>
          <a:xfrm>
            <a:off x="3949700" y="4536087"/>
            <a:ext cx="1981200" cy="1080477"/>
            <a:chOff x="4533900" y="5404249"/>
            <a:chExt cx="1981200" cy="1080477"/>
          </a:xfrm>
        </p:grpSpPr>
        <p:sp>
          <p:nvSpPr>
            <p:cNvPr id="29" name="Rounded Rectangle 28"/>
            <p:cNvSpPr/>
            <p:nvPr/>
          </p:nvSpPr>
          <p:spPr>
            <a:xfrm>
              <a:off x="4533900" y="6015621"/>
              <a:ext cx="1981200" cy="469105"/>
            </a:xfrm>
            <a:prstGeom prst="roundRect">
              <a:avLst/>
            </a:prstGeom>
            <a:noFill/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o-RO" dirty="0">
                  <a:solidFill>
                    <a:schemeClr val="tx1"/>
                  </a:solidFill>
                </a:rPr>
                <a:t>Parte soluție</a:t>
              </a:r>
            </a:p>
          </p:txBody>
        </p:sp>
        <p:cxnSp>
          <p:nvCxnSpPr>
            <p:cNvPr id="4" name="Straight Arrow Connector 3"/>
            <p:cNvCxnSpPr>
              <a:stCxn id="29" idx="0"/>
            </p:cNvCxnSpPr>
            <p:nvPr/>
          </p:nvCxnSpPr>
          <p:spPr>
            <a:xfrm flipV="1">
              <a:off x="5524500" y="5404249"/>
              <a:ext cx="0" cy="6113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41" name="Group 14340"/>
          <p:cNvGrpSpPr/>
          <p:nvPr/>
        </p:nvGrpSpPr>
        <p:grpSpPr>
          <a:xfrm>
            <a:off x="6045200" y="4536086"/>
            <a:ext cx="1981200" cy="1078704"/>
            <a:chOff x="6629400" y="5404248"/>
            <a:chExt cx="1981200" cy="1078704"/>
          </a:xfrm>
        </p:grpSpPr>
        <p:sp>
          <p:nvSpPr>
            <p:cNvPr id="30" name="Rounded Rectangle 29"/>
            <p:cNvSpPr/>
            <p:nvPr/>
          </p:nvSpPr>
          <p:spPr>
            <a:xfrm>
              <a:off x="6629400" y="6013847"/>
              <a:ext cx="1981200" cy="469105"/>
            </a:xfrm>
            <a:prstGeom prst="roundRect">
              <a:avLst/>
            </a:prstGeom>
            <a:noFill/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o-RO" dirty="0">
                  <a:solidFill>
                    <a:schemeClr val="tx1"/>
                  </a:solidFill>
                </a:rPr>
                <a:t>Parte parametri</a:t>
              </a:r>
            </a:p>
          </p:txBody>
        </p:sp>
        <p:cxnSp>
          <p:nvCxnSpPr>
            <p:cNvPr id="35" name="Straight Arrow Connector 34"/>
            <p:cNvCxnSpPr>
              <a:stCxn id="30" idx="0"/>
            </p:cNvCxnSpPr>
            <p:nvPr/>
          </p:nvCxnSpPr>
          <p:spPr>
            <a:xfrm flipV="1">
              <a:off x="7620000" y="5404248"/>
              <a:ext cx="0" cy="60959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609600" y="4536087"/>
            <a:ext cx="1981200" cy="1080477"/>
            <a:chOff x="4533900" y="5404249"/>
            <a:chExt cx="1981200" cy="1080477"/>
          </a:xfrm>
        </p:grpSpPr>
        <p:sp>
          <p:nvSpPr>
            <p:cNvPr id="44" name="Rounded Rectangle 43"/>
            <p:cNvSpPr/>
            <p:nvPr/>
          </p:nvSpPr>
          <p:spPr>
            <a:xfrm>
              <a:off x="4533900" y="6015621"/>
              <a:ext cx="1981200" cy="469105"/>
            </a:xfrm>
            <a:prstGeom prst="roundRect">
              <a:avLst/>
            </a:prstGeom>
            <a:noFill/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o-RO" dirty="0">
                  <a:solidFill>
                    <a:schemeClr val="tx1"/>
                  </a:solidFill>
                </a:rPr>
                <a:t>Soluție</a:t>
              </a:r>
            </a:p>
          </p:txBody>
        </p:sp>
        <p:cxnSp>
          <p:nvCxnSpPr>
            <p:cNvPr id="45" name="Straight Arrow Connector 44"/>
            <p:cNvCxnSpPr>
              <a:stCxn id="44" idx="0"/>
            </p:cNvCxnSpPr>
            <p:nvPr/>
          </p:nvCxnSpPr>
          <p:spPr>
            <a:xfrm flipV="1">
              <a:off x="5524500" y="5404249"/>
              <a:ext cx="0" cy="61137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ounded Rectangle 27">
            <a:extLst>
              <a:ext uri="{FF2B5EF4-FFF2-40B4-BE49-F238E27FC236}">
                <a16:creationId xmlns:a16="http://schemas.microsoft.com/office/drawing/2014/main" id="{287674AA-44E7-4B05-9AE7-A72C9A83E58F}"/>
              </a:ext>
            </a:extLst>
          </p:cNvPr>
          <p:cNvSpPr/>
          <p:nvPr/>
        </p:nvSpPr>
        <p:spPr>
          <a:xfrm>
            <a:off x="7780957" y="3587998"/>
            <a:ext cx="1505393" cy="826096"/>
          </a:xfrm>
          <a:prstGeom prst="roundRect">
            <a:avLst/>
          </a:prstGeom>
          <a:solidFill>
            <a:srgbClr val="92D050"/>
          </a:solidFill>
          <a:ln w="25400" cmpd="sng"/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Parametri </a:t>
            </a:r>
          </a:p>
          <a:p>
            <a:pPr algn="ctr"/>
            <a:r>
              <a:rPr lang="ro-RO" dirty="0">
                <a:solidFill>
                  <a:schemeClr val="tx1"/>
                </a:solidFill>
              </a:rPr>
              <a:t>de control algoritm</a:t>
            </a:r>
          </a:p>
        </p:txBody>
      </p:sp>
    </p:spTree>
    <p:extLst>
      <p:ext uri="{BB962C8B-B14F-4D97-AF65-F5344CB8AC3E}">
        <p14:creationId xmlns:p14="http://schemas.microsoft.com/office/powerpoint/2010/main" val="87917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 bldLvl="2"/>
      <p:bldP spid="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Mutația. Considerații generale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334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Operația de mutație - neuniformă, cu distribuția de probabilitate gaussiană </a:t>
                </a:r>
                <a:r>
                  <a:rPr lang="ro-RO" sz="1800" i="1" dirty="0"/>
                  <a:t>în manieră de auo-adaptare</a:t>
                </a:r>
                <a:r>
                  <a:rPr lang="ro-RO" sz="1800" dirty="0"/>
                  <a:t>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A. Un singur parametru al dimensiunii pasului de fluaj.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𝑓</m:t>
                    </m:r>
                    <m:r>
                      <a:rPr lang="en-US" sz="1800" i="1"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1800" i="1">
                        <a:latin typeface="Cambria Math"/>
                      </a:rPr>
                      <m:t>→</m:t>
                    </m:r>
                    <m:r>
                      <a:rPr lang="en-US" sz="1800" i="1">
                        <a:latin typeface="Cambria Math"/>
                      </a:rPr>
                      <m:t>ℝ</m:t>
                    </m:r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soluția curentă reprezentată prin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</m:oMath>
                </a14:m>
                <a:r>
                  <a:rPr lang="ro-RO" sz="1800" dirty="0"/>
                  <a:t>. Rezultatul mutației este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 obținut prin: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ETAPA 1. modifică dimensiunea pasului de fluaj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𝜎</m:t>
                    </m:r>
                  </m:oMath>
                </a14:m>
                <a:r>
                  <a:rPr lang="ro-RO" sz="1800" dirty="0"/>
                  <a:t> și obține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o-RO" sz="1800" dirty="0"/>
                  <a:t>  </a:t>
                </a:r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ETAPA 2. modifică alelele din zona soluție</a:t>
                </a:r>
                <a:r>
                  <a:rPr lang="ro-RO" sz="1800" dirty="0"/>
                  <a:t> pentru fiecare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ro-RO" sz="1800" dirty="0"/>
                  <a:t>,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ro-RO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unde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1800" dirty="0"/>
                  <a:t> este generat aleator din distribuția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o-RO" sz="1800" dirty="0"/>
                  <a:t> calculat la prima etapă)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B. Mai mulți parametri de tip </a:t>
                </a: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</a:rPr>
                      <m:t>𝝈</m:t>
                    </m:r>
                  </m:oMath>
                </a14:m>
                <a:r>
                  <a:rPr lang="ro-RO" sz="1800" dirty="0"/>
                  <a:t>  Mutația </a:t>
                </a:r>
                <a:r>
                  <a:rPr lang="ro-RO" sz="1800" dirty="0">
                    <a:sym typeface="Wingdings" panose="05000000000000000000" pitchFamily="2" charset="2"/>
                  </a:rPr>
                  <a:t></a:t>
                </a:r>
                <a:r>
                  <a:rPr lang="ro-RO" sz="1800" dirty="0"/>
                  <a:t> modificarea valorilor </a:t>
                </a:r>
                <a:r>
                  <a:rPr lang="en-US" sz="1800" dirty="0"/>
                  <a:t>p</a:t>
                </a:r>
                <a:r>
                  <a:rPr lang="ro-RO" sz="1800" dirty="0"/>
                  <a:t>ărții parametrice și apoi aplicarea mutației fluaj cu noii parametri.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334000"/>
              </a:xfrm>
              <a:blipFill>
                <a:blip r:embed="rId2"/>
                <a:stretch>
                  <a:fillRect l="-593" t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56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Mutația. Considerații generale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334000"/>
              </a:xfrm>
            </p:spPr>
            <p:txBody>
              <a:bodyPr/>
              <a:lstStyle/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Individul nou creat,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, este evaluat de două ori: 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solidFill>
                      <a:srgbClr val="FF0000"/>
                    </a:solidFill>
                  </a:rPr>
                  <a:t>direct, prin calculul viabilității </a:t>
                </a:r>
                <a:r>
                  <a:rPr lang="ro-RO" sz="1800" dirty="0"/>
                  <a:t>sale prin evaluarea valorii </a:t>
                </a:r>
                <a14:m>
                  <m:oMath xmlns:m="http://schemas.openxmlformats.org/officeDocument/2006/math"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𝒙</m:t>
                            </m:r>
                          </m:e>
                          <m:sup>
                            <m:r>
                              <a:rPr lang="en-US" sz="1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o-RO" sz="1800" b="1" i="1" dirty="0">
                    <a:solidFill>
                      <a:schemeClr val="tx1"/>
                    </a:solidFill>
                  </a:rPr>
                  <a:t> este viabilă dacă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𝒙</m:t>
                        </m:r>
                      </m:e>
                      <m:sup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o-RO" sz="1800" b="1" i="1" dirty="0">
                    <a:solidFill>
                      <a:schemeClr val="tx1"/>
                    </a:solidFill>
                  </a:rPr>
                  <a:t> este selectat în generația următoare, deci îndeplinește și un criteriu global de calita</a:t>
                </a:r>
                <a:r>
                  <a:rPr lang="en-US" sz="1800" b="1" i="1" dirty="0" err="1">
                    <a:solidFill>
                      <a:schemeClr val="tx1"/>
                    </a:solidFill>
                  </a:rPr>
                  <a:t>te</a:t>
                </a:r>
                <a:endParaRPr lang="ro-RO" sz="1800" dirty="0">
                  <a:solidFill>
                    <a:schemeClr val="tx1"/>
                  </a:solidFill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solidFill>
                      <a:srgbClr val="FF0000"/>
                    </a:solidFill>
                  </a:rPr>
                  <a:t>indirect, din punct de vedere al abilității de a crea urmași buni</a:t>
                </a:r>
                <a:r>
                  <a:rPr lang="ro-RO" sz="1800" dirty="0"/>
                  <a:t>. O nouă valoare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o-RO" sz="1800" dirty="0"/>
                  <a:t> este mai bună decât valoarea inițială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𝜎</m:t>
                    </m:r>
                  </m:oMath>
                </a14:m>
                <a:r>
                  <a:rPr lang="ro-RO" sz="1800" dirty="0"/>
                  <a:t> </a:t>
                </a:r>
                <a:r>
                  <a:rPr lang="ro-RO" sz="1800" b="1" i="1" dirty="0"/>
                  <a:t>dacă urmașii obținuți pe baza ei sunt mai buni</a:t>
                </a:r>
                <a:r>
                  <a:rPr lang="ro-RO" sz="1800" dirty="0"/>
                  <a:t>. 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Auto-adaptarea - </a:t>
                </a:r>
                <a:r>
                  <a:rPr lang="ro-RO" sz="1800" b="1" i="1" dirty="0"/>
                  <a:t>un mecanism care ajustează strategia de mutație în funcție de evoluția algoritmului de căutare</a:t>
                </a:r>
                <a:r>
                  <a:rPr lang="ro-RO" sz="1800" dirty="0"/>
                  <a:t>. </a:t>
                </a: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Prin asignarea câte unei strategii de mutație particularizată fiecărui individ care evoluează în termenii acelei strategii și împreună cu ea este deschisă </a:t>
                </a:r>
                <a:r>
                  <a:rPr lang="ro-RO" sz="1800" b="1" i="1" dirty="0"/>
                  <a:t>posibilitatea învățării și utilizarea unui operator de mutație potrivit fiecărei topologii locale în parte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334000"/>
              </a:xfrm>
              <a:blipFill>
                <a:blip r:embed="rId2"/>
                <a:stretch>
                  <a:fillRect l="-74" t="-571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61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</p:spPr>
            <p:txBody>
              <a:bodyPr/>
              <a:lstStyle/>
              <a:p>
                <a:pPr eaLnBrk="1" hangingPunct="1"/>
                <a:r>
                  <a:rPr lang="ro-RO" sz="2800" b="1" dirty="0">
                    <a:solidFill>
                      <a:schemeClr val="bg2"/>
                    </a:solidFill>
                  </a:rPr>
                  <a:t>ES. Mutația cu un singur parametru </a:t>
                </a:r>
                <a14:m>
                  <m:oMath xmlns:m="http://schemas.openxmlformats.org/officeDocument/2006/math">
                    <m:r>
                      <a:rPr lang="ro-RO" sz="2800" b="1" i="1" smtClean="0">
                        <a:solidFill>
                          <a:schemeClr val="bg2"/>
                        </a:solidFill>
                        <a:latin typeface="Cambria Math"/>
                        <a:ea typeface="Cambria Math"/>
                      </a:rPr>
                      <m:t>𝝈</m:t>
                    </m:r>
                  </m:oMath>
                </a14:m>
                <a:endParaRPr lang="en-US" altLang="en-US" sz="2600" b="1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14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  <a:blipFill rotWithShape="1">
                <a:blip r:embed="rId2"/>
                <a:stretch>
                  <a:fillRect l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Reprezentarea unui vector soluție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este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</m:oMath>
                </a14:m>
                <a:r>
                  <a:rPr lang="ro-RO" sz="1800" dirty="0"/>
                  <a:t> cromozom curent</a:t>
                </a:r>
                <a:r>
                  <a:rPr lang="en-US" sz="1800" dirty="0"/>
                  <a:t>;</a:t>
                </a:r>
                <a:r>
                  <a:rPr lang="ro-RO" sz="1800" dirty="0"/>
                  <a:t> rezultatul mutației este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b="0" i="0" smtClean="0">
                        <a:latin typeface="Cambria Math"/>
                      </a:rPr>
                      <m:t>:</m:t>
                    </m:r>
                  </m:oMath>
                </a14:m>
                <a:r>
                  <a:rPr lang="ro-RO" sz="1800" dirty="0"/>
                  <a:t>  </a:t>
                </a: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/>
                          </a:rPr>
                          <m:t>(1)</m:t>
                        </m:r>
                        <m:r>
                          <a:rPr lang="ro-RO" sz="1800" i="1">
                            <a:latin typeface="Cambria Math"/>
                          </a:rPr>
                          <m:t>  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= </m:t>
                    </m:r>
                    <m:r>
                      <a:rPr lang="ro-RO" sz="1800" i="1">
                        <a:latin typeface="Cambria Math"/>
                      </a:rPr>
                      <m:t>𝜎</m:t>
                    </m:r>
                    <m:r>
                      <a:rPr lang="ro-RO" sz="1800" i="1">
                        <a:latin typeface="Cambria Math"/>
                      </a:rPr>
                      <m:t>∙</m:t>
                    </m:r>
                    <m:r>
                      <a:rPr lang="ro-RO" sz="1800" i="1">
                        <a:latin typeface="Cambria Math"/>
                      </a:rPr>
                      <m:t>𝑒𝑥𝑝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800" b="0" i="0" smtClean="0">
                        <a:latin typeface="Cambria Math"/>
                      </a:rPr>
                      <m:t>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o-RO" sz="1800" dirty="0"/>
                  <a:t> generat aleator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</m:e>
                    </m:d>
                  </m:oMath>
                </a14:m>
                <a:endParaRPr lang="en-US" sz="1800" dirty="0"/>
              </a:p>
              <a:p>
                <a:pPr algn="ctr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(2)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latin typeface="Cambria Math"/>
                            </a:rPr>
                            <m:t>  </m:t>
                          </m:r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ro-RO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1800" dirty="0"/>
                  <a:t> generat aleator independent din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, pentru fiecare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Regula de </a:t>
                </a:r>
                <a:r>
                  <a:rPr lang="ro-RO" sz="1800" dirty="0"/>
                  <a:t>acualizare</a:t>
                </a:r>
                <a:r>
                  <a:rPr lang="en-US" sz="1800" dirty="0"/>
                  <a:t> (1) – </a:t>
                </a:r>
                <a:r>
                  <a:rPr lang="ro-RO" sz="1800" dirty="0"/>
                  <a:t>distribuția </a:t>
                </a:r>
                <a:r>
                  <a:rPr lang="ro-RO" sz="1800" i="1" dirty="0"/>
                  <a:t>lognormală</a:t>
                </a:r>
                <a:endParaRPr lang="en-US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Fiecare componentă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o-RO" sz="1800" dirty="0"/>
                  <a:t>este mutată </a:t>
                </a:r>
                <a:r>
                  <a:rPr lang="ro-RO" sz="1800" i="1" dirty="0"/>
                  <a:t>independent de celelalte</a:t>
                </a:r>
                <a:r>
                  <a:rPr lang="ro-RO" sz="1800" dirty="0"/>
                  <a:t>, prin generarea câte unei perturbări independente de </a:t>
                </a:r>
                <a:r>
                  <a:rPr lang="ro-RO" sz="1800" i="1" dirty="0"/>
                  <a:t>n</a:t>
                </a:r>
                <a:r>
                  <a:rPr lang="ro-RO" sz="1800" dirty="0"/>
                  <a:t> ori. </a:t>
                </a: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Pentru ca aplicarea relației (2) să fie efectivă, trebuie ca dimensiunea pasului de fluaj să fie superioară unui prag minim dat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-</a:t>
                </a: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𝑑𝑎𝑐</m:t>
                      </m:r>
                      <m:r>
                        <a:rPr lang="ro-RO" sz="1800" i="1">
                          <a:latin typeface="Cambria Math"/>
                        </a:rPr>
                        <m:t>ă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/>
                            </a:rPr>
                            <m:t> </m:t>
                          </m:r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o-RO" sz="1800" i="1">
                          <a:latin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𝜀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, </m:t>
                      </m:r>
                      <m:r>
                        <a:rPr lang="en-US" sz="1800" b="0" i="1" smtClean="0">
                          <a:latin typeface="Cambria Math"/>
                        </a:rPr>
                        <m:t> </m:t>
                      </m:r>
                      <m:r>
                        <a:rPr lang="ro-RO" sz="1800" i="1">
                          <a:latin typeface="Cambria Math"/>
                        </a:rPr>
                        <m:t>𝑎𝑡𝑢𝑛𝑐𝑖</m:t>
                      </m:r>
                      <m:r>
                        <a:rPr lang="ro-RO" sz="1800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/>
                            </a:rPr>
                            <m:t> </m:t>
                          </m:r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o-RO" sz="1800" i="1">
                          <a:latin typeface="Cambria Math"/>
                        </a:rPr>
                        <m:t>←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𝜀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 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𝜏</m:t>
                    </m:r>
                  </m:oMath>
                </a14:m>
                <a:r>
                  <a:rPr lang="ro-RO" sz="1800" dirty="0"/>
                  <a:t> este setat de utilizator și corespunde </a:t>
                </a:r>
                <a:r>
                  <a:rPr lang="ro-RO" sz="1800" i="1" dirty="0"/>
                  <a:t>ratei de instruire</a:t>
                </a:r>
                <a:r>
                  <a:rPr lang="en-US" sz="1800" dirty="0"/>
                  <a:t>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 </m:t>
                    </m:r>
                    <m:r>
                      <a:rPr lang="ro-RO" sz="2000" i="1">
                        <a:latin typeface="Cambria Math"/>
                      </a:rPr>
                      <m:t>𝜏</m:t>
                    </m:r>
                    <m:r>
                      <a:rPr lang="ro-RO" sz="2000" i="1">
                        <a:latin typeface="Cambria Math"/>
                      </a:rPr>
                      <m:t>∝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000" i="1"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o-RO" sz="2000" i="1">
                                <a:latin typeface="Cambria Math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20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3"/>
                <a:stretch>
                  <a:fillRect l="-74" t="-686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204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</p:spPr>
            <p:txBody>
              <a:bodyPr/>
              <a:lstStyle/>
              <a:p>
                <a:pPr eaLnBrk="1" hangingPunct="1"/>
                <a:r>
                  <a:rPr lang="ro-RO" sz="2800" b="1" dirty="0">
                    <a:solidFill>
                      <a:schemeClr val="bg2"/>
                    </a:solidFill>
                  </a:rPr>
                  <a:t>ES. Mutația cu un singur parametru </a:t>
                </a:r>
                <a14:m>
                  <m:oMath xmlns:m="http://schemas.openxmlformats.org/officeDocument/2006/math">
                    <m:r>
                      <a:rPr lang="ro-RO" sz="2800" b="1" i="1" smtClean="0">
                        <a:solidFill>
                          <a:schemeClr val="bg2"/>
                        </a:solidFill>
                        <a:latin typeface="Cambria Math"/>
                        <a:ea typeface="Cambria Math"/>
                      </a:rPr>
                      <m:t>𝝈</m:t>
                    </m:r>
                  </m:oMath>
                </a14:m>
                <a:endParaRPr lang="en-US" altLang="en-US" sz="2600" b="1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14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  <a:blipFill rotWithShape="1">
                <a:blip r:embed="rId2"/>
                <a:stretch>
                  <a:fillRect l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A</a:t>
                </a:r>
                <a:r>
                  <a:rPr lang="ro-RO" sz="1800" dirty="0"/>
                  <a:t>lgoritmul de mutație aplicat genotipului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</m:d>
                  </m:oMath>
                </a14:m>
                <a:r>
                  <a:rPr lang="ro-RO" sz="1800" dirty="0"/>
                  <a:t> pentru calculul rezultatului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 este descris prin.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 </a:t>
                </a:r>
                <a:endParaRPr lang="en-US" sz="1800" dirty="0"/>
              </a:p>
              <a:p>
                <a:pPr lvl="0">
                  <a:buClrTx/>
                  <a:buSzPct val="100000"/>
                  <a:buFont typeface="+mj-lt"/>
                  <a:buAutoNum type="arabicPeriod"/>
                </a:pPr>
                <a:r>
                  <a:rPr lang="ro-RO" sz="1800" dirty="0"/>
                  <a:t>generează aleator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o-RO" sz="1800" dirty="0"/>
                  <a:t> din distribuția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0">
                  <a:buClrTx/>
                  <a:buSzPct val="100000"/>
                  <a:buFont typeface="+mj-lt"/>
                  <a:buAutoNum type="arabicPeriod"/>
                </a:pPr>
                <a:r>
                  <a:rPr lang="ro-RO" sz="1800" dirty="0"/>
                  <a:t>calculează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= </m:t>
                    </m:r>
                    <m:r>
                      <a:rPr lang="ro-RO" sz="1800" i="1">
                        <a:latin typeface="Cambria Math"/>
                      </a:rPr>
                      <m:t>𝜎</m:t>
                    </m:r>
                    <m:r>
                      <a:rPr lang="ro-RO" sz="1800" i="1">
                        <a:latin typeface="Cambria Math"/>
                      </a:rPr>
                      <m:t>∙</m:t>
                    </m:r>
                    <m:r>
                      <a:rPr lang="ro-RO" sz="1800" i="1">
                        <a:latin typeface="Cambria Math"/>
                      </a:rPr>
                      <m:t>𝑒𝑥𝑝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𝜏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lvl="0">
                  <a:buClrTx/>
                  <a:buSzPct val="100000"/>
                  <a:buFont typeface="+mj-lt"/>
                  <a:buAutoNum type="arabicPeriod"/>
                </a:pPr>
                <a:r>
                  <a:rPr lang="ro-RO" sz="18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 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 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←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lvl="0">
                  <a:buClrTx/>
                  <a:buSzPct val="100000"/>
                  <a:buFont typeface="+mj-lt"/>
                  <a:buAutoNum type="arabicPeriod"/>
                </a:pPr>
                <a:r>
                  <a:rPr lang="ro-RO" sz="1800" dirty="0"/>
                  <a:t>for i=1</a:t>
                </a:r>
                <a:r>
                  <a:rPr lang="en-US" sz="1800" dirty="0"/>
                  <a:t>:n</a:t>
                </a:r>
              </a:p>
              <a:p>
                <a:pPr marL="457200" lvl="1" indent="0">
                  <a:buNone/>
                </a:pPr>
                <a:r>
                  <a:rPr lang="en-US" sz="1800" dirty="0"/>
                  <a:t>4.1. </a:t>
                </a:r>
                <a:r>
                  <a:rPr lang="ro-RO" sz="1800" dirty="0"/>
                  <a:t>generează aleator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1800" dirty="0"/>
                  <a:t> din distribuția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/>
              </a:p>
              <a:p>
                <a:pPr marL="457200" lvl="1" indent="0">
                  <a:buNone/>
                </a:pPr>
                <a:r>
                  <a:rPr lang="en-US" sz="1800" dirty="0"/>
                  <a:t>4.2.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În cele mai multe situații </a:t>
                </a:r>
                <a:r>
                  <a:rPr lang="ro-RO" sz="1800" b="1" i="1" dirty="0"/>
                  <a:t>sunt preferate modficările de magnitudine mică </a:t>
                </a:r>
                <a:r>
                  <a:rPr lang="ro-RO" sz="1800" dirty="0"/>
                  <a:t>în detrimentul celor de magnitudine mare, iar </a:t>
                </a:r>
                <a:r>
                  <a:rPr lang="ro-RO" sz="1800" b="1" i="1" dirty="0"/>
                  <a:t>valorile parametrului de tip </a:t>
                </a: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</a:rPr>
                      <m:t>𝝈</m:t>
                    </m:r>
                  </m:oMath>
                </a14:m>
                <a:r>
                  <a:rPr lang="ro-RO" sz="1800" b="1" i="1" dirty="0"/>
                  <a:t> trebuie să fie pozitive</a:t>
                </a:r>
                <a:r>
                  <a:rPr lang="ro-RO" sz="1800" dirty="0"/>
                  <a:t>. 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3"/>
                <a:stretch>
                  <a:fillRect l="-444" t="-686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32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F9E3C6-979F-4A45-9FF1-7E66DBDF07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3" t="11482" r="9574" b="4854"/>
          <a:stretch/>
        </p:blipFill>
        <p:spPr>
          <a:xfrm>
            <a:off x="788040" y="1600523"/>
            <a:ext cx="3727059" cy="288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46A804-5170-47BA-A81F-3EFD82757D06}"/>
                  </a:ext>
                </a:extLst>
              </p:cNvPr>
              <p:cNvSpPr txBox="1"/>
              <p:nvPr/>
            </p:nvSpPr>
            <p:spPr>
              <a:xfrm>
                <a:off x="2043050" y="4964668"/>
                <a:ext cx="2209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= </m:t>
                      </m:r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𝜎</m:t>
                      </m:r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ro-RO">
                          <a:solidFill>
                            <a:srgbClr val="0000FF"/>
                          </a:solidFill>
                          <a:latin typeface="Cambria Math"/>
                        </a:rPr>
                        <m:t>exp</m:t>
                      </m:r>
                      <m:r>
                        <a:rPr lang="ro-RO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𝜏</m:t>
                          </m:r>
                        </m:sub>
                      </m:sSub>
                      <m:r>
                        <a:rPr lang="ro-RO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46A804-5170-47BA-A81F-3EFD82757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050" y="4964668"/>
                <a:ext cx="2209800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1985E7-4DCA-4674-A4DC-8603CA4C48D2}"/>
                  </a:ext>
                </a:extLst>
              </p:cNvPr>
              <p:cNvSpPr txBox="1"/>
              <p:nvPr/>
            </p:nvSpPr>
            <p:spPr>
              <a:xfrm>
                <a:off x="208128" y="4529137"/>
                <a:ext cx="389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𝜏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1985E7-4DCA-4674-A4DC-8603CA4C4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28" y="4529137"/>
                <a:ext cx="3891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14C727-692A-4CEA-BF38-7F775DF81006}"/>
                  </a:ext>
                </a:extLst>
              </p:cNvPr>
              <p:cNvSpPr txBox="1"/>
              <p:nvPr/>
            </p:nvSpPr>
            <p:spPr>
              <a:xfrm>
                <a:off x="6096000" y="5442143"/>
                <a:ext cx="1600200" cy="396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14C727-692A-4CEA-BF38-7F775DF81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42143"/>
                <a:ext cx="1600200" cy="396519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705BC2C-742C-4870-92D2-5C26A8B750AD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97326" y="4503365"/>
            <a:ext cx="1104900" cy="210438"/>
          </a:xfrm>
          <a:prstGeom prst="curvedConnector3">
            <a:avLst>
              <a:gd name="adj1" fmla="val 9615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6882E248-ADAB-4F69-A83C-3A49ADFA4B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66148" y="4437748"/>
            <a:ext cx="878104" cy="45720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50" name="Picture 14349">
            <a:extLst>
              <a:ext uri="{FF2B5EF4-FFF2-40B4-BE49-F238E27FC236}">
                <a16:creationId xmlns:a16="http://schemas.microsoft.com/office/drawing/2014/main" id="{497472DA-B897-47A4-8B81-ED894502FF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8" t="11482" r="9707" b="4854"/>
          <a:stretch/>
        </p:blipFill>
        <p:spPr>
          <a:xfrm>
            <a:off x="4838700" y="1600523"/>
            <a:ext cx="3755294" cy="28800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05BBCD8-3B92-44C8-9EE0-84F37E71796A}"/>
              </a:ext>
            </a:extLst>
          </p:cNvPr>
          <p:cNvGrpSpPr/>
          <p:nvPr/>
        </p:nvGrpSpPr>
        <p:grpSpPr>
          <a:xfrm>
            <a:off x="2535099" y="4419599"/>
            <a:ext cx="3256101" cy="1022543"/>
            <a:chOff x="2535099" y="4300523"/>
            <a:chExt cx="3256101" cy="1141620"/>
          </a:xfrm>
        </p:grpSpPr>
        <p:cxnSp>
          <p:nvCxnSpPr>
            <p:cNvPr id="14352" name="Connector: Curved 14351">
              <a:extLst>
                <a:ext uri="{FF2B5EF4-FFF2-40B4-BE49-F238E27FC236}">
                  <a16:creationId xmlns:a16="http://schemas.microsoft.com/office/drawing/2014/main" id="{7437BB4B-327B-4B11-8907-C274347712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399" y="4300523"/>
              <a:ext cx="1447801" cy="1141620"/>
            </a:xfrm>
            <a:prstGeom prst="curvedConnector3">
              <a:avLst>
                <a:gd name="adj1" fmla="val 99798"/>
              </a:avLst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Curved 62">
              <a:extLst>
                <a:ext uri="{FF2B5EF4-FFF2-40B4-BE49-F238E27FC236}">
                  <a16:creationId xmlns:a16="http://schemas.microsoft.com/office/drawing/2014/main" id="{AD1F16F5-1327-4EDE-81BD-4AAD059CBF5B}"/>
                </a:ext>
              </a:extLst>
            </p:cNvPr>
            <p:cNvCxnSpPr>
              <a:cxnSpLocks/>
            </p:cNvCxnSpPr>
            <p:nvPr/>
          </p:nvCxnSpPr>
          <p:spPr>
            <a:xfrm>
              <a:off x="2535099" y="5274621"/>
              <a:ext cx="1778992" cy="167522"/>
            </a:xfrm>
            <a:prstGeom prst="curvedConnector3">
              <a:avLst>
                <a:gd name="adj1" fmla="val 83"/>
              </a:avLst>
            </a:prstGeom>
            <a:ln w="444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6386FC9D-3943-4631-BDFD-4481EAC48BD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39070" y="4517630"/>
            <a:ext cx="1292748" cy="712084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</p:spPr>
            <p:txBody>
              <a:bodyPr/>
              <a:lstStyle/>
              <a:p>
                <a:pPr eaLnBrk="1" hangingPunct="1"/>
                <a:r>
                  <a:rPr lang="ro-RO" sz="2800" b="1" dirty="0">
                    <a:solidFill>
                      <a:schemeClr val="bg2"/>
                    </a:solidFill>
                  </a:rPr>
                  <a:t>ES. Mutația cu un singur parametru </a:t>
                </a:r>
                <a14:m>
                  <m:oMath xmlns:m="http://schemas.openxmlformats.org/officeDocument/2006/math">
                    <m:r>
                      <a:rPr lang="ro-RO" sz="2800" b="1" i="1" smtClean="0">
                        <a:solidFill>
                          <a:schemeClr val="bg2"/>
                        </a:solidFill>
                        <a:latin typeface="Cambria Math"/>
                        <a:ea typeface="Cambria Math"/>
                      </a:rPr>
                      <m:t>𝝈</m:t>
                    </m:r>
                  </m:oMath>
                </a14:m>
                <a:endParaRPr lang="en-US" altLang="en-US" sz="2600" b="1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  <a:blipFill rotWithShape="1">
                <a:blip r:embed="rId9"/>
                <a:stretch>
                  <a:fillRect l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72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</p:spPr>
            <p:txBody>
              <a:bodyPr/>
              <a:lstStyle/>
              <a:p>
                <a:pPr eaLnBrk="1" hangingPunct="1"/>
                <a:r>
                  <a:rPr lang="ro-RO" sz="2800" b="1" dirty="0">
                    <a:solidFill>
                      <a:schemeClr val="bg2"/>
                    </a:solidFill>
                  </a:rPr>
                  <a:t>ES. Mutația necorelată cu </a:t>
                </a:r>
                <a:r>
                  <a:rPr lang="ro-RO" sz="2800" b="1" i="1" dirty="0">
                    <a:solidFill>
                      <a:schemeClr val="bg2"/>
                    </a:solidFill>
                  </a:rPr>
                  <a:t>n</a:t>
                </a:r>
                <a:r>
                  <a:rPr lang="ro-RO" sz="2800" b="1" dirty="0">
                    <a:solidFill>
                      <a:schemeClr val="bg2"/>
                    </a:solidFill>
                  </a:rPr>
                  <a:t> parametri </a:t>
                </a:r>
                <a14:m>
                  <m:oMath xmlns:m="http://schemas.openxmlformats.org/officeDocument/2006/math">
                    <m:r>
                      <a:rPr lang="ro-RO" sz="2800" b="1" i="1" smtClean="0">
                        <a:solidFill>
                          <a:schemeClr val="bg2"/>
                        </a:solidFill>
                        <a:latin typeface="Cambria Math"/>
                        <a:ea typeface="Cambria Math"/>
                      </a:rPr>
                      <m:t>𝝈</m:t>
                    </m:r>
                  </m:oMath>
                </a14:m>
                <a:endParaRPr lang="en-US" altLang="en-US" sz="2600" b="1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14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  <a:blipFill rotWithShape="1">
                <a:blip r:embed="rId2"/>
                <a:stretch>
                  <a:fillRect l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Scopul - tratarea diferită a mutației fiecărei componente.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Modificarea dimeniunii fiecărui pas de mutație este realizată pe baza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𝜏</m:t>
                      </m:r>
                      <m:r>
                        <a:rPr lang="ro-RO" sz="1800" i="1">
                          <a:latin typeface="Cambria Math"/>
                        </a:rPr>
                        <m:t>∝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2∙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</m:rad>
                            </m:e>
                          </m:rad>
                        </m:den>
                      </m:f>
                      <m:r>
                        <a:rPr lang="ro-RO" sz="1800" b="0" i="1" smtClean="0">
                          <a:latin typeface="Cambria Math"/>
                        </a:rPr>
                        <m:t>, 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/>
                            </a:rPr>
                            <m:t>𝜏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ro-RO" sz="1800" i="1">
                          <a:latin typeface="Cambria Math"/>
                        </a:rPr>
                        <m:t>∝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2∙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…,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genotipul curent. Genotipul mutat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ro-RO" sz="1800" dirty="0"/>
                  <a:t> este calculat pe baza relațiilor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3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   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ro-RO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ro-RO" sz="18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∙</m:t>
                      </m:r>
                      <m:r>
                        <a:rPr lang="ro-RO" sz="1800" i="1">
                          <a:latin typeface="Cambria Math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𝜏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18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𝑟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𝜏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o-RO" sz="1800" dirty="0"/>
                  <a:t> este generat aleator din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𝜏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/>
                  <a:t> (o singură valoare pentru toate componentele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dirty="0"/>
                  <a:t>) </a:t>
                </a: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pentru fiecare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este generat aleator din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</m:e>
                    </m:d>
                  </m:oMath>
                </a14:m>
                <a:r>
                  <a:rPr lang="ro-RO" sz="1800" dirty="0"/>
                  <a:t> (câte o valoare generată independent de celelalte pentru fiecare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</m:d>
                          <m:r>
                            <a:rPr lang="ro-RO" sz="1800" i="1">
                              <a:latin typeface="Cambria Math"/>
                            </a:rPr>
                            <m:t>   </m:t>
                          </m:r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ro-RO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1800" dirty="0"/>
                  <a:t> este generat aleator din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ro-RO" sz="1800" dirty="0"/>
                  <a:t> (câte o valoare generată independent de celelalte pentru fiecare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dirty="0"/>
                  <a:t>).</a:t>
                </a: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 rotWithShape="1">
                <a:blip r:embed="rId3"/>
                <a:stretch>
                  <a:fillRect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782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</p:spPr>
            <p:txBody>
              <a:bodyPr/>
              <a:lstStyle/>
              <a:p>
                <a:pPr eaLnBrk="1" hangingPunct="1"/>
                <a:r>
                  <a:rPr lang="ro-RO" sz="2800" b="1" dirty="0">
                    <a:solidFill>
                      <a:schemeClr val="bg2"/>
                    </a:solidFill>
                  </a:rPr>
                  <a:t>ES. Mutația necorelată cu </a:t>
                </a:r>
                <a:r>
                  <a:rPr lang="ro-RO" sz="2800" b="1" i="1" dirty="0">
                    <a:solidFill>
                      <a:schemeClr val="bg2"/>
                    </a:solidFill>
                  </a:rPr>
                  <a:t>n</a:t>
                </a:r>
                <a:r>
                  <a:rPr lang="ro-RO" sz="2800" b="1" dirty="0">
                    <a:solidFill>
                      <a:schemeClr val="bg2"/>
                    </a:solidFill>
                  </a:rPr>
                  <a:t> parametri </a:t>
                </a:r>
                <a14:m>
                  <m:oMath xmlns:m="http://schemas.openxmlformats.org/officeDocument/2006/math">
                    <m:r>
                      <a:rPr lang="ro-RO" sz="2800" b="1" i="1" smtClean="0">
                        <a:solidFill>
                          <a:schemeClr val="bg2"/>
                        </a:solidFill>
                        <a:latin typeface="Cambria Math"/>
                        <a:ea typeface="Cambria Math"/>
                      </a:rPr>
                      <m:t>𝝈</m:t>
                    </m:r>
                  </m:oMath>
                </a14:m>
                <a:endParaRPr lang="en-US" altLang="en-US" sz="2600" b="1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614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  <a:blipFill rotWithShape="1">
                <a:blip r:embed="rId2"/>
                <a:stretch>
                  <a:fillRect l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 Dacă în urma aplicării relației (3)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o-RO" sz="1800" dirty="0"/>
                  <a:t> rezultă sub un prag dat,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</m:oMath>
                </a14:m>
                <a:r>
                  <a:rPr lang="ro-RO" sz="1800" dirty="0"/>
                  <a:t>, atunci setează noua dimensiune la valoarea acelui prag: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𝑑𝑎𝑐</m:t>
                    </m:r>
                    <m:r>
                      <a:rPr lang="ro-RO" sz="1800" i="1">
                        <a:latin typeface="Cambria Math"/>
                      </a:rPr>
                      <m:t>ă   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, </m:t>
                    </m:r>
                    <m:r>
                      <a:rPr lang="ro-RO" sz="1800" i="1">
                        <a:latin typeface="Cambria Math"/>
                      </a:rPr>
                      <m:t>𝑎𝑡𝑢𝑛𝑐𝑖</m:t>
                    </m:r>
                    <m:r>
                      <a:rPr lang="ro-RO" sz="1800" i="1">
                        <a:latin typeface="Cambria Math"/>
                      </a:rPr>
                      <m:t>   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←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Algoritmul de mutație aplicat genotipului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…,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pentru calculul rezultatului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ro-RO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ro-RO" sz="1800" dirty="0"/>
                  <a:t> este descris prin.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lvl="0" indent="0">
                  <a:buNone/>
                </a:pPr>
                <a:r>
                  <a:rPr lang="ro-RO" sz="1800" dirty="0"/>
                  <a:t>1. generează aleator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𝜏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ro-RO" sz="1800" dirty="0"/>
                  <a:t> din distribuția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𝜏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1800" dirty="0"/>
              </a:p>
              <a:p>
                <a:pPr marL="0" lvl="0" indent="0">
                  <a:buNone/>
                </a:pPr>
                <a:r>
                  <a:rPr lang="ro-RO" sz="1800" dirty="0"/>
                  <a:t>2. for i=1</a:t>
                </a:r>
                <a:r>
                  <a:rPr lang="en-US" sz="1800" dirty="0"/>
                  <a:t>:n</a:t>
                </a:r>
              </a:p>
              <a:p>
                <a:pPr marL="457200" lvl="1" indent="0">
                  <a:buNone/>
                </a:pPr>
                <a:r>
                  <a:rPr lang="ro-RO" sz="1800" dirty="0"/>
                  <a:t>2.1. generează aleator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din distribuția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r>
                          <a:rPr lang="ro-RO" sz="1800" i="1">
                            <a:latin typeface="Cambria Math"/>
                          </a:rPr>
                          <m:t>𝜏</m:t>
                        </m:r>
                      </m:e>
                    </m:d>
                  </m:oMath>
                </a14:m>
                <a:endParaRPr lang="en-US" sz="1800" dirty="0"/>
              </a:p>
              <a:p>
                <a:pPr marL="457200" lvl="1" indent="0">
                  <a:buNone/>
                </a:pPr>
                <a:r>
                  <a:rPr lang="ro-RO" sz="1800" dirty="0"/>
                  <a:t>2.2. calculează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∙</m:t>
                    </m:r>
                    <m:r>
                      <a:rPr lang="ro-RO" sz="1800" i="1">
                        <a:latin typeface="Cambria Math"/>
                      </a:rPr>
                      <m:t>𝑒𝑥𝑝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𝜏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,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en-US" sz="1800" i="1"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marL="457200" lvl="1" indent="0">
                  <a:buNone/>
                </a:pPr>
                <a:r>
                  <a:rPr lang="ro-RO" sz="1800" dirty="0"/>
                  <a:t>2.3.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←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0" lvl="0" indent="0">
                  <a:buNone/>
                </a:pPr>
                <a:r>
                  <a:rPr lang="ro-RO" sz="1800" dirty="0"/>
                  <a:t>3. for i=1</a:t>
                </a:r>
                <a:r>
                  <a:rPr lang="en-US" sz="1800" dirty="0"/>
                  <a:t>:n</a:t>
                </a:r>
              </a:p>
              <a:p>
                <a:pPr marL="457200" lvl="1" indent="0">
                  <a:buNone/>
                </a:pPr>
                <a:r>
                  <a:rPr lang="ro-RO" sz="1800" dirty="0"/>
                  <a:t>3.1. generează aleator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1800" dirty="0"/>
                  <a:t> din distribuția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ro-RO" sz="1800" i="1" dirty="0"/>
              </a:p>
              <a:p>
                <a:pPr marL="457200" lvl="1" indent="0">
                  <a:buNone/>
                </a:pPr>
                <a:r>
                  <a:rPr lang="ro-RO" sz="1800" dirty="0"/>
                  <a:t>3.2.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 </m:t>
                        </m:r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/>
                          </a:rPr>
                          <m:t>′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o-RO" sz="1800" dirty="0"/>
                  <a:t> 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 rotWithShape="1">
                <a:blip r:embed="rId3"/>
                <a:stretch>
                  <a:fillRect l="-593" t="-571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73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F9E3C6-979F-4A45-9FF1-7E66DBDF07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3" t="11482" r="9574" b="4854"/>
          <a:stretch/>
        </p:blipFill>
        <p:spPr>
          <a:xfrm>
            <a:off x="1038763" y="1614679"/>
            <a:ext cx="3261177" cy="25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46A804-5170-47BA-A81F-3EFD82757D06}"/>
                  </a:ext>
                </a:extLst>
              </p:cNvPr>
              <p:cNvSpPr txBox="1"/>
              <p:nvPr/>
            </p:nvSpPr>
            <p:spPr>
              <a:xfrm>
                <a:off x="4221346" y="4128569"/>
                <a:ext cx="2971800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𝜎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′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o-RO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ro-RO">
                          <a:solidFill>
                            <a:srgbClr val="0000FF"/>
                          </a:solidFill>
                          <a:latin typeface="Cambria Math"/>
                        </a:rPr>
                        <m:t>exp</m:t>
                      </m:r>
                      <m:r>
                        <a:rPr lang="ro-RO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𝜏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sSup>
                            <m:sSup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ro-RO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46A804-5170-47BA-A81F-3EFD82757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346" y="4128569"/>
                <a:ext cx="2971800" cy="381515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1985E7-4DCA-4674-A4DC-8603CA4C48D2}"/>
                  </a:ext>
                </a:extLst>
              </p:cNvPr>
              <p:cNvSpPr txBox="1"/>
              <p:nvPr/>
            </p:nvSpPr>
            <p:spPr>
              <a:xfrm>
                <a:off x="228600" y="3061789"/>
                <a:ext cx="389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𝜏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1985E7-4DCA-4674-A4DC-8603CA4C4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061789"/>
                <a:ext cx="3891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14C727-692A-4CEA-BF38-7F775DF81006}"/>
                  </a:ext>
                </a:extLst>
              </p:cNvPr>
              <p:cNvSpPr txBox="1"/>
              <p:nvPr/>
            </p:nvSpPr>
            <p:spPr>
              <a:xfrm>
                <a:off x="6831623" y="5227627"/>
                <a:ext cx="1600200" cy="396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</m:t>
                          </m:r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o-RO" i="1">
                          <a:solidFill>
                            <a:srgbClr val="0000FF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14C727-692A-4CEA-BF38-7F775DF81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623" y="5227627"/>
                <a:ext cx="1600200" cy="396519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705BC2C-742C-4870-92D2-5C26A8B750A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617798" y="3246455"/>
            <a:ext cx="1287202" cy="518929"/>
          </a:xfrm>
          <a:prstGeom prst="curvedConnector3">
            <a:avLst>
              <a:gd name="adj1" fmla="val 998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50" name="Picture 14349">
            <a:extLst>
              <a:ext uri="{FF2B5EF4-FFF2-40B4-BE49-F238E27FC236}">
                <a16:creationId xmlns:a16="http://schemas.microsoft.com/office/drawing/2014/main" id="{497472DA-B897-47A4-8B81-ED894502FF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8" t="11482" r="9707" b="4854"/>
          <a:stretch/>
        </p:blipFill>
        <p:spPr>
          <a:xfrm>
            <a:off x="5575590" y="1540508"/>
            <a:ext cx="3285882" cy="2520000"/>
          </a:xfrm>
          <a:prstGeom prst="rect">
            <a:avLst/>
          </a:prstGeom>
        </p:spPr>
      </p:pic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6386FC9D-3943-4631-BDFD-4481EAC48BD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39042" y="4061432"/>
            <a:ext cx="1398392" cy="93400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0A34F27-0CE9-4DDF-AFF8-9AC96BAF352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3" t="11482" r="9574" b="5675"/>
          <a:stretch/>
        </p:blipFill>
        <p:spPr>
          <a:xfrm>
            <a:off x="1006475" y="4249170"/>
            <a:ext cx="3293465" cy="252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CC6889-A761-4DD8-942D-B699E44477E9}"/>
                  </a:ext>
                </a:extLst>
              </p:cNvPr>
              <p:cNvSpPr txBox="1"/>
              <p:nvPr/>
            </p:nvSpPr>
            <p:spPr>
              <a:xfrm>
                <a:off x="228600" y="3635830"/>
                <a:ext cx="389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𝜏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3CC6889-A761-4DD8-942D-B699E4447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635830"/>
                <a:ext cx="38919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F99E818-B52F-49EC-8AB5-F518CC456896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617798" y="3820496"/>
            <a:ext cx="1211002" cy="2521862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6882E248-ADAB-4F69-A83C-3A49ADFA4B0A}"/>
              </a:ext>
            </a:extLst>
          </p:cNvPr>
          <p:cNvCxnSpPr>
            <a:cxnSpLocks/>
          </p:cNvCxnSpPr>
          <p:nvPr/>
        </p:nvCxnSpPr>
        <p:spPr>
          <a:xfrm flipV="1">
            <a:off x="3048000" y="4510084"/>
            <a:ext cx="3429001" cy="18322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99E4409B-06AD-4BF5-97BB-AFC1EF77C1AF}"/>
              </a:ext>
            </a:extLst>
          </p:cNvPr>
          <p:cNvCxnSpPr>
            <a:cxnSpLocks/>
          </p:cNvCxnSpPr>
          <p:nvPr/>
        </p:nvCxnSpPr>
        <p:spPr>
          <a:xfrm>
            <a:off x="3352800" y="3765384"/>
            <a:ext cx="2667000" cy="4344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971772A2-834E-49C3-8295-BDC6EF745F7A}"/>
              </a:ext>
            </a:extLst>
          </p:cNvPr>
          <p:cNvCxnSpPr>
            <a:cxnSpLocks/>
          </p:cNvCxnSpPr>
          <p:nvPr/>
        </p:nvCxnSpPr>
        <p:spPr>
          <a:xfrm flipV="1">
            <a:off x="4648202" y="3962400"/>
            <a:ext cx="1600198" cy="237482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</p:spPr>
            <p:txBody>
              <a:bodyPr/>
              <a:lstStyle/>
              <a:p>
                <a:pPr eaLnBrk="1" hangingPunct="1"/>
                <a:r>
                  <a:rPr lang="ro-RO" sz="2800" b="1" dirty="0">
                    <a:solidFill>
                      <a:schemeClr val="bg2"/>
                    </a:solidFill>
                  </a:rPr>
                  <a:t>ES. Mutația necorelată cu </a:t>
                </a:r>
                <a:r>
                  <a:rPr lang="ro-RO" sz="2800" b="1" i="1" dirty="0">
                    <a:solidFill>
                      <a:schemeClr val="bg2"/>
                    </a:solidFill>
                  </a:rPr>
                  <a:t>n</a:t>
                </a:r>
                <a:r>
                  <a:rPr lang="ro-RO" sz="2800" b="1" dirty="0">
                    <a:solidFill>
                      <a:schemeClr val="bg2"/>
                    </a:solidFill>
                  </a:rPr>
                  <a:t> parametri </a:t>
                </a:r>
                <a14:m>
                  <m:oMath xmlns:m="http://schemas.openxmlformats.org/officeDocument/2006/math">
                    <m:r>
                      <a:rPr lang="ro-RO" sz="2800" b="1" i="1" smtClean="0">
                        <a:solidFill>
                          <a:schemeClr val="bg2"/>
                        </a:solidFill>
                        <a:latin typeface="Cambria Math"/>
                        <a:ea typeface="Cambria Math"/>
                      </a:rPr>
                      <m:t>𝝈</m:t>
                    </m:r>
                  </m:oMath>
                </a14:m>
                <a:endParaRPr lang="en-US" altLang="en-US" sz="2600" b="1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9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  <a:blipFill rotWithShape="1">
                <a:blip r:embed="rId11"/>
                <a:stretch>
                  <a:fillRect l="-1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10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Selecția părinților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În cadrul procedurilor ES, selecția părinților nu este influențată de calitatea indivizilor (valorile funcției de fitness), </a:t>
                </a:r>
                <a:r>
                  <a:rPr lang="ro-RO" sz="1800" b="1" dirty="0"/>
                  <a:t>fiecare populație la momentul curent </a:t>
                </a:r>
                <a:r>
                  <a:rPr lang="ro-RO" sz="1800" b="1" i="1" dirty="0"/>
                  <a:t>i</a:t>
                </a:r>
                <a:r>
                  <a:rPr lang="ro-RO" sz="1800" b="1" dirty="0"/>
                  <a:t> fiind considerată </a:t>
                </a:r>
                <a:r>
                  <a:rPr lang="ro-RO" sz="1800" b="1" i="1" dirty="0"/>
                  <a:t>populație părinte</a:t>
                </a:r>
                <a:r>
                  <a:rPr lang="ro-RO" sz="1800" dirty="0"/>
                  <a:t>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Pentru implementarea operatorului de recombinare, părinții sunt aleși aleator uniform din populația curentă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𝒫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(</a:t>
                </a:r>
                <a:r>
                  <a:rPr lang="ro-RO" sz="1800" dirty="0"/>
                  <a:t>vezi schema generală de recombinare)</a:t>
                </a:r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2"/>
                <a:stretch>
                  <a:fillRect l="-74" t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35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Recombinarea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R</a:t>
                </a:r>
                <a:r>
                  <a:rPr lang="ro-RO" sz="1800" dirty="0"/>
                  <a:t>ecombinare primară în ES - utilizarea a doi cromozomi părinți pentru crearea unui individ copil. Obținerea unui multiset cu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𝜆</m:t>
                    </m:r>
                  </m:oMath>
                </a14:m>
                <a:r>
                  <a:rPr lang="ro-RO" sz="1800" dirty="0"/>
                  <a:t> progenituri revine la aplicarea operației de recombinare de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𝜆</m:t>
                    </m:r>
                  </m:oMath>
                </a14:m>
                <a:r>
                  <a:rPr lang="ro-RO" sz="1800" dirty="0"/>
                  <a:t> ori. </a:t>
                </a: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Modele de recombinare</a:t>
                </a:r>
                <a:r>
                  <a:rPr lang="en-US" sz="1800" dirty="0"/>
                  <a:t>:</a:t>
                </a:r>
                <a:r>
                  <a:rPr lang="ro-RO" sz="1800" i="1" dirty="0"/>
                  <a:t>discretă</a:t>
                </a:r>
                <a:r>
                  <a:rPr lang="ro-RO" sz="1800" dirty="0"/>
                  <a:t> </a:t>
                </a:r>
                <a:r>
                  <a:rPr lang="ro-RO" sz="1800" i="1" dirty="0"/>
                  <a:t>și indirectă </a:t>
                </a:r>
                <a:r>
                  <a:rPr lang="ro-RO" sz="1800" dirty="0"/>
                  <a:t>(</a:t>
                </a:r>
                <a:r>
                  <a:rPr lang="ro-RO" sz="1800" i="1" dirty="0"/>
                  <a:t>mediată</a:t>
                </a:r>
                <a:r>
                  <a:rPr lang="ro-RO" sz="1800" dirty="0"/>
                  <a:t> sau </a:t>
                </a:r>
                <a:r>
                  <a:rPr lang="ro-RO" sz="1800" i="1" dirty="0"/>
                  <a:t>prin medie</a:t>
                </a:r>
                <a:r>
                  <a:rPr lang="ro-RO" sz="1800" dirty="0"/>
                  <a:t>). 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Recombinarea discretă</a:t>
                </a:r>
                <a:r>
                  <a:rPr lang="en-US" sz="1800" dirty="0"/>
                  <a:t>:</a:t>
                </a:r>
                <a:r>
                  <a:rPr lang="ro-RO" sz="1800" dirty="0"/>
                  <a:t> fiecare alelă a cromozomului copil este construită prin selecția aleatoare a alelei corespunzătoare dintr-un părinte.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Recombinarea intermediară</a:t>
                </a:r>
                <a:r>
                  <a:rPr lang="ro-RO" sz="1800" dirty="0"/>
                  <a:t>: fiecare alelă a progeniturii este construită ca medie aritmetică a alelelor corespunzătoare din cromozomii părinte. </a:t>
                </a: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𝑎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și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𝑏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cromozomii părinte</a:t>
                </a:r>
                <a:r>
                  <a:rPr lang="en-US" sz="1800" dirty="0"/>
                  <a:t>;</a:t>
                </a:r>
                <a:r>
                  <a:rPr lang="ro-RO" sz="1800" dirty="0"/>
                  <a:t> progenitura </a:t>
                </a:r>
                <a:r>
                  <a:rPr lang="ro-RO" sz="1800" i="1" dirty="0"/>
                  <a:t>c</a:t>
                </a:r>
                <a:r>
                  <a:rPr lang="en-US" sz="1800" i="1" dirty="0"/>
                  <a:t>: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𝑐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o-RO" sz="1800" i="1">
                                      <a:latin typeface="Cambria Math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o-RO" sz="1800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ro-RO" sz="1800" i="1">
                                      <a:latin typeface="Cambria Math"/>
                                    </a:rPr>
                                    <m:t>𝑏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ro-RO" sz="1800" i="1">
                                  <a:latin typeface="Cambria Math"/>
                                </a:rPr>
                                <m:t>,                         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î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n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cazul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recombin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ă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rii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indirecte</m:t>
                              </m:r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sau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𝑏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aleator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,  î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n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cazul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recombin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ă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rii</m:t>
                              </m:r>
                              <m:r>
                                <a:rPr lang="ro-RO" sz="18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ro-RO" sz="1800">
                                  <a:latin typeface="Cambria Math"/>
                                </a:rPr>
                                <m:t>discrete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pentru fiecare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2"/>
                <a:stretch>
                  <a:fillRect l="-593" t="-686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861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Recombinarea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 Una dintre cele mai utilizate proceduri de recombinare în cadrul algotimilor ES este</a:t>
                </a:r>
                <a:r>
                  <a:rPr lang="en-US" sz="1800" dirty="0"/>
                  <a:t> </a:t>
                </a:r>
                <a:r>
                  <a:rPr lang="ro-RO" sz="1800" b="1" dirty="0"/>
                  <a:t>recombinarea</a:t>
                </a:r>
                <a:r>
                  <a:rPr lang="en-US" sz="1800" b="1" dirty="0"/>
                  <a:t> global</a:t>
                </a:r>
                <a:r>
                  <a:rPr lang="ro-RO" sz="1800" b="1" dirty="0"/>
                  <a:t>ă</a:t>
                </a:r>
                <a:r>
                  <a:rPr lang="ro-RO" sz="1800" dirty="0"/>
                  <a:t>, o extensie a schemei primare de recombinare </a:t>
                </a:r>
                <a:r>
                  <a:rPr lang="ro-RO" sz="1800" i="1" dirty="0"/>
                  <a:t>prin utilizarea câte unei perechi de părinți pentru fiecare genă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ro-RO" sz="1800" dirty="0"/>
                  <a:t>.</a:t>
                </a:r>
                <a:r>
                  <a:rPr lang="en-US" sz="1800" dirty="0"/>
                  <a:t> </a:t>
                </a: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Algoritmul recombinare_globală(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𝒫</m:t>
                    </m:r>
                  </m:oMath>
                </a14:m>
                <a:r>
                  <a:rPr lang="ro-RO" sz="1800" dirty="0"/>
                  <a:t>)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for i=1</a:t>
                </a:r>
                <a:r>
                  <a:rPr lang="en-US" sz="1800" dirty="0"/>
                  <a:t>:n</a:t>
                </a:r>
              </a:p>
              <a:p>
                <a:pPr lvl="1"/>
                <a:r>
                  <a:rPr lang="ro-RO" sz="1800" dirty="0"/>
                  <a:t>generează aleator două poziții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𝜇</m:t>
                        </m:r>
                      </m:e>
                    </m:d>
                  </m:oMath>
                </a14:m>
                <a:r>
                  <a:rPr lang="ro-RO" sz="1800" dirty="0"/>
                  <a:t> și consideră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𝑏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ro-RO" sz="1800" dirty="0"/>
                  <a:t> cromozomii populației curente din pozițiile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lvl="1"/>
                <a:r>
                  <a:rPr lang="ro-RO" sz="1800" dirty="0"/>
                  <a:t>calculează </a:t>
                </a:r>
                <a:br>
                  <a:rPr lang="ro-RO" sz="1800" dirty="0"/>
                </a:b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𝑖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ro-RO" sz="1800" i="1">
                                    <a:latin typeface="Cambria Math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𝑖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o-RO" sz="1800" i="1"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ro-RO" sz="1800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ro-RO" sz="1800" i="1">
                                <a:latin typeface="Cambria Math"/>
                              </a:rPr>
                              <m:t>,                         </m:t>
                            </m:r>
                            <m:r>
                              <a:rPr lang="ro-RO" sz="1800">
                                <a:latin typeface="Cambria Math"/>
                              </a:rPr>
                              <m:t>î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n</m:t>
                            </m:r>
                            <m:r>
                              <a:rPr lang="ro-RO" sz="180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cazul</m:t>
                            </m:r>
                            <m:r>
                              <a:rPr lang="ro-RO" sz="180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recombin</m:t>
                            </m:r>
                            <m:r>
                              <a:rPr lang="ro-RO" sz="1800">
                                <a:latin typeface="Cambria Math"/>
                              </a:rPr>
                              <m:t>ă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rii</m:t>
                            </m:r>
                            <m:r>
                              <a:rPr lang="ro-RO" sz="180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indirecte</m:t>
                            </m:r>
                          </m:e>
                          <m:e>
                            <m:r>
                              <a:rPr lang="ro-RO" sz="1800" i="1">
                                <a:latin typeface="Cambria Math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o-RO" sz="1800" i="1">
                                    <a:latin typeface="Cambria Math"/>
                                  </a:rPr>
                                  <m:t>𝑖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o-RO" sz="1800" i="1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sau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ro-RO" sz="1800" i="1">
                                    <a:latin typeface="Cambria Math"/>
                                  </a:rPr>
                                  <m:t>𝑖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o-RO" sz="1800" i="1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aleator</m:t>
                            </m:r>
                            <m:r>
                              <a:rPr lang="ro-RO" sz="1800">
                                <a:latin typeface="Cambria Math"/>
                              </a:rPr>
                              <m:t>,  î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n</m:t>
                            </m:r>
                            <m:r>
                              <a:rPr lang="ro-RO" sz="180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cazul</m:t>
                            </m:r>
                            <m:r>
                              <a:rPr lang="ro-RO" sz="180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recombin</m:t>
                            </m:r>
                            <m:r>
                              <a:rPr lang="ro-RO" sz="1800">
                                <a:latin typeface="Cambria Math"/>
                              </a:rPr>
                              <m:t>ă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rii</m:t>
                            </m:r>
                            <m:r>
                              <a:rPr lang="ro-RO" sz="180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discrete</m:t>
                            </m:r>
                          </m:e>
                        </m:eqAr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2"/>
                <a:stretch>
                  <a:fillRect l="-593" t="-686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976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Recombinarea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 Schema generală utilizată pentru generarea multisetului de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𝜆</m:t>
                    </m:r>
                  </m:oMath>
                </a14:m>
                <a:r>
                  <a:rPr lang="ro-RO" sz="1800" dirty="0"/>
                  <a:t> copii,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𝒪</m:t>
                    </m:r>
                  </m:oMath>
                </a14:m>
                <a:r>
                  <a:rPr lang="ro-RO" sz="1800" dirty="0"/>
                  <a:t>, pe baza  populației curente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𝒫</m:t>
                    </m:r>
                  </m:oMath>
                </a14:m>
                <a:r>
                  <a:rPr lang="en-US" sz="1800" dirty="0"/>
                  <a:t> cu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𝜇</m:t>
                    </m:r>
                  </m:oMath>
                </a14:m>
                <a:r>
                  <a:rPr lang="ro-RO" sz="1800" dirty="0"/>
                  <a:t> indivizi revine la apelul de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𝜆</m:t>
                    </m:r>
                  </m:oMath>
                </a14:m>
                <a:r>
                  <a:rPr lang="ro-RO" sz="1800" dirty="0"/>
                  <a:t> ori a procedurii recombinare_globală(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𝒫</m:t>
                    </m:r>
                  </m:oMath>
                </a14:m>
                <a:r>
                  <a:rPr lang="ro-RO" sz="1800" dirty="0"/>
                  <a:t>) și colectarea cromozomilor rezultați în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𝒪</m:t>
                    </m:r>
                  </m:oMath>
                </a14:m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Observații</a:t>
                </a:r>
                <a:r>
                  <a:rPr lang="ro-RO" sz="1800" dirty="0"/>
                  <a:t> </a:t>
                </a:r>
                <a:endParaRPr lang="en-US" sz="1800" dirty="0"/>
              </a:p>
              <a:p>
                <a:pPr algn="just">
                  <a:buAutoNum type="arabicPeriod"/>
                </a:pPr>
                <a:endParaRPr lang="en-US" sz="1800" dirty="0"/>
              </a:p>
              <a:p>
                <a:pPr algn="just">
                  <a:buAutoNum type="arabicPeriod"/>
                </a:pPr>
                <a:r>
                  <a:rPr lang="ro-RO" sz="1800" dirty="0"/>
                  <a:t>Algo</a:t>
                </a:r>
                <a:r>
                  <a:rPr lang="en-US" sz="1800" dirty="0"/>
                  <a:t>r</a:t>
                </a:r>
                <a:r>
                  <a:rPr lang="ro-RO" sz="1800" dirty="0"/>
                  <a:t>itmii din clasa ES, în majoritatea lor, utilizează scheme de recombinare globală. O alegere comună este aceea în </a:t>
                </a:r>
                <a:r>
                  <a:rPr lang="ro-RO" sz="1800" i="1" dirty="0"/>
                  <a:t>care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alelele zonei soluție sunt recombinate în manieră discretă</a:t>
                </a:r>
                <a:r>
                  <a:rPr lang="ro-RO" sz="1800" dirty="0"/>
                  <a:t>, în timp ce,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pentru</a:t>
                </a:r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construcția alelelor din zona parametrilor este utilizată recombinarea indirectă</a:t>
                </a:r>
                <a:r>
                  <a:rPr lang="ro-RO" sz="1800" dirty="0"/>
                  <a:t>. </a:t>
                </a:r>
                <a:endParaRPr lang="en-US" sz="1800" dirty="0"/>
              </a:p>
              <a:p>
                <a:pPr algn="just">
                  <a:buAutoNum type="arabicPeriod"/>
                </a:pPr>
                <a:endParaRPr lang="en-US" sz="1800" dirty="0"/>
              </a:p>
              <a:p>
                <a:pPr algn="just">
                  <a:buAutoNum type="arabicPeriod"/>
                </a:pPr>
                <a:r>
                  <a:rPr lang="ro-RO" sz="1800" dirty="0"/>
                  <a:t>Menținerea caracterului auto-adaptiv al unui algorim ES este asigurată, printre altele, </a:t>
                </a:r>
                <a:r>
                  <a:rPr lang="ro-RO" sz="1800" dirty="0">
                    <a:solidFill>
                      <a:srgbClr val="FF0000"/>
                    </a:solidFill>
                  </a:rPr>
                  <a:t>prin generarea unui multiset de copii cu dimensiune mai mare decât dimensiunea populației curente </a:t>
                </a:r>
                <a:r>
                  <a:rPr lang="ro-RO" sz="1800" dirty="0"/>
                  <a:t>pe baza căreia a fost generat.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2"/>
                <a:stretch>
                  <a:fillRect l="-74" t="-686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11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Selecția supravițuitorilor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 Populația curentă conține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𝜇</m:t>
                    </m:r>
                  </m:oMath>
                </a14:m>
                <a:r>
                  <a:rPr lang="ro-RO" sz="1800" dirty="0"/>
                  <a:t> indivizi, iar multisetul copiilor căruia i s-a aplicat procedura de mutație conține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𝜆</m:t>
                    </m:r>
                  </m:oMath>
                </a14:m>
                <a:r>
                  <a:rPr lang="ro-RO" sz="1800" dirty="0"/>
                  <a:t> copii. </a:t>
                </a: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olidFill>
                      <a:srgbClr val="FF0000"/>
                    </a:solidFill>
                  </a:rPr>
                  <a:t>Algoritmii ES utilizează un </a:t>
                </a:r>
                <a:r>
                  <a:rPr lang="ro-RO" sz="1800" i="1" dirty="0">
                    <a:solidFill>
                      <a:srgbClr val="FF0000"/>
                    </a:solidFill>
                  </a:rPr>
                  <a:t>mecanism strict determinist</a:t>
                </a:r>
                <a:r>
                  <a:rPr lang="ro-RO" sz="1800" dirty="0">
                    <a:solidFill>
                      <a:srgbClr val="FF0000"/>
                    </a:solidFill>
                  </a:rPr>
                  <a:t> </a:t>
                </a:r>
                <a:r>
                  <a:rPr lang="en-US" sz="1800" dirty="0"/>
                  <a:t>: </a:t>
                </a:r>
                <a:r>
                  <a:rPr lang="en-US" sz="1800" dirty="0" err="1"/>
                  <a:t>sunt</a:t>
                </a:r>
                <a:r>
                  <a:rPr lang="en-US" sz="1800" dirty="0"/>
                  <a:t> </a:t>
                </a:r>
                <a:r>
                  <a:rPr lang="ro-RO" sz="1800" dirty="0"/>
                  <a:t>aleși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𝜇</m:t>
                    </m:r>
                  </m:oMath>
                </a14:m>
                <a:r>
                  <a:rPr lang="ro-RO" sz="1800" dirty="0"/>
                  <a:t> indivizi prin utilizarea uneia din următoarele scheme:</a:t>
                </a:r>
                <a:endParaRPr lang="en-US" sz="1800" dirty="0"/>
              </a:p>
              <a:p>
                <a:pPr lvl="1"/>
                <a:endParaRPr lang="ro-RO" sz="1800" dirty="0"/>
              </a:p>
              <a:p>
                <a:pPr lvl="1"/>
                <a:r>
                  <a:rPr lang="ro-RO" sz="1800" dirty="0"/>
                  <a:t>selecția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𝜇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𝜆</m:t>
                        </m:r>
                      </m:e>
                    </m:d>
                  </m:oMath>
                </a14:m>
                <a:r>
                  <a:rPr lang="ro-RO" sz="1800" dirty="0"/>
                  <a:t>, care revine la alegerea celor mai buni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𝜇</m:t>
                    </m:r>
                    <m:r>
                      <a:rPr lang="en-US" sz="1800" i="1">
                        <a:latin typeface="Cambria Math"/>
                      </a:rPr>
                      <m:t>&lt;</m:t>
                    </m:r>
                    <m:r>
                      <a:rPr lang="ro-RO" sz="1800" i="1">
                        <a:latin typeface="Cambria Math"/>
                      </a:rPr>
                      <m:t>𝜆</m:t>
                    </m:r>
                  </m:oMath>
                </a14:m>
                <a:r>
                  <a:rPr lang="ro-RO" sz="1800" dirty="0"/>
                  <a:t> copii</a:t>
                </a:r>
                <a:endParaRPr lang="en-US" sz="1800" dirty="0"/>
              </a:p>
              <a:p>
                <a:pPr lvl="1"/>
                <a:endParaRPr lang="ro-RO" sz="1800" dirty="0"/>
              </a:p>
              <a:p>
                <a:pPr lvl="1"/>
                <a:r>
                  <a:rPr lang="ro-RO" sz="1800" dirty="0"/>
                  <a:t>selecția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𝜇</m:t>
                        </m:r>
                        <m:r>
                          <a:rPr lang="ro-RO" sz="1800" i="1">
                            <a:latin typeface="Cambria Math"/>
                          </a:rPr>
                          <m:t>+</m:t>
                        </m:r>
                        <m:r>
                          <a:rPr lang="ro-RO" sz="1800" i="1">
                            <a:latin typeface="Cambria Math"/>
                          </a:rPr>
                          <m:t>𝜆</m:t>
                        </m:r>
                      </m:e>
                    </m:d>
                  </m:oMath>
                </a14:m>
                <a:r>
                  <a:rPr lang="ro-RO" sz="1800" dirty="0"/>
                  <a:t>, care revine la alegerea celor mai buni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𝜇</m:t>
                    </m:r>
                  </m:oMath>
                </a14:m>
                <a:r>
                  <a:rPr lang="ro-RO" sz="1800" dirty="0"/>
                  <a:t> indivizi considerând atât membrii multisetului de copii cât și pe cei ai populației curente.</a:t>
                </a:r>
                <a:endParaRPr lang="en-US" sz="1800" dirty="0"/>
              </a:p>
              <a:p>
                <a:pPr lvl="1"/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În general este preferată selecția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𝜇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𝜆</m:t>
                        </m:r>
                      </m:e>
                    </m:d>
                  </m:oMath>
                </a14:m>
                <a:r>
                  <a:rPr lang="ro-RO" sz="1800" dirty="0"/>
                  <a:t>, deoarece, la fiecare moment de timp, populația curentă este complet modificată, în acest fel putând fi în principiu depășite punctele de optim local (pentru calculul optimului global). 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2"/>
                <a:stretch>
                  <a:fillRect l="-74" t="-686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858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ES. Auto-adaptarea</a:t>
            </a:r>
            <a:endParaRPr lang="ro-RO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În scopul implementării unui mecansim de auto-adaptare efectiv și funcțional în situații generale, trebuie asigurată îndeplinirea următoarelor condiții</a:t>
                </a:r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𝜇</m:t>
                    </m:r>
                    <m:r>
                      <a:rPr lang="ro-RO" sz="1800" i="1" smtClean="0">
                        <a:solidFill>
                          <a:srgbClr val="FF0000"/>
                        </a:solidFill>
                        <a:latin typeface="Cambria Math"/>
                      </a:rPr>
                      <m:t>&gt;1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 – pentru utilizarea mai multor strategii de mutație</a:t>
                </a:r>
                <a:r>
                  <a:rPr lang="en-US" sz="1800" dirty="0">
                    <a:solidFill>
                      <a:srgbClr val="FF0000"/>
                    </a:solidFill>
                  </a:rPr>
                  <a:t>;</a:t>
                </a:r>
              </a:p>
              <a:p>
                <a:pPr lvl="1" algn="just"/>
                <a:endParaRPr lang="ro-RO" sz="1800" i="1" dirty="0">
                  <a:solidFill>
                    <a:srgbClr val="FF0000"/>
                  </a:solidFill>
                  <a:latin typeface="Cambria Math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𝜇</m:t>
                    </m:r>
                    <m:r>
                      <a:rPr lang="en-US" sz="1800" i="1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𝜆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  - în general </a:t>
                </a: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𝜆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≈7∙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𝜇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, pentru obținerea unei presiuni de selecție scazute și să fie evitată astfel convergența prea rapidă;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lvl="1" algn="just"/>
                <a:endParaRPr lang="ro-RO" sz="18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ro-RO" sz="1800" dirty="0">
                    <a:solidFill>
                      <a:srgbClr val="FF0000"/>
                    </a:solidFill>
                  </a:rPr>
                  <a:t>folosirea selecției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𝜇</m:t>
                        </m:r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𝜆</m:t>
                        </m:r>
                      </m:e>
                    </m:d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 – pentru părăsirea zonelor de optim local, în vederea evoluției către optimul global;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lvl="1" algn="just"/>
                <a:endParaRPr lang="ro-RO" sz="1800" dirty="0">
                  <a:solidFill>
                    <a:srgbClr val="FF0000"/>
                  </a:solidFill>
                </a:endParaRPr>
              </a:p>
              <a:p>
                <a:pPr lvl="1" algn="just"/>
                <a:r>
                  <a:rPr lang="ro-RO" sz="1800" dirty="0">
                    <a:solidFill>
                      <a:srgbClr val="FF0000"/>
                    </a:solidFill>
                  </a:rPr>
                  <a:t>utilizarea recombinării indirecte pentru zona parametrică a cromozomilor. 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2"/>
                <a:stretch>
                  <a:fillRect l="-74" t="-686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381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Exemplu. Funcția Ackley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Funcția Ackley este definită prin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𝑓</m:t>
                      </m:r>
                      <m:r>
                        <a:rPr lang="en-US" sz="1800" i="1">
                          <a:latin typeface="Cambria Math"/>
                        </a:rPr>
                        <m:t>: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ℝ</m:t>
                          </m:r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→</m:t>
                      </m:r>
                      <m:r>
                        <a:rPr lang="en-US" sz="1800" i="1">
                          <a:latin typeface="Cambria Math"/>
                        </a:rPr>
                        <m:t>ℝ</m:t>
                      </m:r>
                      <m:r>
                        <a:rPr lang="en-US" sz="1800" i="1">
                          <a:latin typeface="Cambria Math"/>
                        </a:rPr>
                        <m:t>,  </m:t>
                      </m:r>
                      <m:r>
                        <a:rPr lang="ro-RO" sz="1800" i="1">
                          <a:latin typeface="Cambria Math"/>
                        </a:rPr>
                        <m:t>𝑥</m:t>
                      </m:r>
                      <m:r>
                        <a:rPr lang="ro-RO" sz="18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ro-RO" sz="1800" i="1"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=−20∙</m:t>
                      </m:r>
                      <m:r>
                        <a:rPr lang="en-US" sz="1800" i="1">
                          <a:latin typeface="Cambria Math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−0.2∙</m:t>
                          </m:r>
                          <m:rad>
                            <m:radPr>
                              <m:deg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n-US" sz="1800" i="1">
                                      <a:latin typeface="Cambria Math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en-US" sz="1800" i="1">
                          <a:latin typeface="Cambria Math"/>
                        </a:rPr>
                        <m:t>−</m:t>
                      </m:r>
                      <m:r>
                        <a:rPr lang="en-US" sz="1800" i="1">
                          <a:latin typeface="Cambria Math"/>
                        </a:rPr>
                        <m:t>𝑒𝑥𝑝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800" i="1">
                              <a:latin typeface="Cambria Math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8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𝑐𝑜𝑠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2∙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𝜋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800" i="1">
                          <a:latin typeface="Cambria Math"/>
                        </a:rPr>
                        <m:t>+20+</m:t>
                      </m:r>
                      <m:r>
                        <a:rPr lang="en-US" sz="1800" i="1">
                          <a:latin typeface="Cambria Math"/>
                        </a:rPr>
                        <m:t>𝑒</m:t>
                      </m:r>
                    </m:oMath>
                  </m:oMathPara>
                </a14:m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Scopul - calculul minimul funcției.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Funcția Ackley are valoarea minimă 0, atinsă în punctul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0,…,0</m:t>
                        </m:r>
                      </m:e>
                    </m:d>
                  </m:oMath>
                </a14:m>
                <a:r>
                  <a:rPr lang="ro-RO" sz="1800" dirty="0"/>
                  <a:t>.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lvl="0" indent="0" algn="just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360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Exemplu. Funcția Ackley pentru n=2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229600" cy="5211763"/>
          </a:xfrm>
        </p:spPr>
        <p:txBody>
          <a:bodyPr/>
          <a:lstStyle/>
          <a:p>
            <a:pPr marL="0" indent="0" algn="just">
              <a:buNone/>
            </a:pPr>
            <a:endParaRPr lang="ro-RO" sz="1800" dirty="0"/>
          </a:p>
          <a:p>
            <a:pPr marL="0" indent="0" algn="just">
              <a:buNone/>
            </a:pPr>
            <a:endParaRPr lang="en-US" sz="1800" dirty="0"/>
          </a:p>
          <a:p>
            <a:pPr marL="457200" lvl="1" indent="0" algn="just">
              <a:buNone/>
            </a:pPr>
            <a:endParaRPr lang="en-US" sz="1800" b="1" i="1" dirty="0">
              <a:latin typeface="Cambria Math"/>
              <a:ea typeface="Cambria Math"/>
            </a:endParaRPr>
          </a:p>
          <a:p>
            <a:pPr algn="just">
              <a:buFont typeface="Wingdings" pitchFamily="2" charset="2"/>
              <a:buChar char="q"/>
            </a:pPr>
            <a:endParaRPr lang="en-US" sz="1800" dirty="0"/>
          </a:p>
          <a:p>
            <a:pPr lvl="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24" name="Picture 2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493818"/>
            <a:ext cx="412623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4038600" cy="3276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820226"/>
              </p:ext>
            </p:extLst>
          </p:nvPr>
        </p:nvGraphicFramePr>
        <p:xfrm>
          <a:off x="1002031" y="1600201"/>
          <a:ext cx="7467600" cy="4140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020">
                <a:tc>
                  <a:txBody>
                    <a:bodyPr/>
                    <a:lstStyle/>
                    <a:p>
                      <a:r>
                        <a:rPr lang="ro-RO" dirty="0"/>
                        <a:t>a. Minim local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b. Minim global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312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Implementare ES</a:t>
            </a:r>
            <a:r>
              <a:rPr lang="en-US" sz="2800" b="1" dirty="0">
                <a:solidFill>
                  <a:schemeClr val="bg2"/>
                </a:solidFill>
              </a:rPr>
              <a:t> general</a:t>
            </a:r>
            <a:r>
              <a:rPr lang="ro-RO" sz="2800" b="1" dirty="0">
                <a:solidFill>
                  <a:schemeClr val="bg2"/>
                </a:solidFill>
              </a:rPr>
              <a:t>ă pentru funcția Ackley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</p:spPr>
            <p:txBody>
              <a:bodyPr/>
              <a:lstStyle/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Reprezentarea – pentru fiecare componentă a vectorului soluție este păstrată o dimensiune a pragului de fluaj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…,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Generarea populației inițiale – aleator</a:t>
                </a:r>
                <a:r>
                  <a:rPr lang="en-US" sz="1800" dirty="0"/>
                  <a:t>; </a:t>
                </a:r>
                <a:r>
                  <a:rPr lang="ro-RO" sz="1800" dirty="0"/>
                  <a:t>fiecare alelă din zona soluție este generată în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𝑎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ro-RO" sz="1800" dirty="0"/>
                  <a:t>, fiecare valoare a unui parametru este generată în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0.25,1</m:t>
                        </m:r>
                      </m:e>
                    </m:d>
                  </m:oMath>
                </a14:m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Mutația - mutația </a:t>
                </a:r>
                <a:r>
                  <a:rPr lang="ro-RO" sz="1800" i="1" dirty="0"/>
                  <a:t>necorelată</a:t>
                </a:r>
                <a:r>
                  <a:rPr lang="ro-RO" sz="1800" dirty="0"/>
                  <a:t> cu mai mulți parametri (</a:t>
                </a:r>
                <a:r>
                  <a:rPr lang="ro-RO" sz="1800" i="1" dirty="0"/>
                  <a:t>n</a:t>
                </a:r>
                <a:r>
                  <a:rPr lang="ro-RO" sz="1800" dirty="0"/>
                  <a:t>)</a:t>
                </a:r>
              </a:p>
              <a:p>
                <a:pPr lvl="0" algn="just">
                  <a:buFont typeface="Wingdings" pitchFamily="2" charset="2"/>
                  <a:buChar char="q"/>
                </a:pPr>
                <a:r>
                  <a:rPr lang="ro-RO" sz="1800" dirty="0"/>
                  <a:t>Recombinarea – </a:t>
                </a:r>
                <a:r>
                  <a:rPr lang="ro-RO" sz="1800" i="1" dirty="0"/>
                  <a:t>globală</a:t>
                </a:r>
                <a:r>
                  <a:rPr lang="ro-RO" sz="1800" dirty="0"/>
                  <a:t>, astfel: alelele zonei soluție sunt recombinate în manieră </a:t>
                </a:r>
                <a:r>
                  <a:rPr lang="ro-RO" sz="1800" i="1" dirty="0"/>
                  <a:t>discretă</a:t>
                </a:r>
                <a:r>
                  <a:rPr lang="ro-RO" sz="1800" dirty="0"/>
                  <a:t>, iar alelelor din zona parametrilor sunt generate prin recombinare </a:t>
                </a:r>
                <a:r>
                  <a:rPr lang="ro-RO" sz="1800" i="1" dirty="0"/>
                  <a:t>indirectă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lvl="0" algn="just">
                  <a:buFont typeface="Wingdings" pitchFamily="2" charset="2"/>
                  <a:buChar char="q"/>
                </a:pPr>
                <a:r>
                  <a:rPr lang="ro-RO" sz="1800" dirty="0"/>
                  <a:t>Selecția generației următoare – de tip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𝜇</m:t>
                        </m:r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𝜆</m:t>
                        </m:r>
                      </m:e>
                    </m:d>
                  </m:oMath>
                </a14:m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Parametrii algoritmului</a:t>
                </a:r>
                <a:r>
                  <a:rPr lang="en-US" sz="1800" dirty="0"/>
                  <a:t>: </a:t>
                </a:r>
              </a:p>
              <a:p>
                <a:pPr lvl="1" algn="just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</a:rPr>
                          <m:t>𝑎</m:t>
                        </m:r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ro-RO" sz="16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</a:rPr>
                          <m:t>−20,20</m:t>
                        </m:r>
                      </m:e>
                    </m:d>
                  </m:oMath>
                </a14:m>
                <a:r>
                  <a:rPr lang="ro-RO" sz="1600" dirty="0"/>
                  <a:t> </a:t>
                </a:r>
                <a:endParaRPr lang="en-US" sz="160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𝑑𝑖𝑚</m:t>
                    </m:r>
                    <m:r>
                      <a:rPr lang="ro-RO" sz="1600" i="1">
                        <a:latin typeface="Cambria Math"/>
                      </a:rPr>
                      <m:t>=</m:t>
                    </m:r>
                    <m:r>
                      <a:rPr lang="ro-RO" sz="1600" i="1">
                        <a:latin typeface="Cambria Math"/>
                      </a:rPr>
                      <m:t>𝜇</m:t>
                    </m:r>
                    <m:r>
                      <a:rPr lang="en-US" sz="1600" i="1">
                        <a:latin typeface="Cambria Math"/>
                      </a:rPr>
                      <m:t>=30,   </m:t>
                    </m:r>
                    <m:r>
                      <a:rPr lang="en-US" sz="1600" i="1">
                        <a:latin typeface="Cambria Math"/>
                      </a:rPr>
                      <m:t>𝑑𝑖𝑚𝑐</m:t>
                    </m:r>
                    <m:r>
                      <a:rPr lang="en-US" sz="1600" i="1">
                        <a:latin typeface="Cambria Math"/>
                      </a:rPr>
                      <m:t>=</m:t>
                    </m:r>
                    <m:r>
                      <a:rPr lang="ro-RO" sz="1600" i="1">
                        <a:latin typeface="Cambria Math"/>
                      </a:rPr>
                      <m:t>𝜆</m:t>
                    </m:r>
                    <m:r>
                      <a:rPr lang="ro-RO" sz="1600" i="1">
                        <a:latin typeface="Cambria Math"/>
                      </a:rPr>
                      <m:t>=220</m:t>
                    </m:r>
                  </m:oMath>
                </a14:m>
                <a:r>
                  <a:rPr lang="ro-RO" sz="1600" dirty="0"/>
                  <a:t>  </a:t>
                </a:r>
                <a:endParaRPr lang="en-US" sz="160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𝜏</m:t>
                    </m:r>
                    <m:r>
                      <a:rPr lang="ro-RO" sz="1600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600" i="1">
                            <a:latin typeface="Cambria Math"/>
                          </a:rPr>
                          <m:t>0.5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o-RO" sz="1600" i="1">
                                <a:latin typeface="Cambria Math"/>
                              </a:rPr>
                              <m:t>2∙</m:t>
                            </m:r>
                            <m:rad>
                              <m:radPr>
                                <m:degHide m:val="on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ro-RO" sz="1600" i="1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e>
                        </m:rad>
                      </m:den>
                    </m:f>
                  </m:oMath>
                </a14:m>
                <a:r>
                  <a:rPr lang="ro-RO" sz="1600" dirty="0"/>
                  <a:t>,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  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i="1">
                            <a:latin typeface="Cambria Math"/>
                          </a:rPr>
                          <m:t>𝜏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o-RO" sz="16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600" i="1">
                            <a:latin typeface="Cambria Math"/>
                          </a:rPr>
                          <m:t>0.5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o-RO" sz="1600" i="1">
                                <a:latin typeface="Cambria Math"/>
                              </a:rPr>
                              <m:t>2∙</m:t>
                            </m:r>
                            <m:r>
                              <a:rPr lang="ro-RO" sz="1600" i="1">
                                <a:latin typeface="Cambria Math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160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𝑒𝑝𝑠</m:t>
                    </m:r>
                    <m:r>
                      <a:rPr lang="ro-RO" sz="1600" i="1">
                        <a:latin typeface="Cambria Math"/>
                      </a:rPr>
                      <m:t>1</m:t>
                    </m:r>
                  </m:oMath>
                </a14:m>
                <a:r>
                  <a:rPr lang="ro-RO" sz="1600" dirty="0"/>
                  <a:t> – parametru care controlează atingerea optimului global</a:t>
                </a:r>
                <a:endParaRPr lang="en-US" sz="160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𝑒𝑝𝑠</m:t>
                    </m:r>
                  </m:oMath>
                </a14:m>
                <a:r>
                  <a:rPr lang="ro-RO" sz="1600" dirty="0"/>
                  <a:t> – parametru care controlează dimensiunile pașilor de mutație (la momentul inițial – vezi observația de mai jos)</a:t>
                </a:r>
                <a:endParaRPr lang="en-US" sz="1600" dirty="0"/>
              </a:p>
              <a:p>
                <a:pPr lvl="1" algn="just"/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𝑀𝐴𝑋</m:t>
                    </m:r>
                  </m:oMath>
                </a14:m>
                <a:r>
                  <a:rPr lang="ro-RO" sz="1600" dirty="0"/>
                  <a:t> – numărul maxim de iterații (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2∙</m:t>
                    </m:r>
                    <m:r>
                      <a:rPr lang="ro-RO" sz="1600" i="1">
                        <a:latin typeface="Cambria Math"/>
                      </a:rPr>
                      <m:t>𝑑𝑖𝑚𝑐</m:t>
                    </m:r>
                    <m:r>
                      <a:rPr lang="ro-RO" sz="1600" i="1">
                        <a:latin typeface="Cambria Math"/>
                      </a:rPr>
                      <m:t>∙</m:t>
                    </m:r>
                    <m:r>
                      <a:rPr lang="ro-RO" sz="1600" i="1">
                        <a:latin typeface="Cambria Math"/>
                      </a:rPr>
                      <m:t>𝑀𝐴𝑋</m:t>
                    </m:r>
                  </m:oMath>
                </a14:m>
                <a:r>
                  <a:rPr lang="ro-RO" sz="1600" dirty="0"/>
                  <a:t> evaluări ale funcției obiectiv)</a:t>
                </a:r>
                <a:endParaRPr lang="en-US" sz="1600" dirty="0"/>
              </a:p>
              <a:p>
                <a:pPr algn="just">
                  <a:buFont typeface="Wingdings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457200" lvl="1" indent="0" algn="just">
                  <a:buNone/>
                </a:pPr>
                <a:endParaRPr lang="en-US" sz="1800" b="1" i="1" dirty="0">
                  <a:latin typeface="Cambria Math"/>
                  <a:ea typeface="Cambria Math"/>
                </a:endParaRPr>
              </a:p>
              <a:p>
                <a:pPr algn="just">
                  <a:buFont typeface="Wingdings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  <a:blipFill rotWithShape="1">
                <a:blip r:embed="rId2"/>
                <a:stretch>
                  <a:fillRect t="-564" r="-593" b="-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875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Implementare ES</a:t>
            </a:r>
            <a:r>
              <a:rPr lang="en-US" sz="2800" b="1" dirty="0">
                <a:solidFill>
                  <a:schemeClr val="bg2"/>
                </a:solidFill>
              </a:rPr>
              <a:t> general</a:t>
            </a:r>
            <a:r>
              <a:rPr lang="ro-RO" sz="2800" b="1" dirty="0">
                <a:solidFill>
                  <a:schemeClr val="bg2"/>
                </a:solidFill>
              </a:rPr>
              <a:t>ă pentru funcția Ackley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en-US" sz="1800" dirty="0"/>
                  <a:t> </a:t>
                </a:r>
                <a:r>
                  <a:rPr lang="ro-RO" sz="1800" dirty="0"/>
                  <a:t>La fiecare iteratie,eps scade conform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𝑒𝑝𝑠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i="1">
                            <a:latin typeface="Cambria Math"/>
                          </a:rPr>
                          <m:t>𝑒𝑝𝑠</m:t>
                        </m:r>
                      </m:num>
                      <m:den>
                        <m:r>
                          <a:rPr lang="ro-RO" sz="1800" i="1">
                            <a:latin typeface="Cambria Math"/>
                          </a:rPr>
                          <m:t>1.05</m:t>
                        </m:r>
                      </m:den>
                    </m:f>
                  </m:oMath>
                </a14:m>
                <a:r>
                  <a:rPr lang="ro-RO" sz="1800" dirty="0"/>
                  <a:t>, valoarea inițială fiind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o-RO" sz="1800" dirty="0"/>
                  <a:t>. În tabelul următor sunt prezentate valorile lui eps din 50 în 50 de iteratii.</a:t>
                </a:r>
                <a:endParaRPr lang="en-US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b="1" dirty="0"/>
                  <a:t>În marea majoritate a execuțiilor, eroarea este de ordinul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b="1" i="1">
                            <a:latin typeface="Cambria Math"/>
                          </a:rPr>
                          <m:t>𝟏𝟎</m:t>
                        </m:r>
                      </m:e>
                      <m:sup>
                        <m:r>
                          <a:rPr lang="ro-RO" sz="1800" b="1" i="1">
                            <a:latin typeface="Cambria Math"/>
                          </a:rPr>
                          <m:t>−</m:t>
                        </m:r>
                        <m:r>
                          <a:rPr lang="ro-RO" sz="1800" b="1" i="1">
                            <a:latin typeface="Cambria Math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ro-RO" sz="1800" b="1" dirty="0"/>
                  <a:t>.</a:t>
                </a: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  <a:blipFill rotWithShape="1">
                <a:blip r:embed="rId2"/>
                <a:stretch>
                  <a:fillRect t="-7892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9912218"/>
                  </p:ext>
                </p:extLst>
              </p:nvPr>
            </p:nvGraphicFramePr>
            <p:xfrm>
              <a:off x="1828800" y="2286003"/>
              <a:ext cx="5333999" cy="297179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057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282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237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Iteratia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eps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50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o-RO" sz="1200">
                                    <a:effectLst/>
                                    <a:latin typeface="Cambria Math"/>
                                  </a:rPr>
                                  <m:t>8.7∙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7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100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o-RO" sz="1200">
                                    <a:effectLst/>
                                    <a:latin typeface="Cambria Math"/>
                                  </a:rPr>
                                  <m:t>7.6∙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−4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301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150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o-RO" sz="1200">
                                    <a:effectLst/>
                                    <a:latin typeface="Cambria Math"/>
                                  </a:rPr>
                                  <m:t>6.6∙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−5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200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o-RO" sz="1200">
                                    <a:effectLst/>
                                    <a:latin typeface="Cambria Math"/>
                                  </a:rPr>
                                  <m:t>5.78∙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6332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250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o-RO" sz="1200">
                                    <a:effectLst/>
                                    <a:latin typeface="Cambria Math"/>
                                  </a:rPr>
                                  <m:t>5.04∙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−7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300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o-RO" sz="1200">
                                    <a:effectLst/>
                                    <a:latin typeface="Cambria Math"/>
                                  </a:rPr>
                                  <m:t>4.39∙</m:t>
                                </m:r>
                                <m:sSup>
                                  <m:sSup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ro-RO" sz="1200">
                                        <a:effectLst/>
                                        <a:latin typeface="Cambria Math"/>
                                      </a:rPr>
                                      <m:t>−8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1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9912218"/>
                  </p:ext>
                </p:extLst>
              </p:nvPr>
            </p:nvGraphicFramePr>
            <p:xfrm>
              <a:off x="1828800" y="2286003"/>
              <a:ext cx="5333999" cy="297179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705781"/>
                    <a:gridCol w="3628218"/>
                  </a:tblGrid>
                  <a:tr h="3237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Iteratia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eps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059" t="-95161" b="-601613"/>
                          </a:stretch>
                        </a:blipFill>
                      </a:tcPr>
                    </a:tc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50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059" t="-195161" b="-501613"/>
                          </a:stretch>
                        </a:blipFill>
                      </a:tcPr>
                    </a:tc>
                  </a:tr>
                  <a:tr h="377065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100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059" t="-295161" b="-401613"/>
                          </a:stretch>
                        </a:blipFill>
                      </a:tcPr>
                    </a:tc>
                  </a:tr>
                  <a:tr h="38301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150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059" t="-395161" b="-301613"/>
                          </a:stretch>
                        </a:blipFill>
                      </a:tcPr>
                    </a:tc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200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059" t="-495161" b="-201613"/>
                          </a:stretch>
                        </a:blipFill>
                      </a:tcPr>
                    </a:tc>
                  </a:tr>
                  <a:tr h="376332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250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059" t="-595161" b="-101613"/>
                          </a:stretch>
                        </a:blipFill>
                      </a:tcPr>
                    </a:tc>
                  </a:tr>
                  <a:tr h="37790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ro-RO" sz="1200">
                              <a:effectLst/>
                            </a:rPr>
                            <a:t>300</a:t>
                          </a:r>
                          <a:endParaRPr lang="en-US" sz="110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 rotWithShape="1">
                          <a:blip r:embed="rId3"/>
                          <a:stretch>
                            <a:fillRect l="-47059" t="-695161" b="-16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1270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Implementare ES</a:t>
            </a:r>
            <a:r>
              <a:rPr lang="en-US" sz="2800" b="1" dirty="0">
                <a:solidFill>
                  <a:schemeClr val="bg2"/>
                </a:solidFill>
              </a:rPr>
              <a:t> general</a:t>
            </a:r>
            <a:r>
              <a:rPr lang="ro-RO" sz="2800" b="1" dirty="0">
                <a:solidFill>
                  <a:schemeClr val="bg2"/>
                </a:solidFill>
              </a:rPr>
              <a:t>ă pentru funcția Ackley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În figura de mai jos este prezentat un exemplu de execuție pentru MAX=300. Valoarea funcției obiectiv este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2.0771∙10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ro-RO" sz="1800" dirty="0"/>
                  <a:t>, în timp ce soluția variază în jurul vectorului optim conform graficului prezentat.</a:t>
                </a:r>
                <a:endParaRPr lang="en-US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en-US" sz="1800" b="1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457200" lvl="1" indent="0" algn="just">
                  <a:buNone/>
                </a:pPr>
                <a:endParaRPr lang="en-US" sz="1800" b="1" i="1" dirty="0">
                  <a:latin typeface="Cambria Math"/>
                  <a:ea typeface="Cambria Math"/>
                </a:endParaRPr>
              </a:p>
              <a:p>
                <a:pPr algn="just">
                  <a:buFont typeface="Wingdings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  <a:blipFill rotWithShape="1">
                <a:blip r:embed="rId2"/>
                <a:stretch>
                  <a:fillRect t="-56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24" name="Picture 2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86000"/>
            <a:ext cx="6857999" cy="350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8175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Implementare ES</a:t>
            </a:r>
            <a:r>
              <a:rPr lang="en-US" sz="2800" b="1" dirty="0">
                <a:solidFill>
                  <a:schemeClr val="bg2"/>
                </a:solidFill>
              </a:rPr>
              <a:t> general</a:t>
            </a:r>
            <a:r>
              <a:rPr lang="ro-RO" sz="2800" b="1" dirty="0">
                <a:solidFill>
                  <a:schemeClr val="bg2"/>
                </a:solidFill>
              </a:rPr>
              <a:t>ă pentru funcția Ackley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În figura de mai jos este prezentat un exemplu de execuție pentru MAX=500. Valoarea funcției obiectiv este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1.1810</m:t>
                        </m:r>
                        <m:r>
                          <a:rPr lang="ro-RO" sz="1800" i="1">
                            <a:latin typeface="Cambria Math"/>
                          </a:rPr>
                          <m:t>∙10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−</m:t>
                        </m:r>
                        <m:r>
                          <a:rPr lang="ro-RO" sz="1800" b="0" i="1" smtClean="0">
                            <a:latin typeface="Cambria Math"/>
                          </a:rPr>
                          <m:t>11</m:t>
                        </m:r>
                      </m:sup>
                    </m:sSup>
                  </m:oMath>
                </a14:m>
                <a:r>
                  <a:rPr lang="ro-RO" sz="1800" dirty="0"/>
                  <a:t>, în timp ce soluția variază în jurul vectorului optim conform graficului prezentat.</a:t>
                </a:r>
                <a:endParaRPr lang="en-US" sz="1800" dirty="0"/>
              </a:p>
              <a:p>
                <a:pPr algn="just">
                  <a:buFont typeface="Wingdings" pitchFamily="2" charset="2"/>
                  <a:buChar char="q"/>
                </a:pPr>
                <a:endParaRPr lang="en-US" sz="1800" b="1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457200" lvl="1" indent="0" algn="just">
                  <a:buNone/>
                </a:pPr>
                <a:endParaRPr lang="en-US" sz="1800" b="1" i="1" dirty="0">
                  <a:latin typeface="Cambria Math"/>
                  <a:ea typeface="Cambria Math"/>
                </a:endParaRPr>
              </a:p>
              <a:p>
                <a:pPr algn="just">
                  <a:buFont typeface="Wingdings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410200"/>
              </a:xfrm>
              <a:blipFill rotWithShape="1">
                <a:blip r:embed="rId2"/>
                <a:stretch>
                  <a:fillRect t="-56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7400"/>
            <a:ext cx="723900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9164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Implementarea ES2M pentru funcția Ackley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33400" y="990600"/>
                <a:ext cx="8153400" cy="5486400"/>
              </a:xfrm>
            </p:spPr>
            <p:txBody>
              <a:bodyPr/>
              <a:lstStyle/>
              <a:p>
                <a:pPr lvl="0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b="1" i="1" smtClean="0">
                        <a:latin typeface="Cambria Math"/>
                        <a:ea typeface="Cambria Math"/>
                      </a:rPr>
                      <m:t>𝒏</m:t>
                    </m:r>
                    <m:r>
                      <a:rPr lang="ro-RO" sz="1800" b="1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ro-RO" sz="1800" b="1" i="1" smtClean="0">
                        <a:latin typeface="Cambria Math"/>
                        <a:ea typeface="Cambria Math"/>
                      </a:rPr>
                      <m:t>𝟐</m:t>
                    </m:r>
                  </m:oMath>
                </a14:m>
                <a:r>
                  <a:rPr lang="ro-RO" sz="1800" b="1" dirty="0"/>
                  <a:t>0</a:t>
                </a: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 Setări:</a:t>
                </a:r>
              </a:p>
              <a:p>
                <a:pPr lvl="1" algn="just">
                  <a:buFont typeface="Wingdings" pitchFamily="2" charset="2"/>
                  <a:buChar char="q"/>
                </a:pPr>
                <a:r>
                  <a:rPr lang="ro-RO" sz="1800" dirty="0"/>
                  <a:t>	generarea aleatoare a punctului inițial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𝑖</m:t>
                    </m:r>
                    <m:r>
                      <a:rPr lang="en-US" sz="1800" i="1">
                        <a:latin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ro-RO" sz="1800" b="0" i="1" smtClean="0">
                            <a:latin typeface="Cambria Math"/>
                          </a:rPr>
                          <m:t>20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o-RO" sz="1800" i="1">
                            <a:latin typeface="Cambria Math"/>
                          </a:rPr>
                          <m:t>0</m:t>
                        </m:r>
                      </m:sup>
                    </m:sSubSup>
                    <m:r>
                      <a:rPr lang="ro-RO" sz="1800" i="1">
                        <a:latin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−20,20</m:t>
                        </m:r>
                      </m:e>
                    </m:d>
                  </m:oMath>
                </a14:m>
                <a:endParaRPr lang="ro-RO" sz="1800" b="0" i="0" dirty="0">
                  <a:latin typeface="Cambria Math"/>
                </a:endParaRPr>
              </a:p>
              <a:p>
                <a:pPr lvl="1" algn="just">
                  <a:buFont typeface="Wingdings" pitchFamily="2" charset="2"/>
                  <a:buChar char="q"/>
                </a:pPr>
                <a:r>
                  <a:rPr lang="ro-RO" sz="1800" b="0" dirty="0"/>
                  <a:t>	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𝑘</m:t>
                    </m:r>
                    <m:r>
                      <a:rPr lang="ro-RO" sz="1800" b="0" i="1" smtClean="0">
                        <a:latin typeface="Cambria Math"/>
                      </a:rPr>
                      <m:t>=50</m:t>
                    </m:r>
                    <m:r>
                      <a:rPr lang="ro-RO" sz="1800" b="0" i="0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ro-RO" sz="1800" b="0" i="0" smtClean="0">
                        <a:latin typeface="Cambria Math"/>
                      </a:rPr>
                      <m:t>c</m:t>
                    </m:r>
                    <m:r>
                      <a:rPr lang="ro-RO" sz="1800" b="0" i="0" smtClean="0">
                        <a:latin typeface="Cambria Math"/>
                      </a:rPr>
                      <m:t>=0.83</m:t>
                    </m:r>
                  </m:oMath>
                </a14:m>
                <a:endParaRPr lang="ro-RO" sz="1800" dirty="0"/>
              </a:p>
              <a:p>
                <a:pPr lvl="1" algn="just">
                  <a:buFont typeface="Wingdings" pitchFamily="2" charset="2"/>
                  <a:buChar char="q"/>
                </a:pPr>
                <a:r>
                  <a:rPr lang="ro-RO" sz="1800" dirty="0"/>
                  <a:t>	</a:t>
                </a:r>
                <a:r>
                  <a:rPr lang="en-US" sz="1800" dirty="0"/>
                  <a:t>250000</a:t>
                </a:r>
                <a:r>
                  <a:rPr lang="ro-RO" sz="1800" dirty="0"/>
                  <a:t> iterații</a:t>
                </a:r>
              </a:p>
              <a:p>
                <a:pPr lvl="1" algn="just">
                  <a:buFont typeface="Wingdings" pitchFamily="2" charset="2"/>
                  <a:buChar char="q"/>
                </a:pPr>
                <a:r>
                  <a:rPr lang="ro-RO" sz="1800" dirty="0"/>
                  <a:t>   dimensiunea pasului la momentul inițial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b="0" i="1" smtClean="0">
                        <a:latin typeface="Cambria Math"/>
                      </a:rPr>
                      <m:t>0.5</m:t>
                    </m:r>
                  </m:oMath>
                </a14:m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Exemplu de execuție – minim local </a:t>
                </a:r>
                <a:r>
                  <a:rPr lang="en-US" sz="1800" dirty="0"/>
                  <a:t>19.9480</a:t>
                </a:r>
                <a:r>
                  <a:rPr lang="ro-RO" sz="1800" dirty="0"/>
                  <a:t> în punctul 20-dimensional cu următoarele deplasări față de soluția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0,…,0</m:t>
                        </m:r>
                      </m:e>
                    </m:d>
                  </m:oMath>
                </a14:m>
                <a:r>
                  <a:rPr lang="ro-RO" sz="1800" dirty="0"/>
                  <a:t>.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457200" lvl="1" indent="0" algn="just">
                  <a:buNone/>
                </a:pPr>
                <a:endParaRPr lang="en-US" sz="1800" b="1" i="1" dirty="0">
                  <a:latin typeface="Cambria Math"/>
                  <a:ea typeface="Cambria Math"/>
                </a:endParaRPr>
              </a:p>
              <a:p>
                <a:pPr algn="just">
                  <a:buFont typeface="Wingdings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33400" y="990600"/>
                <a:ext cx="8153400" cy="5486400"/>
              </a:xfrm>
              <a:blipFill rotWithShape="1">
                <a:blip r:embed="rId2"/>
                <a:stretch>
                  <a:fillRect l="-75" t="-556" r="-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307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88" y="3810000"/>
            <a:ext cx="6748371" cy="279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25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Implementare GA pentru funcția Ackley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33400" y="990600"/>
                <a:ext cx="8153400" cy="54864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  <a:ea typeface="Cambria Math"/>
                      </a:rPr>
                      <m:t>𝒏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=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𝟐</m:t>
                    </m:r>
                  </m:oMath>
                </a14:m>
                <a:r>
                  <a:rPr lang="ro-RO" sz="1800" b="1" dirty="0"/>
                  <a:t>0</a:t>
                </a: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Valoarea optimă</a:t>
                </a:r>
                <a:r>
                  <a:rPr lang="en-US" sz="1800" dirty="0"/>
                  <a:t>: de </a:t>
                </a:r>
                <a:r>
                  <a:rPr lang="ro-RO" sz="1800" dirty="0"/>
                  <a:t>ordinul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ro-RO" sz="1800" dirty="0"/>
                  <a:t> </a:t>
                </a: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Exemplu de execuție – minim local 0</a:t>
                </a:r>
                <a:r>
                  <a:rPr lang="en-US" sz="1800" dirty="0"/>
                  <a:t>.</a:t>
                </a:r>
                <a:r>
                  <a:rPr lang="ro-RO" sz="1800" dirty="0"/>
                  <a:t>04614 în punctul 20-dimensional cu următoarele deplasări față de soluția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0,…,0</m:t>
                        </m:r>
                      </m:e>
                    </m:d>
                  </m:oMath>
                </a14:m>
                <a:r>
                  <a:rPr lang="ro-RO" sz="1800" dirty="0"/>
                  <a:t>.</a:t>
                </a:r>
              </a:p>
              <a:p>
                <a:pPr algn="just">
                  <a:buFont typeface="Wingdings" pitchFamily="2" charset="2"/>
                  <a:buChar char="q"/>
                </a:pPr>
                <a:endParaRPr lang="ro-RO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457200" lvl="1" indent="0" algn="just">
                  <a:buNone/>
                </a:pPr>
                <a:endParaRPr lang="en-US" sz="1800" b="1" i="1" dirty="0">
                  <a:latin typeface="Cambria Math"/>
                  <a:ea typeface="Cambria Math"/>
                </a:endParaRPr>
              </a:p>
              <a:p>
                <a:pPr algn="just">
                  <a:buFont typeface="Wingdings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33400" y="990600"/>
                <a:ext cx="8153400" cy="5486400"/>
              </a:xfrm>
              <a:blipFill>
                <a:blip r:embed="rId2"/>
                <a:stretch>
                  <a:fillRect l="-75" t="-667" r="-59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09800"/>
            <a:ext cx="6276974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0188948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4664</TotalTime>
  <Words>2228</Words>
  <Application>Microsoft Office PowerPoint</Application>
  <PresentationFormat>On-screen Show (4:3)</PresentationFormat>
  <Paragraphs>307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Calibri</vt:lpstr>
      <vt:lpstr>Cambria Math</vt:lpstr>
      <vt:lpstr>Garamond</vt:lpstr>
      <vt:lpstr>Times New Roman</vt:lpstr>
      <vt:lpstr>Wingdings</vt:lpstr>
      <vt:lpstr>Wingdings 2</vt:lpstr>
      <vt:lpstr>Pixel</vt:lpstr>
      <vt:lpstr>Algoritmi ES  (Evolutionary Strategies) </vt:lpstr>
      <vt:lpstr>Schema generală EA  ES - clasa EA în care este implementată auto-adaptarea strategiei de selectare a parametrilor. </vt:lpstr>
      <vt:lpstr>Caracteristici ES</vt:lpstr>
      <vt:lpstr>PowerPoint Presentation</vt:lpstr>
      <vt:lpstr>ES. Mutația. Considerații generale</vt:lpstr>
      <vt:lpstr>ES. Mutația. Considerații generale</vt:lpstr>
      <vt:lpstr>ES. Mutația cu un singur parametru σ</vt:lpstr>
      <vt:lpstr>ES. Mutația cu un singur parametru σ</vt:lpstr>
      <vt:lpstr>ES. Mutația cu un singur parametru σ</vt:lpstr>
      <vt:lpstr>ES. Mutația necorelată cu n parametri σ</vt:lpstr>
      <vt:lpstr>ES. Mutația necorelată cu n parametri σ</vt:lpstr>
      <vt:lpstr>ES. Mutația necorelată cu n parametri σ</vt:lpstr>
      <vt:lpstr>ES. Selecția părinților</vt:lpstr>
      <vt:lpstr>ES. Recombinarea</vt:lpstr>
      <vt:lpstr>ES. Recombinarea</vt:lpstr>
      <vt:lpstr>ES. Recombinarea</vt:lpstr>
      <vt:lpstr>ES. Selecția supravițuitorilor</vt:lpstr>
      <vt:lpstr>ES. Auto-adaptarea</vt:lpstr>
      <vt:lpstr>Exemplu. Funcția Ackley</vt:lpstr>
      <vt:lpstr>Exemplu. Funcția Ackley pentru n=2</vt:lpstr>
      <vt:lpstr>Implementare ES generală pentru funcția Ackley</vt:lpstr>
      <vt:lpstr>Implementare ES generală pentru funcția Ackley</vt:lpstr>
      <vt:lpstr>Implementare ES generală pentru funcția Ackley</vt:lpstr>
      <vt:lpstr>Implementare ES generală pentru funcția Ackley</vt:lpstr>
      <vt:lpstr>Implementarea ES2M pentru funcția Ackley</vt:lpstr>
      <vt:lpstr>Implementare GA pentru funcția Ackley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Catalina</cp:lastModifiedBy>
  <cp:revision>625</cp:revision>
  <dcterms:created xsi:type="dcterms:W3CDTF">2007-06-04T09:28:42Z</dcterms:created>
  <dcterms:modified xsi:type="dcterms:W3CDTF">2025-05-09T10:19:24Z</dcterms:modified>
</cp:coreProperties>
</file>