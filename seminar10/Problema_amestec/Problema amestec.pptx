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6" r:id="rId6"/>
    <p:sldId id="265" r:id="rId7"/>
    <p:sldId id="259" r:id="rId8"/>
    <p:sldId id="260" r:id="rId9"/>
    <p:sldId id="261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2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55B42-E1E3-43F9-8EEB-7011875FF0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53B0BB-46AE-69D3-0DF6-B244E76EDA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C9DD1-4B1A-7F4E-3349-B162641F2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C120-F69A-4F5A-9641-F299A41EBAD3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CEBA5-80D7-7CB3-3C1C-EB2B9A63F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4DD27-54F1-D600-6C6B-22E839084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FAE1-99EC-42E9-827A-04962F45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90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76230-B968-ED78-4D2C-D83828EF0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920D5-198A-FA46-B064-133292E6F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D8535-BC89-A49E-71AA-3FA30F2FA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C120-F69A-4F5A-9641-F299A41EBAD3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54859-DD5C-61DF-E1FE-827FED8F7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70A1A-6F8C-BF0B-AC8B-30F17B87B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FAE1-99EC-42E9-827A-04962F45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83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D676-237A-C5B3-1F43-2C5C9565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C2811-BFEB-84CF-26E1-C4DA1600C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4BD9D-27F2-4360-DF91-289B472C4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C120-F69A-4F5A-9641-F299A41EBAD3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EA50F-FDEA-F780-0E66-4ECFCF79A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5238B-BC2D-3BC1-265E-2186A7CC1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FAE1-99EC-42E9-827A-04962F45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815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AEF47-C236-5ABE-34E4-0E552AC6F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81020-5E0E-7DB0-1B11-B0D0376767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A30A3-6C80-8896-1160-EC8C17182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C64650-B9DB-746D-2D14-811193859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C120-F69A-4F5A-9641-F299A41EBAD3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1AEEE9-086E-5A15-DC3D-F8354AF7E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8CA4D8-2C3C-C3F8-3E28-D28DF985C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FAE1-99EC-42E9-827A-04962F45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726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88FCA-518E-E9A6-7B38-07C46B82D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E8744-FB70-E26C-8317-AF9010C80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87DF7F-2FCC-84DF-D929-AAEB0972CA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D8A579-3D27-A9BE-FB0D-42810A8A12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84E7EB-EF03-EB12-A4C9-9BF76689DB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7289DF-12A2-DA89-60F2-29BDA7F1A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C120-F69A-4F5A-9641-F299A41EBAD3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60CD2A-FF14-94BB-0572-8311D552A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7A6CD2-D031-7B46-7427-9B7641EEA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FAE1-99EC-42E9-827A-04962F45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658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A64C9-CB41-04F6-F1CD-59754C668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BB3F88-0297-1755-024B-D05A164D6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C120-F69A-4F5A-9641-F299A41EBAD3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0963B0-7208-61B2-6BC5-9552F3E60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5EEFB4-DA45-A585-6C79-10B2ECE44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FAE1-99EC-42E9-827A-04962F45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40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D5F157-26B3-517D-92FB-FB962BC1A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C120-F69A-4F5A-9641-F299A41EBAD3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41303F-526A-891A-B46E-391437BA8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6211A-44E2-6281-3804-892F6A229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FAE1-99EC-42E9-827A-04962F45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431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47AEF-474F-5416-6E17-24D47E85C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7FAA4-7ABC-C56A-DD28-510FF330C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E5CC7C-DD91-BF81-3926-9DE38305F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95F0D4-4CA3-7F07-18AF-7069BA008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C120-F69A-4F5A-9641-F299A41EBAD3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0BC6DE-AA8E-EF9A-0B97-73479D593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FCA847-AD75-33EC-E5FC-1C1402E60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FAE1-99EC-42E9-827A-04962F45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63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6C32C-A059-45BA-7607-213DC7FA6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AF73EC-404C-5B94-3287-CF4475D3AD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1F02EE-2ECF-8E00-1298-ECF8E0B4F9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1ADF1D-21F4-742D-CE4C-66ACA7971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C120-F69A-4F5A-9641-F299A41EBAD3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E0926-CB24-EF75-B64C-B1E6BF907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A235FE-BDF9-E80A-E429-209D33AF8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FAE1-99EC-42E9-827A-04962F45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504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4BB59-77A9-46C0-4A27-01D08233D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56EB01-E431-E0AF-6462-3953D03D0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FFF45-C862-63AD-D10A-7AE2A62C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C120-F69A-4F5A-9641-F299A41EBAD3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4820B-9CE6-D728-7A34-49C5831EE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BD35E-1F22-DE79-7208-F40B03516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FAE1-99EC-42E9-827A-04962F45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43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A3BF14-EEEA-5FC3-BFD9-C8E11A8D0E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95858A-EDA7-0931-6C6A-C27BB20D8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E47A7-17DB-A2D4-C697-B42467E1F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C120-F69A-4F5A-9641-F299A41EBAD3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B7603-D03E-F678-91F1-950C36721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CFF96-4654-F855-FFDF-4A8D6347B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2FAE1-99EC-42E9-827A-04962F45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78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055777-A77D-CD37-57C9-8BF7F30A1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CDA5E-38FD-0F0A-A484-D67CE2A75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2EEEC-1F72-0BF9-943C-6311627DFC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88C120-F69A-4F5A-9641-F299A41EBAD3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120DA-C2A2-BEE3-E605-4274B581AB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AF7BB-082D-E642-C2C3-E41A27ED8D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2FAE1-99EC-42E9-827A-04962F45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765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6FA3-F53F-73BC-FACE-A921119DDD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o-RO" dirty="0"/>
              <a:t>Problema amestec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B82268-D084-562F-42DA-52B2768A51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176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FD2B2-4C69-A0D1-A191-A0750CF6C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Enunț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1B1E6-A155-63EF-ECEE-E07A33021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04034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ro-RO" sz="6200" dirty="0"/>
              <a:t>O fabrică ambalează fructe deshidratate pentru distribuție către magazine. Materiile prime utilizate sunt (fructe deshidratate): smochine, ananas, curmale, merișor. Cantitățile disponibile din fiecare materie primă sunt, în ordine: 100, 80, 120, 50  (kilograme). Fabrica ambalează următoarele combinații, în pachete de câte 200g: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ro-RO" sz="6200" dirty="0"/>
              <a:t>-	Combinația 1: 30% smochine, 25% ananas, 25% curmale, 20% merișor;</a:t>
            </a:r>
          </a:p>
          <a:p>
            <a:pPr marL="0" indent="0">
              <a:lnSpc>
                <a:spcPct val="160000"/>
              </a:lnSpc>
              <a:spcBef>
                <a:spcPts val="600"/>
              </a:spcBef>
              <a:buNone/>
            </a:pPr>
            <a:r>
              <a:rPr lang="ro-RO" sz="6200" dirty="0"/>
              <a:t>-	Combinația 2: 75% curmale, 25% smochine;</a:t>
            </a:r>
          </a:p>
          <a:p>
            <a:pPr marL="0" indent="0">
              <a:lnSpc>
                <a:spcPct val="160000"/>
              </a:lnSpc>
              <a:spcBef>
                <a:spcPts val="600"/>
              </a:spcBef>
              <a:buNone/>
            </a:pPr>
            <a:r>
              <a:rPr lang="ro-RO" sz="6200" dirty="0"/>
              <a:t>-	Combinația 3: 25% smochine, 25% ananas, 25% curmale, 25% merișor;</a:t>
            </a:r>
          </a:p>
          <a:p>
            <a:pPr marL="0" indent="0">
              <a:lnSpc>
                <a:spcPct val="160000"/>
              </a:lnSpc>
              <a:spcBef>
                <a:spcPts val="600"/>
              </a:spcBef>
              <a:buNone/>
            </a:pPr>
            <a:r>
              <a:rPr lang="ro-RO" sz="6200" dirty="0"/>
              <a:t>-	Combinația 4: 100% curmale;</a:t>
            </a:r>
          </a:p>
          <a:p>
            <a:pPr marL="0" indent="0">
              <a:lnSpc>
                <a:spcPct val="160000"/>
              </a:lnSpc>
              <a:spcBef>
                <a:spcPts val="600"/>
              </a:spcBef>
              <a:buNone/>
            </a:pPr>
            <a:r>
              <a:rPr lang="ro-RO" sz="6200" dirty="0"/>
              <a:t>-	Combinația 5: 100% smochine; 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ro-RO" sz="6200" dirty="0"/>
              <a:t>Profiturile aduse de fiecare combinație sunt, în ordine: 20, 10, 15, 12, 5 unități pe pachet. 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ro-RO" sz="6200" dirty="0"/>
              <a:t>Utilizați un algoritm genetic pentru a determina cantitățile din fiecare combinație care trebuie produse pentru a maximiza profitul.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430702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2C98B-EFC1-7336-CACF-0F96E868F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Rezolvare GA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C11F19-1D88-1806-A7D3-2C3EF1B88B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8750"/>
                <a:ext cx="10515600" cy="4748213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Date de intrare, preluate din fișiere text 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masa pentru 1 pachet (kg): </a:t>
                </a:r>
                <a:r>
                  <a:rPr lang="ro-RO" sz="1800" i="1" dirty="0"/>
                  <a:t>masa_pachet</a:t>
                </a:r>
              </a:p>
              <a:p>
                <a:pPr lvl="1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vector cantități disponibile (kg) din fiecare materie primă</a:t>
                </a:r>
              </a:p>
              <a:p>
                <a:pPr lvl="1" algn="ctr">
                  <a:buFont typeface="Wingdings" panose="05000000000000000000" pitchFamily="2" charset="2"/>
                  <a:buChar char="q"/>
                </a:pPr>
                <a:r>
                  <a:rPr lang="ro-RO" sz="1800" i="1" dirty="0"/>
                  <a:t>cantități[i]</a:t>
                </a:r>
                <a:r>
                  <a:rPr lang="ro-RO" sz="1800" dirty="0"/>
                  <a:t> = masa disponibilă din materia primă </a:t>
                </a:r>
                <a:r>
                  <a:rPr lang="ro-RO" sz="1800" i="1" dirty="0"/>
                  <a:t>i,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ro-RO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1..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𝑛𝑟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𝑚𝑎𝑡𝑒𝑟𝑖𝑖</m:t>
                        </m:r>
                      </m:e>
                    </m:d>
                  </m:oMath>
                </a14:m>
                <a:r>
                  <a:rPr lang="en-US" sz="1800" dirty="0"/>
                  <a:t> - [</a:t>
                </a:r>
                <a:r>
                  <a:rPr lang="ro-RO" sz="1800" i="1" dirty="0"/>
                  <a:t>100 80 120 50</a:t>
                </a:r>
                <a:r>
                  <a:rPr lang="en-US" sz="1800" dirty="0"/>
                  <a:t>]</a:t>
                </a:r>
                <a:endParaRPr lang="ro-RO" sz="1800" dirty="0"/>
              </a:p>
              <a:p>
                <a:pPr marL="457200" lvl="1" indent="0">
                  <a:buNone/>
                </a:pPr>
                <a:endParaRPr lang="ro-RO" sz="1800" dirty="0"/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vector profit unitar (unități) pentru fiecare tip de pachet</a:t>
                </a:r>
              </a:p>
              <a:p>
                <a:pPr lvl="1" algn="ctr">
                  <a:buFont typeface="Wingdings" panose="05000000000000000000" pitchFamily="2" charset="2"/>
                  <a:buChar char="q"/>
                </a:pPr>
                <a:r>
                  <a:rPr lang="ro-RO" sz="1800" i="1" dirty="0"/>
                  <a:t>profituri[i]</a:t>
                </a:r>
                <a:r>
                  <a:rPr lang="ro-RO" sz="1800" dirty="0"/>
                  <a:t> = unități profit aduse de un pachet de tip </a:t>
                </a:r>
                <a:r>
                  <a:rPr lang="ro-RO" sz="1800" i="1" dirty="0"/>
                  <a:t>i,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ro-RO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1..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𝑛𝑟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𝑡𝑖𝑝𝑢𝑟𝑖</m:t>
                        </m:r>
                      </m:e>
                    </m:d>
                  </m:oMath>
                </a14:m>
                <a:r>
                  <a:rPr lang="en-US" sz="1800" i="1" dirty="0"/>
                  <a:t> -</a:t>
                </a:r>
                <a:r>
                  <a:rPr lang="en-US" sz="1800" dirty="0"/>
                  <a:t>[20 10 15 12 5]</a:t>
                </a:r>
                <a:endParaRPr lang="ro-RO" sz="1800" dirty="0"/>
              </a:p>
              <a:p>
                <a:pPr lvl="1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matricea combinații (procente)</a:t>
                </a:r>
              </a:p>
              <a:p>
                <a:pPr lvl="1" algn="ctr">
                  <a:buFont typeface="Wingdings" panose="05000000000000000000" pitchFamily="2" charset="2"/>
                  <a:buChar char="q"/>
                </a:pPr>
                <a:r>
                  <a:rPr lang="ro-RO" sz="1800" i="1" dirty="0"/>
                  <a:t>combinații[i,j]</a:t>
                </a:r>
                <a:r>
                  <a:rPr lang="ro-RO" sz="1800" dirty="0"/>
                  <a:t> = procente din </a:t>
                </a:r>
                <a:r>
                  <a:rPr lang="ro-RO" sz="1800" i="1" dirty="0"/>
                  <a:t>masa_pachet </a:t>
                </a:r>
                <a:r>
                  <a:rPr lang="ro-RO" sz="1800" dirty="0"/>
                  <a:t>pentru tipul de pachet </a:t>
                </a:r>
                <a:r>
                  <a:rPr lang="ro-RO" sz="1800" i="1" dirty="0"/>
                  <a:t>i</a:t>
                </a:r>
                <a:r>
                  <a:rPr lang="ro-RO" sz="1800" dirty="0"/>
                  <a:t> e format din materia prima </a:t>
                </a:r>
                <a:r>
                  <a:rPr lang="ro-RO" sz="1800" i="1" dirty="0"/>
                  <a:t>j</a:t>
                </a:r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ro-RO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 2, …,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𝑛𝑟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𝑡𝑖𝑝𝑢𝑟𝑖</m:t>
                        </m:r>
                      </m:e>
                    </m:d>
                  </m:oMath>
                </a14:m>
                <a:r>
                  <a:rPr lang="ro-RO" sz="1800" b="0" dirty="0"/>
                  <a:t>,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ro-RO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 2, …, 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𝑛𝑟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_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𝑚𝑎𝑡𝑒𝑟𝑖𝑖</m:t>
                        </m:r>
                      </m:e>
                    </m:d>
                  </m:oMath>
                </a14:m>
                <a:endParaRPr lang="en-US" sz="1800" i="1" dirty="0"/>
              </a:p>
              <a:p>
                <a:pPr marL="457200" lvl="1" indent="0" algn="ctr">
                  <a:buNone/>
                </a:pPr>
                <a:r>
                  <a:rPr lang="ro-RO" sz="1800" i="1" dirty="0"/>
                  <a:t>30 </a:t>
                </a:r>
                <a:r>
                  <a:rPr lang="en-US" sz="1800" i="1" dirty="0"/>
                  <a:t>  </a:t>
                </a:r>
                <a:r>
                  <a:rPr lang="ro-RO" sz="1800" i="1" dirty="0"/>
                  <a:t>25 </a:t>
                </a:r>
                <a:r>
                  <a:rPr lang="en-US" sz="1800" i="1" dirty="0"/>
                  <a:t>  </a:t>
                </a:r>
                <a:r>
                  <a:rPr lang="ro-RO" sz="1800" i="1" dirty="0"/>
                  <a:t>25 </a:t>
                </a:r>
                <a:r>
                  <a:rPr lang="en-US" sz="1800" i="1" dirty="0"/>
                  <a:t>  </a:t>
                </a:r>
                <a:r>
                  <a:rPr lang="ro-RO" sz="1800" i="1" dirty="0"/>
                  <a:t>20</a:t>
                </a:r>
              </a:p>
              <a:p>
                <a:pPr marL="457200" lvl="1" indent="0" algn="ctr">
                  <a:buNone/>
                </a:pPr>
                <a:r>
                  <a:rPr lang="ro-RO" sz="1800" i="1" dirty="0"/>
                  <a:t>25 </a:t>
                </a:r>
                <a:r>
                  <a:rPr lang="en-US" sz="1800" i="1" dirty="0"/>
                  <a:t>  </a:t>
                </a:r>
                <a:r>
                  <a:rPr lang="ro-RO" sz="1800" i="1" dirty="0"/>
                  <a:t> 0 </a:t>
                </a:r>
                <a:r>
                  <a:rPr lang="en-US" sz="1800" i="1" dirty="0"/>
                  <a:t>   </a:t>
                </a:r>
                <a:r>
                  <a:rPr lang="ro-RO" sz="1800" i="1" dirty="0"/>
                  <a:t>75 </a:t>
                </a:r>
                <a:r>
                  <a:rPr lang="en-US" sz="1800" i="1" dirty="0"/>
                  <a:t>   </a:t>
                </a:r>
                <a:r>
                  <a:rPr lang="ro-RO" sz="1800" i="1" dirty="0"/>
                  <a:t> 0</a:t>
                </a:r>
              </a:p>
              <a:p>
                <a:pPr marL="457200" lvl="1" indent="0" algn="ctr">
                  <a:buNone/>
                </a:pPr>
                <a:r>
                  <a:rPr lang="ro-RO" sz="1800" i="1" dirty="0"/>
                  <a:t>25 </a:t>
                </a:r>
                <a:r>
                  <a:rPr lang="en-US" sz="1800" i="1" dirty="0"/>
                  <a:t>  </a:t>
                </a:r>
                <a:r>
                  <a:rPr lang="ro-RO" sz="1800" i="1" dirty="0"/>
                  <a:t>25 </a:t>
                </a:r>
                <a:r>
                  <a:rPr lang="en-US" sz="1800" i="1" dirty="0"/>
                  <a:t> </a:t>
                </a:r>
                <a:r>
                  <a:rPr lang="ro-RO" sz="1800" i="1" dirty="0"/>
                  <a:t> 25 </a:t>
                </a:r>
                <a:r>
                  <a:rPr lang="en-US" sz="1800" i="1" dirty="0"/>
                  <a:t>  </a:t>
                </a:r>
                <a:r>
                  <a:rPr lang="ro-RO" sz="1800" i="1" dirty="0"/>
                  <a:t>25</a:t>
                </a:r>
              </a:p>
              <a:p>
                <a:pPr marL="457200" lvl="1" indent="0" algn="ctr">
                  <a:buNone/>
                </a:pPr>
                <a:r>
                  <a:rPr lang="ro-RO" sz="1800" i="1" dirty="0"/>
                  <a:t>0 </a:t>
                </a:r>
                <a:r>
                  <a:rPr lang="en-US" sz="1800" i="1" dirty="0"/>
                  <a:t>     </a:t>
                </a:r>
                <a:r>
                  <a:rPr lang="ro-RO" sz="1800" i="1" dirty="0"/>
                  <a:t>0</a:t>
                </a:r>
                <a:r>
                  <a:rPr lang="en-US" sz="1800" i="1" dirty="0"/>
                  <a:t>  </a:t>
                </a:r>
                <a:r>
                  <a:rPr lang="ro-RO" sz="1800" i="1" dirty="0"/>
                  <a:t> 100</a:t>
                </a:r>
                <a:r>
                  <a:rPr lang="en-US" sz="1800" i="1" dirty="0"/>
                  <a:t>   </a:t>
                </a:r>
                <a:r>
                  <a:rPr lang="ro-RO" sz="1800" i="1" dirty="0"/>
                  <a:t> 0</a:t>
                </a:r>
              </a:p>
              <a:p>
                <a:pPr marL="457200" lvl="1" indent="0" algn="ctr">
                  <a:buNone/>
                </a:pPr>
                <a:r>
                  <a:rPr lang="ro-RO" sz="1800" i="1" dirty="0"/>
                  <a:t>100 </a:t>
                </a:r>
                <a:r>
                  <a:rPr lang="en-US" sz="1800" i="1" dirty="0"/>
                  <a:t> </a:t>
                </a:r>
                <a:r>
                  <a:rPr lang="ro-RO" sz="1800" i="1" dirty="0"/>
                  <a:t>0</a:t>
                </a:r>
                <a:r>
                  <a:rPr lang="en-US" sz="1800" i="1" dirty="0"/>
                  <a:t>      </a:t>
                </a:r>
                <a:r>
                  <a:rPr lang="ro-RO" sz="1800" i="1" dirty="0"/>
                  <a:t> 0</a:t>
                </a:r>
                <a:r>
                  <a:rPr lang="en-US" sz="1800" i="1" dirty="0"/>
                  <a:t>    </a:t>
                </a:r>
                <a:r>
                  <a:rPr lang="ro-RO" sz="1800" i="1" dirty="0"/>
                  <a:t> 0</a:t>
                </a:r>
              </a:p>
              <a:p>
                <a:pPr marL="457200" lvl="1" indent="0">
                  <a:buNone/>
                </a:pPr>
                <a:endParaRPr lang="ro-RO" dirty="0"/>
              </a:p>
              <a:p>
                <a:endParaRPr lang="ro-R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C11F19-1D88-1806-A7D3-2C3EF1B88B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8750"/>
                <a:ext cx="10515600" cy="4748213"/>
              </a:xfrm>
              <a:blipFill>
                <a:blip r:embed="rId2"/>
                <a:stretch>
                  <a:fillRect l="-290" t="-1797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0964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2C98B-EFC1-7336-CACF-0F96E868F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Rezolvare GA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C11F19-1D88-1806-A7D3-2C3EF1B88B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610850" cy="4486275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Spațiul soluțiilor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Tipuri de pachete (combinații) numerotate 1..</a:t>
                </a:r>
                <a:r>
                  <a:rPr lang="ro-RO" sz="1800" i="1" dirty="0"/>
                  <a:t>nr_tipuri</a:t>
                </a:r>
                <a:r>
                  <a:rPr lang="ro-RO" sz="1800" dirty="0"/>
                  <a:t>, materii prime numerotate 1..</a:t>
                </a:r>
                <a:r>
                  <a:rPr lang="ro-RO" sz="1800" i="1" dirty="0"/>
                  <a:t>nr_materii</a:t>
                </a:r>
                <a:endParaRPr lang="en-US" sz="1800" i="1" dirty="0"/>
              </a:p>
              <a:p>
                <a:pPr marL="457200" lvl="1" indent="0">
                  <a:buNone/>
                </a:pPr>
                <a:endParaRPr lang="ro-RO" sz="1800" i="1" dirty="0"/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Pentru fiecare tip de pachet este calculat numărul de pachete produse, cuprins între 0 și o limită maximă</a:t>
                </a:r>
              </a:p>
              <a:p>
                <a:pPr lvl="2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Limita maximă pentru fiecare tip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 dirty="0">
                            <a:latin typeface="Cambria Math" panose="02040503050406030204" pitchFamily="18" charset="0"/>
                          </a:rPr>
                          <m:t>𝑙𝑖𝑚𝑖𝑡𝑒</m:t>
                        </m:r>
                        <m:r>
                          <a:rPr lang="ro-RO" sz="1800" i="1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ro-RO" sz="18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ro-RO" sz="1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1800" dirty="0"/>
                  <a:t>) se calculează ca minim dintre</a:t>
                </a:r>
                <a:r>
                  <a:rPr lang="en-US" sz="1800" dirty="0"/>
                  <a:t> n</a:t>
                </a:r>
                <a:r>
                  <a:rPr lang="ro-RO" sz="1800" dirty="0"/>
                  <a:t>umărul maxim de pachete care se pot produce considerând ca restricție câte o singură materie primă, pe rând</a:t>
                </a:r>
                <a:endParaRPr lang="en-US" sz="1800" dirty="0"/>
              </a:p>
              <a:p>
                <a:pPr marL="1371600" lvl="3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r>
                  <a:rPr lang="en-US" sz="1800" dirty="0"/>
                  <a:t>	</a:t>
                </a:r>
                <a:r>
                  <a:rPr lang="ro-RO" sz="1800" dirty="0"/>
                  <a:t>#pt fiecare combinatie i, vectorul maximului de pachete in functie de materia prima folosita</a:t>
                </a:r>
              </a:p>
              <a:p>
                <a:pPr marL="457200" lvl="1" indent="0">
                  <a:buNone/>
                </a:pPr>
                <a:r>
                  <a:rPr lang="ro-RO" sz="1800" dirty="0"/>
                  <a:t>        for j in </a:t>
                </a:r>
                <a:r>
                  <a:rPr lang="ro-RO" sz="1800" dirty="0" err="1"/>
                  <a:t>range</a:t>
                </a:r>
                <a:r>
                  <a:rPr lang="ro-RO" sz="1800" dirty="0"/>
                  <a:t>(</a:t>
                </a:r>
                <a:r>
                  <a:rPr lang="en-US" sz="1800" dirty="0" err="1"/>
                  <a:t>nr_materii</a:t>
                </a:r>
                <a:r>
                  <a:rPr lang="ro-RO" sz="1800" dirty="0"/>
                  <a:t>):</a:t>
                </a:r>
              </a:p>
              <a:p>
                <a:pPr marL="457200" lvl="1" indent="0">
                  <a:buNone/>
                </a:pPr>
                <a:r>
                  <a:rPr lang="ro-RO" sz="1800" dirty="0"/>
                  <a:t>            if combinatii[i,j]:</a:t>
                </a:r>
              </a:p>
              <a:p>
                <a:pPr marL="457200" lvl="1" indent="0">
                  <a:buNone/>
                </a:pPr>
                <a:r>
                  <a:rPr lang="ro-RO" sz="1800" dirty="0"/>
                  <a:t>                nr_produse[j]=cantitati[j]/(masa_pachet*combinatii[i,j]/100)</a:t>
                </a:r>
                <a:endParaRPr lang="en-US" sz="1800" dirty="0"/>
              </a:p>
              <a:p>
                <a:pPr marL="457200" lvl="1" indent="0">
                  <a:buNone/>
                </a:pPr>
                <a:r>
                  <a:rPr lang="nn-NO" sz="1800" dirty="0"/>
                  <a:t>	 else:</a:t>
                </a:r>
              </a:p>
              <a:p>
                <a:pPr marL="457200" lvl="1" indent="0">
                  <a:buNone/>
                </a:pPr>
                <a:r>
                  <a:rPr lang="nn-NO" sz="1800" dirty="0"/>
                  <a:t>                nr_produse[j]=val_infinit</a:t>
                </a:r>
                <a:endParaRPr lang="ro-RO" sz="1800" dirty="0"/>
              </a:p>
              <a:p>
                <a:pPr marL="914400" lvl="2" indent="0">
                  <a:buNone/>
                </a:pPr>
                <a:endParaRPr lang="nn-NO" sz="1800" dirty="0"/>
              </a:p>
              <a:p>
                <a:pPr marL="914400" lvl="2" indent="0">
                  <a:buNone/>
                </a:pPr>
                <a:r>
                  <a:rPr lang="nn-NO" sz="1800" dirty="0"/>
                  <a:t>limite_s[i]=int(np.min(nr_produse))</a:t>
                </a:r>
                <a:endParaRPr lang="ro-RO" sz="1800" dirty="0"/>
              </a:p>
              <a:p>
                <a:pPr lvl="1"/>
                <a:endParaRPr lang="ro-RO" sz="1800" dirty="0"/>
              </a:p>
              <a:p>
                <a:endParaRPr lang="ro-RO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C11F19-1D88-1806-A7D3-2C3EF1B88B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610850" cy="4486275"/>
              </a:xfrm>
              <a:blipFill>
                <a:blip r:embed="rId2"/>
                <a:stretch>
                  <a:fillRect l="-287" t="-1359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9056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2F1DD-7FEC-E8C6-D03E-92C42F1D0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D33E5-3CDF-AF39-C74C-8E62CDE03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Rezolvare GA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9DD47-4ED3-50E1-CFEF-D73DBFD71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610850" cy="4486275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800" dirty="0" err="1"/>
              <a:t>Exemplu</a:t>
            </a: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Combinatia</a:t>
            </a:r>
            <a:r>
              <a:rPr lang="en-US" sz="1800" dirty="0"/>
              <a:t> 1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err="1"/>
              <a:t>numarul</a:t>
            </a:r>
            <a:r>
              <a:rPr lang="en-US" sz="1800" dirty="0"/>
              <a:t> maxim de </a:t>
            </a:r>
            <a:r>
              <a:rPr lang="en-US" sz="1800" dirty="0" err="1"/>
              <a:t>pachete</a:t>
            </a:r>
            <a:r>
              <a:rPr lang="en-US" sz="1800" dirty="0"/>
              <a:t> </a:t>
            </a:r>
            <a:r>
              <a:rPr lang="en-US" sz="1800" dirty="0" err="1"/>
              <a:t>relativ</a:t>
            </a:r>
            <a:r>
              <a:rPr lang="en-US" sz="1800" dirty="0"/>
              <a:t> la </a:t>
            </a:r>
            <a:r>
              <a:rPr lang="en-US" sz="1800" dirty="0" err="1"/>
              <a:t>fiecare</a:t>
            </a:r>
            <a:r>
              <a:rPr lang="en-US" sz="1800" dirty="0"/>
              <a:t> </a:t>
            </a:r>
            <a:r>
              <a:rPr lang="en-US" sz="1800" dirty="0" err="1"/>
              <a:t>produs</a:t>
            </a:r>
            <a:r>
              <a:rPr lang="en-US" sz="1800" dirty="0"/>
              <a:t> [1666, 1600, 2400, 1250], </a:t>
            </a:r>
            <a:r>
              <a:rPr lang="en-US" sz="1800" dirty="0" err="1"/>
              <a:t>limita</a:t>
            </a:r>
            <a:r>
              <a:rPr lang="en-US" sz="1800" dirty="0"/>
              <a:t> 1250.0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Combinatia</a:t>
            </a:r>
            <a:r>
              <a:rPr lang="en-US" sz="1800" dirty="0"/>
              <a:t> 2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err="1"/>
              <a:t>numarul</a:t>
            </a:r>
            <a:r>
              <a:rPr lang="en-US" sz="1800" dirty="0"/>
              <a:t> maxim de </a:t>
            </a:r>
            <a:r>
              <a:rPr lang="en-US" sz="1800" dirty="0" err="1"/>
              <a:t>pachete</a:t>
            </a:r>
            <a:r>
              <a:rPr lang="en-US" sz="1800" dirty="0"/>
              <a:t> </a:t>
            </a:r>
            <a:r>
              <a:rPr lang="en-US" sz="1800" dirty="0" err="1"/>
              <a:t>relativ</a:t>
            </a:r>
            <a:r>
              <a:rPr lang="en-US" sz="1800" dirty="0"/>
              <a:t> la </a:t>
            </a:r>
            <a:r>
              <a:rPr lang="en-US" sz="1800" dirty="0" err="1"/>
              <a:t>fiecare</a:t>
            </a:r>
            <a:r>
              <a:rPr lang="en-US" sz="1800" dirty="0"/>
              <a:t> </a:t>
            </a:r>
            <a:r>
              <a:rPr lang="en-US" sz="1800" dirty="0" err="1"/>
              <a:t>produs</a:t>
            </a:r>
            <a:r>
              <a:rPr lang="en-US" sz="1800" dirty="0"/>
              <a:t> [2000, 1000000, 800, 1000000], </a:t>
            </a:r>
            <a:r>
              <a:rPr lang="en-US" sz="1800" dirty="0" err="1"/>
              <a:t>limita</a:t>
            </a:r>
            <a:r>
              <a:rPr lang="en-US" sz="1800" dirty="0"/>
              <a:t> 800.0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Combinatia</a:t>
            </a:r>
            <a:r>
              <a:rPr lang="en-US" sz="1800" dirty="0"/>
              <a:t> 3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err="1"/>
              <a:t>numarul</a:t>
            </a:r>
            <a:r>
              <a:rPr lang="en-US" sz="1800" dirty="0"/>
              <a:t> maxim de </a:t>
            </a:r>
            <a:r>
              <a:rPr lang="en-US" sz="1800" dirty="0" err="1"/>
              <a:t>pachete</a:t>
            </a:r>
            <a:r>
              <a:rPr lang="en-US" sz="1800" dirty="0"/>
              <a:t> </a:t>
            </a:r>
            <a:r>
              <a:rPr lang="en-US" sz="1800" dirty="0" err="1"/>
              <a:t>relativ</a:t>
            </a:r>
            <a:r>
              <a:rPr lang="en-US" sz="1800" dirty="0"/>
              <a:t> la </a:t>
            </a:r>
            <a:r>
              <a:rPr lang="en-US" sz="1800" dirty="0" err="1"/>
              <a:t>fiecare</a:t>
            </a:r>
            <a:r>
              <a:rPr lang="en-US" sz="1800" dirty="0"/>
              <a:t> </a:t>
            </a:r>
            <a:r>
              <a:rPr lang="en-US" sz="1800" dirty="0" err="1"/>
              <a:t>produs</a:t>
            </a:r>
            <a:r>
              <a:rPr lang="en-US" sz="1800" dirty="0"/>
              <a:t> [2000, 1600, 2400, 1000], </a:t>
            </a:r>
            <a:r>
              <a:rPr lang="en-US" sz="1800" dirty="0" err="1"/>
              <a:t>limita</a:t>
            </a:r>
            <a:r>
              <a:rPr lang="en-US" sz="1800" dirty="0"/>
              <a:t> 1000.0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Combinatia</a:t>
            </a:r>
            <a:r>
              <a:rPr lang="en-US" sz="1800" dirty="0"/>
              <a:t> 4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err="1"/>
              <a:t>numarul</a:t>
            </a:r>
            <a:r>
              <a:rPr lang="en-US" sz="1800" dirty="0"/>
              <a:t> maxim de </a:t>
            </a:r>
            <a:r>
              <a:rPr lang="en-US" sz="1800" dirty="0" err="1"/>
              <a:t>pachete</a:t>
            </a:r>
            <a:r>
              <a:rPr lang="en-US" sz="1800" dirty="0"/>
              <a:t> </a:t>
            </a:r>
            <a:r>
              <a:rPr lang="en-US" sz="1800" dirty="0" err="1"/>
              <a:t>relativ</a:t>
            </a:r>
            <a:r>
              <a:rPr lang="en-US" sz="1800" dirty="0"/>
              <a:t> la </a:t>
            </a:r>
            <a:r>
              <a:rPr lang="en-US" sz="1800" dirty="0" err="1"/>
              <a:t>fiecare</a:t>
            </a:r>
            <a:r>
              <a:rPr lang="en-US" sz="1800" dirty="0"/>
              <a:t> </a:t>
            </a:r>
            <a:r>
              <a:rPr lang="en-US" sz="1800" dirty="0" err="1"/>
              <a:t>produs</a:t>
            </a:r>
            <a:r>
              <a:rPr lang="en-US" sz="1800" dirty="0"/>
              <a:t> [1000000, 1000000, 600, 1000000], </a:t>
            </a:r>
            <a:r>
              <a:rPr lang="en-US" sz="1800" dirty="0" err="1"/>
              <a:t>limita</a:t>
            </a:r>
            <a:r>
              <a:rPr lang="en-US" sz="1800" dirty="0"/>
              <a:t> 600.0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Combinatia</a:t>
            </a:r>
            <a:r>
              <a:rPr lang="en-US" sz="1800" dirty="0"/>
              <a:t> 5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err="1"/>
              <a:t>numarul</a:t>
            </a:r>
            <a:r>
              <a:rPr lang="en-US" sz="1800" dirty="0"/>
              <a:t> maxim de </a:t>
            </a:r>
            <a:r>
              <a:rPr lang="en-US" sz="1800" dirty="0" err="1"/>
              <a:t>pachete</a:t>
            </a:r>
            <a:r>
              <a:rPr lang="en-US" sz="1800" dirty="0"/>
              <a:t> </a:t>
            </a:r>
            <a:r>
              <a:rPr lang="en-US" sz="1800" dirty="0" err="1"/>
              <a:t>relativ</a:t>
            </a:r>
            <a:r>
              <a:rPr lang="en-US" sz="1800" dirty="0"/>
              <a:t> la </a:t>
            </a:r>
            <a:r>
              <a:rPr lang="en-US" sz="1800" dirty="0" err="1"/>
              <a:t>fiecare</a:t>
            </a:r>
            <a:r>
              <a:rPr lang="en-US" sz="1800" dirty="0"/>
              <a:t> </a:t>
            </a:r>
            <a:r>
              <a:rPr lang="en-US" sz="1800" dirty="0" err="1"/>
              <a:t>produs</a:t>
            </a:r>
            <a:r>
              <a:rPr lang="en-US" sz="1800" dirty="0"/>
              <a:t> [500, 1000000, 1000000, 1000000], </a:t>
            </a:r>
            <a:r>
              <a:rPr lang="en-US" sz="1800" dirty="0" err="1"/>
              <a:t>limita</a:t>
            </a:r>
            <a:r>
              <a:rPr lang="en-US" sz="1800" dirty="0"/>
              <a:t> 500.0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ro-RO" sz="1800" dirty="0"/>
          </a:p>
          <a:p>
            <a:pPr lvl="1"/>
            <a:endParaRPr lang="ro-RO" sz="1800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508874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2C98B-EFC1-7336-CACF-0F96E868F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Rezolvare GA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C11F19-1D88-1806-A7D3-2C3EF1B88B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610850" cy="4486275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Spațiul soluțiilor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marL="1371600" lvl="3" indent="0">
                  <a:buNone/>
                </a:pPr>
                <a:endParaRPr lang="ro-RO" dirty="0"/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Genotip: vector cu </a:t>
                </a:r>
                <a:r>
                  <a:rPr lang="ro-RO" sz="1800" i="1" dirty="0"/>
                  <a:t>nr_tipuri</a:t>
                </a:r>
                <a:r>
                  <a:rPr lang="ro-RO" sz="1800" dirty="0"/>
                  <a:t> elemente, fiecare element </a:t>
                </a:r>
                <a:r>
                  <a:rPr lang="ro-RO" sz="1800" i="1" dirty="0"/>
                  <a:t>i</a:t>
                </a:r>
                <a:r>
                  <a:rPr lang="ro-RO" sz="1800" dirty="0"/>
                  <a:t> din mulțimea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𝑆</m:t>
                        </m:r>
                      </m:e>
                      <m:sub>
                        <m:r>
                          <a:rPr lang="ro-RO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  <m:r>
                      <a:rPr lang="ro-RO" sz="18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ro-RO" sz="180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ro-RO" sz="180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ro-RO" sz="180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ro-RO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 dirty="0">
                            <a:latin typeface="Cambria Math" panose="02040503050406030204" pitchFamily="18" charset="0"/>
                          </a:rPr>
                          <m:t>𝑙𝑖𝑚𝑖𝑡𝑒</m:t>
                        </m:r>
                        <m:r>
                          <a:rPr lang="ro-RO" sz="1800" i="1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ro-RO" sz="18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ro-RO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o-RO" sz="180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ro-RO" sz="1800" dirty="0"/>
              </a:p>
              <a:p>
                <a:pPr lvl="1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Spațiul soluțiilor:</a:t>
                </a:r>
                <a:r>
                  <a:rPr lang="ro-RO" sz="1800" b="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ro-RO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𝑆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𝑆</m:t>
                        </m:r>
                      </m:e>
                      <m:sub>
                        <m:r>
                          <a:rPr lang="ro-RO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sSub>
                      <m:sSubPr>
                        <m:ctrlPr>
                          <a:rPr lang="ro-RO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ro-RO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𝑆</m:t>
                        </m:r>
                      </m:e>
                      <m:sub>
                        <m:r>
                          <a:rPr lang="ro-RO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sSub>
                      <m:sSubPr>
                        <m:ctrlPr>
                          <a:rPr lang="ro-RO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ro-RO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𝑆</m:t>
                        </m:r>
                      </m:e>
                      <m:sub>
                        <m:r>
                          <a:rPr lang="ro-RO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sub>
                    </m:sSub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×…×</m:t>
                    </m:r>
                    <m:sSub>
                      <m:sSubPr>
                        <m:ctrlPr>
                          <a:rPr lang="ro-RO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ro-RO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𝑆</m:t>
                        </m:r>
                      </m:e>
                      <m:sub>
                        <m:r>
                          <a:rPr lang="ro-RO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𝑛𝑟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_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𝑡𝑖𝑝𝑢𝑟𝑖</m:t>
                        </m:r>
                      </m:sub>
                    </m:sSub>
                  </m:oMath>
                </a14:m>
                <a:r>
                  <a:rPr lang="ro-RO" sz="1800" dirty="0"/>
                  <a:t>, numărul punctelor:</a:t>
                </a:r>
                <a:r>
                  <a:rPr lang="ro-RO" sz="1800" b="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o-RO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1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ro-RO" sz="1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𝑆</m:t>
                            </m:r>
                          </m:e>
                          <m:sub>
                            <m:r>
                              <a:rPr lang="ro-RO" sz="1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</m:t>
                    </m:r>
                    <m:d>
                      <m:dPr>
                        <m:begChr m:val="|"/>
                        <m:endChr m:val="|"/>
                        <m:ctrlPr>
                          <a:rPr lang="ro-RO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1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ro-RO" sz="1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𝑆</m:t>
                            </m:r>
                          </m:e>
                          <m:sub>
                            <m:r>
                              <a:rPr lang="ro-RO" sz="1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×…×</m:t>
                    </m:r>
                    <m:d>
                      <m:dPr>
                        <m:begChr m:val="|"/>
                        <m:endChr m:val="|"/>
                        <m:ctrlPr>
                          <a:rPr lang="ro-RO" sz="18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1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ro-RO" sz="1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𝑆</m:t>
                            </m:r>
                          </m:e>
                          <m:sub>
                            <m:r>
                              <a:rPr lang="ro-RO" sz="1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𝑛𝑟</m:t>
                            </m:r>
                            <m:r>
                              <a:rPr lang="ro-RO" sz="1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_</m:t>
                            </m:r>
                            <m:r>
                              <a:rPr lang="ro-RO" sz="1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𝑡𝑖𝑝𝑢𝑟𝑖</m:t>
                            </m:r>
                          </m:sub>
                        </m:sSub>
                      </m:e>
                    </m:d>
                  </m:oMath>
                </a14:m>
                <a:endParaRPr lang="ro-RO" sz="1800" dirty="0"/>
              </a:p>
              <a:p>
                <a:pPr lvl="1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Complexitate exponențială în variabila </a:t>
                </a:r>
                <a:r>
                  <a:rPr lang="ro-RO" sz="1800" i="1" dirty="0"/>
                  <a:t>nr_tipuri</a:t>
                </a:r>
                <a:r>
                  <a:rPr lang="en-US" sz="1800" i="1" dirty="0"/>
                  <a:t> </a:t>
                </a:r>
                <a:r>
                  <a:rPr lang="en-US" sz="1800" dirty="0"/>
                  <a:t>(model genera</a:t>
                </a:r>
                <a:r>
                  <a:rPr lang="ro-RO" sz="1800" dirty="0"/>
                  <a:t>țional</a:t>
                </a:r>
                <a:r>
                  <a:rPr lang="en-US" sz="1800" dirty="0"/>
                  <a:t>) </a:t>
                </a:r>
                <a:endParaRPr lang="ro-RO" sz="1800" dirty="0"/>
              </a:p>
              <a:p>
                <a:pPr marL="457200" lvl="1" indent="0">
                  <a:buNone/>
                </a:pPr>
                <a:endParaRPr lang="ro-RO" sz="1800" dirty="0"/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Problemă cu constrângeri - cantități limitate de materii prime</a:t>
                </a:r>
              </a:p>
              <a:p>
                <a:pPr lvl="1"/>
                <a:endParaRPr lang="ro-RO" dirty="0"/>
              </a:p>
              <a:p>
                <a:pPr lvl="1"/>
                <a:endParaRPr lang="ro-RO" dirty="0"/>
              </a:p>
              <a:p>
                <a:endParaRPr lang="ro-R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C11F19-1D88-1806-A7D3-2C3EF1B88B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610850" cy="4486275"/>
              </a:xfrm>
              <a:blipFill>
                <a:blip r:embed="rId2"/>
                <a:stretch>
                  <a:fillRect l="-402" t="-1223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3329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A3C9A-C3E4-E3FF-DB1C-B0597DC25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Rezolvare GA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DC291B-142E-916A-55A0-0EE84FAEDB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2475" y="1543050"/>
                <a:ext cx="10515600" cy="5180013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Evaluare și verificare fezabilitate</a:t>
                </a:r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ro-RO" sz="1800" i="1" dirty="0"/>
                  <a:t>x</a:t>
                </a:r>
                <a:r>
                  <a:rPr lang="ro-RO" sz="1800" dirty="0"/>
                  <a:t> – genotip</a:t>
                </a:r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Profit generat de alegerea </a:t>
                </a:r>
                <a:r>
                  <a:rPr lang="ro-RO" sz="1800" i="1" dirty="0"/>
                  <a:t>x</a:t>
                </a:r>
                <a:r>
                  <a:rPr lang="en-US" sz="1800" i="1" dirty="0"/>
                  <a:t> = </a:t>
                </a:r>
                <a:r>
                  <a:rPr lang="en-US" sz="1800" i="1" dirty="0" err="1"/>
                  <a:t>func</a:t>
                </a:r>
                <a:r>
                  <a:rPr lang="ro-RO" sz="1800" i="1" dirty="0"/>
                  <a:t>ția obiectiv (fitness)</a:t>
                </a:r>
                <a:r>
                  <a:rPr lang="ro-RO" sz="1800" dirty="0"/>
                  <a:t>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b="0" i="1" dirty="0" smtClean="0">
                          <a:latin typeface="Cambria Math" panose="02040503050406030204" pitchFamily="18" charset="0"/>
                        </a:rPr>
                        <m:t>𝑃𝑟𝑜𝑓𝑖𝑡</m:t>
                      </m:r>
                      <m:d>
                        <m:dPr>
                          <m:ctrlPr>
                            <a:rPr lang="ro-RO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o-RO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ro-RO" sz="18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ro-RO" sz="18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o-RO" sz="18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o-RO" sz="1800" b="0" i="1" dirty="0" smtClean="0">
                              <a:latin typeface="Cambria Math" panose="02040503050406030204" pitchFamily="18" charset="0"/>
                            </a:rPr>
                            <m:t>𝑛𝑟</m:t>
                          </m:r>
                          <m:r>
                            <a:rPr lang="ro-RO" sz="1800" b="0" i="1" dirty="0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ro-RO" sz="1800" b="0" i="1" dirty="0" smtClean="0">
                              <a:latin typeface="Cambria Math" panose="02040503050406030204" pitchFamily="18" charset="0"/>
                            </a:rPr>
                            <m:t>𝑡𝑖𝑝𝑢𝑟𝑖</m:t>
                          </m:r>
                        </m:sup>
                        <m:e>
                          <m:r>
                            <a:rPr lang="ro-RO" sz="1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ro-RO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8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ro-RO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ro-RO" sz="1800" b="0" i="1" dirty="0" smtClean="0">
                              <a:latin typeface="Cambria Math" panose="02040503050406030204" pitchFamily="18" charset="0"/>
                            </a:rPr>
                            <m:t>𝑝𝑟𝑜𝑓𝑖𝑡𝑢𝑟𝑖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ro-RO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8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ro-RO" sz="1800" dirty="0"/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en-US" sz="1800" dirty="0"/>
                  <a:t>Scop:</a:t>
                </a:r>
                <a:r>
                  <a:rPr lang="en-US" sz="1800" i="1" dirty="0"/>
                  <a:t> </a:t>
                </a:r>
                <a:endParaRPr lang="ro-RO" sz="1800" i="1" dirty="0"/>
              </a:p>
              <a:p>
                <a:pPr lvl="2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maximizare profitului</a:t>
                </a:r>
                <a:endParaRPr lang="en-US" sz="1800" dirty="0"/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Genotip fezabil: nu depășește cantitățile maxime disponibile de materii prime</a:t>
                </a:r>
              </a:p>
              <a:p>
                <a:pPr lvl="2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Sunt calculate cantitățile necesare pentru alegerea x și sunt comparate cu cantitățile disponibile</a:t>
                </a:r>
              </a:p>
              <a:p>
                <a:pPr lvl="2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Cantitățile necesare pentru alegerea x:</a:t>
                </a:r>
              </a:p>
              <a:p>
                <a:pPr marL="0" indent="0" algn="just">
                  <a:buNone/>
                </a:pPr>
                <a:r>
                  <a:rPr lang="ro-RO" sz="1800" dirty="0"/>
                  <a:t>	consum_combinatie=combinatii*masa_pachet/100</a:t>
                </a:r>
              </a:p>
              <a:p>
                <a:pPr marL="0" indent="0" algn="just">
                  <a:buNone/>
                </a:pPr>
                <a:r>
                  <a:rPr lang="ro-RO" sz="1800" dirty="0"/>
                  <a:t>	for i in range(n):</a:t>
                </a:r>
              </a:p>
              <a:p>
                <a:pPr marL="0" indent="0" algn="just">
                  <a:buNone/>
                </a:pPr>
                <a:r>
                  <a:rPr lang="ro-RO" sz="1800" dirty="0"/>
                  <a:t>        		consum_combinatie[i,:]*=x[i]</a:t>
                </a:r>
              </a:p>
              <a:p>
                <a:pPr marL="0" indent="0" algn="just">
                  <a:buNone/>
                </a:pPr>
                <a:r>
                  <a:rPr lang="ro-RO" sz="1800" dirty="0"/>
                  <a:t>	total_consum_combinatie=np.sum(consum_combinatie,0) #suma pe coloane</a:t>
                </a: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DC291B-142E-916A-55A0-0EE84FAEDB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2475" y="1543050"/>
                <a:ext cx="10515600" cy="5180013"/>
              </a:xfrm>
              <a:blipFill>
                <a:blip r:embed="rId2"/>
                <a:stretch>
                  <a:fillRect l="-348" t="-1059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3662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8F792-C064-C117-0B2E-DF07ECBE5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Rezolvare GA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A5686-2B66-9693-3606-FA7E41618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09700"/>
            <a:ext cx="10658475" cy="5083175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ro-RO" sz="1800" dirty="0"/>
              <a:t>Model de populație </a:t>
            </a:r>
            <a:r>
              <a:rPr lang="ro-RO" sz="1800" dirty="0">
                <a:sym typeface="Wingdings" panose="05000000000000000000" pitchFamily="2" charset="2"/>
              </a:rPr>
              <a:t> 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generațional (problema NP-completă, funcția fitness ușor de evaluat) 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populații cu dimensiune constantă, </a:t>
            </a:r>
            <a:r>
              <a:rPr lang="ro-RO" sz="1800" i="1" noProof="1">
                <a:sym typeface="Wingdings" panose="05000000000000000000" pitchFamily="2" charset="2"/>
              </a:rPr>
              <a:t>Dim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ro-RO" sz="1800" dirty="0">
              <a:sym typeface="Wingdings" panose="05000000000000000000" pitchFamily="2" charset="2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Generarea populației inițiale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Aleator uniform, din spațiul soluțiilor, cu evaluarea și verificarea fezabilității pentru fiecare individ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Dacă sunt generați indivizi nefezabili, aceștia sunt ignorați și este repetată generarea</a:t>
            </a:r>
          </a:p>
          <a:p>
            <a:pPr lvl="1" algn="just">
              <a:buFont typeface="Wingdings" panose="05000000000000000000" pitchFamily="2" charset="2"/>
              <a:buChar char="q"/>
            </a:pPr>
            <a:endParaRPr lang="ro-RO" sz="1800" dirty="0">
              <a:sym typeface="Wingdings" panose="05000000000000000000" pitchFamily="2" charset="2"/>
            </a:endParaRPr>
          </a:p>
          <a:p>
            <a:pPr lvl="1" algn="just">
              <a:buFont typeface="Wingdings" panose="05000000000000000000" pitchFamily="2" charset="2"/>
              <a:buChar char="q"/>
            </a:pPr>
            <a:endParaRPr lang="ro-RO" sz="1800" dirty="0">
              <a:sym typeface="Wingdings" panose="05000000000000000000" pitchFamily="2" charset="2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Operatori de selecție</a:t>
            </a:r>
          </a:p>
          <a:p>
            <a:pPr marL="0" indent="0" algn="just">
              <a:buNone/>
            </a:pPr>
            <a:endParaRPr lang="ro-RO" sz="1800" dirty="0">
              <a:sym typeface="Wingdings" panose="05000000000000000000" pitchFamily="2" charset="2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Selecția părinților 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Model generațional: din </a:t>
            </a:r>
            <a:r>
              <a:rPr lang="ro-RO" sz="1800" i="1" dirty="0">
                <a:sym typeface="Wingdings" panose="05000000000000000000" pitchFamily="2" charset="2"/>
              </a:rPr>
              <a:t>dim</a:t>
            </a:r>
            <a:r>
              <a:rPr lang="ro-RO" sz="1800" dirty="0">
                <a:sym typeface="Wingdings" panose="05000000000000000000" pitchFamily="2" charset="2"/>
              </a:rPr>
              <a:t> indivizi în populația curentă selectăm </a:t>
            </a:r>
            <a:r>
              <a:rPr lang="ro-RO" sz="1800" i="1" dirty="0">
                <a:sym typeface="Wingdings" panose="05000000000000000000" pitchFamily="2" charset="2"/>
              </a:rPr>
              <a:t>dim</a:t>
            </a:r>
            <a:r>
              <a:rPr lang="ro-RO" sz="1800" dirty="0">
                <a:sym typeface="Wingdings" panose="05000000000000000000" pitchFamily="2" charset="2"/>
              </a:rPr>
              <a:t> părinți</a:t>
            </a:r>
          </a:p>
          <a:p>
            <a:pPr lvl="1" indent="-285750" algn="ctr">
              <a:buFont typeface="Wingdings" panose="05000000000000000000" pitchFamily="2" charset="2"/>
              <a:buChar char="q"/>
            </a:pPr>
            <a:endParaRPr lang="ro-RO" sz="1800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ro-RO" altLang="en-US" sz="1800" dirty="0"/>
              <a:t>Funcția fitness este cu valori strict pozitive </a:t>
            </a:r>
            <a:r>
              <a:rPr lang="ro-RO" altLang="en-US" sz="1800" dirty="0">
                <a:sym typeface="Wingdings" panose="05000000000000000000" pitchFamily="2" charset="2"/>
              </a:rPr>
              <a:t> </a:t>
            </a:r>
            <a:r>
              <a:rPr lang="ro-RO" altLang="en-US" sz="1800" dirty="0"/>
              <a:t>mecanismul SUS cu distribuția de probabilitate FPS cu sigma-scalare </a:t>
            </a:r>
          </a:p>
          <a:p>
            <a:pPr marL="457200" lvl="1" indent="0">
              <a:buNone/>
            </a:pPr>
            <a:endParaRPr lang="ro-RO" altLang="en-US" sz="1800" dirty="0"/>
          </a:p>
          <a:p>
            <a:pPr algn="just">
              <a:buFont typeface="Wingdings" panose="05000000000000000000" pitchFamily="2" charset="2"/>
              <a:buChar char="q"/>
            </a:pPr>
            <a:r>
              <a:rPr lang="ro-RO" sz="1800" dirty="0"/>
              <a:t>Selecția generației următoare: elitism (model generațional)</a:t>
            </a:r>
          </a:p>
          <a:p>
            <a:pPr algn="just"/>
            <a:endParaRPr lang="ro-RO" sz="2000" dirty="0">
              <a:sym typeface="Wingdings" panose="05000000000000000000" pitchFamily="2" charset="2"/>
            </a:endParaRP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727723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80B28-0D69-E342-A033-92F84EB1E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Rezolvare GA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FE96D3-F169-5383-44A4-83E2F00F6C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900" dirty="0"/>
                  <a:t>Operatori de variație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endParaRPr lang="ro-RO" sz="19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900" dirty="0"/>
                  <a:t>Recombinare</a:t>
                </a:r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ro-RO" sz="1900" dirty="0"/>
                  <a:t>Problemă cu constrângeri </a:t>
                </a:r>
                <a:r>
                  <a:rPr lang="ro-RO" altLang="en-US" sz="1900" dirty="0">
                    <a:sym typeface="Wingdings" panose="05000000000000000000" pitchFamily="2" charset="2"/>
                  </a:rPr>
                  <a:t></a:t>
                </a:r>
                <a:r>
                  <a:rPr lang="ro-RO" sz="1900" dirty="0"/>
                  <a:t> schema generală de recombinare cu constrângeri</a:t>
                </a:r>
              </a:p>
              <a:p>
                <a:pPr lvl="2">
                  <a:buFont typeface="Wingdings" panose="05000000000000000000" pitchFamily="2" charset="2"/>
                  <a:buChar char="q"/>
                </a:pPr>
                <a:r>
                  <a:rPr lang="ro-RO" sz="1900" dirty="0"/>
                  <a:t>Orice descendent nefezabil este înlocuit cu părintele corespunzător lui</a:t>
                </a:r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ro-RO" sz="1900" dirty="0"/>
                  <a:t>Operator de recombinare: reprezentare prin numere întregi </a:t>
                </a:r>
                <a:r>
                  <a:rPr lang="ro-RO" altLang="en-US" sz="1900" dirty="0">
                    <a:sym typeface="Wingdings" panose="05000000000000000000" pitchFamily="2" charset="2"/>
                  </a:rPr>
                  <a:t></a:t>
                </a:r>
                <a:r>
                  <a:rPr lang="ro-RO" sz="1900" dirty="0"/>
                  <a:t> </a:t>
                </a:r>
                <a:r>
                  <a:rPr lang="ro-RO" sz="1900"/>
                  <a:t>recombinare unipunct/multipunct/uniformă</a:t>
                </a:r>
                <a:endParaRPr lang="ro-RO" sz="1900" dirty="0"/>
              </a:p>
              <a:p>
                <a:pPr lvl="1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19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ro-RO" sz="19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</m:e>
                      <m:sub>
                        <m:r>
                          <a:rPr lang="ro-RO" sz="19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ro-RO" sz="1900" dirty="0"/>
                  <a:t> = 0,8 − 0,9 </a:t>
                </a:r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ro-RO" sz="1900" dirty="0"/>
                  <a:t>Model generațional </a:t>
                </a:r>
                <a:r>
                  <a:rPr lang="ro-RO" altLang="en-US" sz="1900" dirty="0">
                    <a:sym typeface="Wingdings" panose="05000000000000000000" pitchFamily="2" charset="2"/>
                  </a:rPr>
                  <a:t></a:t>
                </a:r>
                <a:r>
                  <a:rPr lang="ro-RO" sz="1900" dirty="0"/>
                  <a:t> include recombinare asexuată (</a:t>
                </a:r>
                <a:r>
                  <a:rPr lang="ro-RO" sz="1900" i="1" dirty="0"/>
                  <a:t>nr. descendenți </a:t>
                </a:r>
                <a:r>
                  <a:rPr lang="ro-RO" sz="1900" dirty="0"/>
                  <a:t>=</a:t>
                </a:r>
                <a:r>
                  <a:rPr lang="ro-RO" sz="1900" i="1" dirty="0"/>
                  <a:t> dim</a:t>
                </a:r>
                <a:r>
                  <a:rPr lang="ro-RO" sz="1900" dirty="0"/>
                  <a:t>)</a:t>
                </a:r>
              </a:p>
              <a:p>
                <a:pPr lvl="1">
                  <a:buFont typeface="Wingdings" panose="05000000000000000000" pitchFamily="2" charset="2"/>
                  <a:buChar char="q"/>
                </a:pPr>
                <a:endParaRPr lang="ro-RO" sz="19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900" dirty="0"/>
                  <a:t>Mutație</a:t>
                </a:r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ro-RO" sz="1900" dirty="0"/>
                  <a:t>Problemă cu constrângeri </a:t>
                </a:r>
                <a:r>
                  <a:rPr lang="ro-RO" altLang="en-US" sz="1900" dirty="0">
                    <a:sym typeface="Wingdings" panose="05000000000000000000" pitchFamily="2" charset="2"/>
                  </a:rPr>
                  <a:t></a:t>
                </a:r>
                <a:r>
                  <a:rPr lang="ro-RO" sz="1900" dirty="0"/>
                  <a:t> schema generală de mutație cu constrângeri</a:t>
                </a:r>
              </a:p>
              <a:p>
                <a:pPr lvl="2">
                  <a:buFont typeface="Wingdings" panose="05000000000000000000" pitchFamily="2" charset="2"/>
                  <a:buChar char="q"/>
                </a:pPr>
                <a:r>
                  <a:rPr lang="ro-RO" sz="1900" dirty="0"/>
                  <a:t>Dacă este obținut indiviz nefezabil, renunță la mutație pentru acel individ</a:t>
                </a:r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ro-RO" sz="1900" dirty="0"/>
                  <a:t>Operator de mutație: fluaj (atribute ordinale) </a:t>
                </a:r>
                <a:r>
                  <a:rPr lang="ro-RO" sz="1900" dirty="0">
                    <a:sym typeface="Wingdings" panose="05000000000000000000" pitchFamily="2" charset="2"/>
                  </a:rPr>
                  <a:t> modificarea numărului de pachete dintr-un tip</a:t>
                </a:r>
                <a:endParaRPr lang="ro-RO" sz="1900" dirty="0"/>
              </a:p>
              <a:p>
                <a:pPr lvl="1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𝑝</m:t>
                        </m:r>
                      </m:e>
                      <m:sub>
                        <m:r>
                          <a:rPr lang="en-US" sz="19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</m:sub>
                    </m:sSub>
                    <m:r>
                      <a:rPr lang="en-US" sz="19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9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9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n-US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num>
                          <m:den>
                            <m:r>
                              <a:rPr lang="en-US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𝐷𝑖𝑚</m:t>
                            </m:r>
                            <m:r>
                              <a:rPr lang="en-US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∗</m:t>
                            </m:r>
                            <m:r>
                              <a:rPr lang="ro-RO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𝑛𝑟</m:t>
                            </m:r>
                            <m:r>
                              <a:rPr lang="ro-RO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_</m:t>
                            </m:r>
                            <m:r>
                              <a:rPr lang="ro-RO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𝑡𝑖𝑝𝑢𝑟𝑖</m:t>
                            </m:r>
                          </m:den>
                        </m:f>
                        <m:r>
                          <a:rPr lang="en-U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f>
                          <m:fPr>
                            <m:ctrlPr>
                              <a:rPr lang="en-US" sz="19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n-US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num>
                          <m:den>
                            <m:r>
                              <a:rPr lang="ro-RO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𝑛𝑟</m:t>
                            </m:r>
                            <m:r>
                              <a:rPr lang="ro-RO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_</m:t>
                            </m:r>
                            <m:r>
                              <a:rPr lang="ro-RO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𝑡𝑖𝑝𝑢𝑟𝑖</m:t>
                            </m:r>
                          </m:den>
                        </m:f>
                      </m:e>
                    </m:d>
                  </m:oMath>
                </a14:m>
                <a:endParaRPr lang="ro-RO" sz="1900" dirty="0"/>
              </a:p>
              <a:p>
                <a:endParaRPr lang="ro-RO" dirty="0"/>
              </a:p>
              <a:p>
                <a:pPr lvl="1"/>
                <a:endParaRPr lang="ro-RO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FE96D3-F169-5383-44A4-83E2F00F6C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  <a:blipFill>
                <a:blip r:embed="rId2"/>
                <a:stretch>
                  <a:fillRect l="-406" t="-224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3829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8F792-C064-C117-0B2E-DF07ECBE5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Rezolvare GA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7A5686-2B66-9693-3606-FA7E41618D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Condiția de terminare</a:t>
                </a:r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după un număr maxim de iterații, </a:t>
                </a:r>
                <a:r>
                  <a:rPr lang="ro-RO" sz="1800" i="1" dirty="0"/>
                  <a:t>nmax</a:t>
                </a:r>
                <a:r>
                  <a:rPr lang="ro-RO" sz="1800" dirty="0"/>
                  <a:t>, sau</a:t>
                </a:r>
              </a:p>
              <a:p>
                <a:pPr lvl="1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dacă în populația curentă toți indivizii au aceeași calitate sau </a:t>
                </a:r>
              </a:p>
              <a:p>
                <a:pPr lvl="1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dacă pe parcursul ultimelor </a:t>
                </a:r>
                <a14:m>
                  <m:oMath xmlns:m="http://schemas.openxmlformats.org/officeDocument/2006/math">
                    <m:r>
                      <a:rPr lang="ro-RO" sz="18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o-RO" sz="18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sz="1800" i="1" dirty="0" err="1" smtClean="0">
                        <a:latin typeface="Cambria Math" panose="02040503050406030204" pitchFamily="18" charset="0"/>
                      </a:rPr>
                      <m:t>𝑛𝑚𝑎𝑥</m:t>
                    </m:r>
                    <m:r>
                      <a:rPr lang="ro-RO" sz="1800" i="1" dirty="0" smtClean="0">
                        <a:latin typeface="Cambria Math" panose="02040503050406030204" pitchFamily="18" charset="0"/>
                      </a:rPr>
                      <m:t>/3</m:t>
                    </m:r>
                  </m:oMath>
                </a14:m>
                <a:r>
                  <a:rPr lang="ro-RO" sz="1800" dirty="0"/>
                  <a:t> generații nu a fost îmbunătățită valoarea maximă a funcției calitate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endParaRPr lang="ro-RO" sz="180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/>
                  <a:t>Soluție</a:t>
                </a:r>
                <a:endParaRPr lang="ro-RO" sz="1800" dirty="0"/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Cel mai bun individ din populația finală</a:t>
                </a:r>
              </a:p>
              <a:p>
                <a:endParaRPr lang="ro-R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7A5686-2B66-9693-3606-FA7E41618D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t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3918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1024</Words>
  <Application>Microsoft Office PowerPoint</Application>
  <PresentationFormat>Widescreen</PresentationFormat>
  <Paragraphs>132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Wingdings</vt:lpstr>
      <vt:lpstr>Office Theme</vt:lpstr>
      <vt:lpstr>Problema amestec</vt:lpstr>
      <vt:lpstr>Enunț</vt:lpstr>
      <vt:lpstr>Rezolvare GA</vt:lpstr>
      <vt:lpstr>Rezolvare GA</vt:lpstr>
      <vt:lpstr>Rezolvare GA</vt:lpstr>
      <vt:lpstr>Rezolvare GA</vt:lpstr>
      <vt:lpstr>Rezolvare GA</vt:lpstr>
      <vt:lpstr>Rezolvare GA</vt:lpstr>
      <vt:lpstr>Rezolvare GA</vt:lpstr>
      <vt:lpstr>Rezolvare GA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Problema amestec</dc:title>
  <dc:creator>X</dc:creator>
  <cp:lastModifiedBy>Catalina</cp:lastModifiedBy>
  <cp:revision>41</cp:revision>
  <dcterms:created xsi:type="dcterms:W3CDTF">2023-05-11T07:58:38Z</dcterms:created>
  <dcterms:modified xsi:type="dcterms:W3CDTF">2025-05-12T08:17:01Z</dcterms:modified>
</cp:coreProperties>
</file>