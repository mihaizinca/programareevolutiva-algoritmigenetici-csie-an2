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6"/>
  </p:notesMasterIdLst>
  <p:sldIdLst>
    <p:sldId id="256" r:id="rId2"/>
    <p:sldId id="475" r:id="rId3"/>
    <p:sldId id="476" r:id="rId4"/>
    <p:sldId id="460" r:id="rId5"/>
    <p:sldId id="461" r:id="rId6"/>
    <p:sldId id="462" r:id="rId7"/>
    <p:sldId id="463" r:id="rId8"/>
    <p:sldId id="464" r:id="rId9"/>
    <p:sldId id="465" r:id="rId10"/>
    <p:sldId id="466" r:id="rId11"/>
    <p:sldId id="467" r:id="rId12"/>
    <p:sldId id="443" r:id="rId13"/>
    <p:sldId id="469" r:id="rId14"/>
    <p:sldId id="417" r:id="rId15"/>
    <p:sldId id="438" r:id="rId16"/>
    <p:sldId id="447" r:id="rId17"/>
    <p:sldId id="471" r:id="rId18"/>
    <p:sldId id="431" r:id="rId19"/>
    <p:sldId id="448" r:id="rId20"/>
    <p:sldId id="472" r:id="rId21"/>
    <p:sldId id="454" r:id="rId22"/>
    <p:sldId id="456" r:id="rId23"/>
    <p:sldId id="473" r:id="rId24"/>
    <p:sldId id="474" r:id="rId25"/>
  </p:sldIdLst>
  <p:sldSz cx="9144000" cy="6858000" type="screen4x3"/>
  <p:notesSz cx="6815138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6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6080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E29FF2-BC44-4658-AC2D-BAE8AD18E1D6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3925" y="746125"/>
            <a:ext cx="496887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22813"/>
            <a:ext cx="5453062" cy="44735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4038"/>
            <a:ext cx="29527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60800" y="9444038"/>
            <a:ext cx="29527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2AEB9E-043C-45E6-9F5B-E49AAD5C0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657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2AEB9E-043C-45E6-9F5B-E49AAD5C0AF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63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Garamond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409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409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8A464-CBBD-46EF-916C-F94F914244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74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99D355-B647-491B-B98A-E87E712D8D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13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C4549-F086-4B3D-85C6-A4C5C74A0F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9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B9392-376C-42ED-B472-4CE3E609B5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56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3B58B8-7ABC-487C-8AFE-82F03791E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79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2F6519-5001-4FF9-848F-7305CF455B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2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0C2F85-2599-451F-B8B2-832600078F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316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86940-F289-4763-843B-976885DDEE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48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EAE45-71CE-4085-82FF-11ACD501A2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24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6AD17-FD54-4210-991F-E86B1B3F8A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06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95EC44-6F90-461D-93F9-A499A2BDB8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98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BD4C1-8F27-4073-BDC6-F3215BB65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48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96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C64D7-A370-40E0-BD06-6004A548D6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2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6EA8E899-540B-4134-8F83-C0647B0C3B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2400">
                <a:latin typeface="Times New Roman" pitchFamily="18" charset="0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Garamond" pitchFamily="18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aramond" pitchFamily="18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aramond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aramond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>
                <a:solidFill>
                  <a:schemeClr val="accent2"/>
                </a:solidFill>
                <a:latin typeface="Arial" charset="0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99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  <p:sldLayoutId id="2147483907" r:id="rId12"/>
    <p:sldLayoutId id="2147483908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43001"/>
            <a:ext cx="7772400" cy="3048000"/>
          </a:xfrm>
        </p:spPr>
        <p:txBody>
          <a:bodyPr/>
          <a:lstStyle/>
          <a:p>
            <a:pPr eaLnBrk="1" hangingPunct="1">
              <a:defRPr/>
            </a:pPr>
            <a:br>
              <a:rPr lang="en-US" sz="4000" dirty="0"/>
            </a:br>
            <a:br>
              <a:rPr lang="en-US" sz="4000" dirty="0"/>
            </a:br>
            <a:br>
              <a:rPr lang="en-US" sz="4000" dirty="0"/>
            </a:br>
            <a:r>
              <a:rPr lang="ro-RO" sz="4000" dirty="0">
                <a:effectLst/>
              </a:rPr>
              <a:t>Optimizarea portofoliilor de active. </a:t>
            </a:r>
            <a:br>
              <a:rPr lang="ro-RO" sz="4000" dirty="0">
                <a:effectLst/>
              </a:rPr>
            </a:br>
            <a:br>
              <a:rPr lang="ro-RO" sz="4000" dirty="0">
                <a:effectLst/>
              </a:rPr>
            </a:br>
            <a:r>
              <a:rPr lang="ro-RO" sz="4000" dirty="0">
                <a:effectLst/>
              </a:rPr>
              <a:t>Abordări</a:t>
            </a:r>
            <a:r>
              <a:rPr lang="en-US" sz="4000" dirty="0">
                <a:effectLst/>
              </a:rPr>
              <a:t> GA</a:t>
            </a:r>
            <a:r>
              <a:rPr lang="ro-RO" sz="4000" dirty="0">
                <a:effectLst/>
              </a:rPr>
              <a:t> și ES.</a:t>
            </a:r>
            <a:br>
              <a:rPr lang="ro-RO" sz="4000" dirty="0">
                <a:effectLst/>
              </a:rPr>
            </a:br>
            <a:br>
              <a:rPr lang="en-US" sz="4000" dirty="0"/>
            </a:br>
            <a:br>
              <a:rPr lang="it-IT" sz="2000" dirty="0"/>
            </a:b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457200"/>
            <a:ext cx="8458200" cy="858838"/>
          </a:xfrm>
        </p:spPr>
        <p:txBody>
          <a:bodyPr/>
          <a:lstStyle/>
          <a:p>
            <a:pPr lvl="2"/>
            <a:r>
              <a:rPr lang="ro-RO" sz="2800" b="1" dirty="0">
                <a:solidFill>
                  <a:schemeClr val="bg2"/>
                </a:solidFill>
              </a:rPr>
              <a:t>Problema optimizării portofoliilor</a:t>
            </a:r>
            <a:br>
              <a:rPr lang="ro-RO" sz="2800" b="1" dirty="0">
                <a:solidFill>
                  <a:schemeClr val="bg2"/>
                </a:solidFill>
              </a:rPr>
            </a:br>
            <a:r>
              <a:rPr lang="ro-RO" sz="2800" b="1" dirty="0">
                <a:solidFill>
                  <a:schemeClr val="bg2"/>
                </a:solidFill>
              </a:rPr>
              <a:t>Randamentul / riscul unui portofoliu</a:t>
            </a:r>
            <a:endParaRPr lang="ro-RO" sz="260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342900" y="1981200"/>
                <a:ext cx="8229600" cy="47244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𝐴</m:t>
                    </m:r>
                    <m:r>
                      <a:rPr lang="en-US" sz="18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b="0" i="1" smtClean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o-RO" sz="18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ro-RO" sz="1800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o-RO" sz="1800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ro-RO" sz="1800" b="0" i="1" smtClean="0"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ro-RO" sz="1800" b="0" i="1" smtClean="0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800" b="0" i="1" smtClean="0">
                        <a:latin typeface="Cambria Math"/>
                        <a:ea typeface="Cambria Math"/>
                      </a:rPr>
                      <m:t>↔</m:t>
                    </m:r>
                    <m:d>
                      <m:dPr>
                        <m:begChr m:val="{"/>
                        <m:endChr m:val="}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/>
                          </a:rPr>
                          <m:t>1,2,…,</m:t>
                        </m:r>
                        <m:r>
                          <a:rPr lang="en-US" sz="1800" b="0" i="1" smtClean="0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1800" dirty="0"/>
                  <a:t> active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it-IT" sz="1800" i="1">
                        <a:latin typeface="Cambria Math"/>
                      </a:rPr>
                      <m:t>𝑆</m:t>
                    </m:r>
                    <m:r>
                      <a:rPr lang="en-US" sz="1800" b="0" i="1" smtClean="0">
                        <a:latin typeface="Cambria Math"/>
                      </a:rPr>
                      <m:t>𝑠</m:t>
                    </m:r>
                  </m:oMath>
                </a14:m>
                <a:r>
                  <a:rPr lang="en-US" sz="1800" dirty="0"/>
                  <a:t> </a:t>
                </a:r>
                <a:r>
                  <a:rPr lang="ro-RO" sz="1800" dirty="0"/>
                  <a:t>suma disponibilă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Considerăm disponibil istoricul randamentelor procentuale pe </a:t>
                </a:r>
                <a:r>
                  <a:rPr lang="ro-RO" sz="1800" i="1" dirty="0"/>
                  <a:t>m</a:t>
                </a:r>
                <a:r>
                  <a:rPr lang="ro-RO" sz="1800" dirty="0"/>
                  <a:t> perioade de timp pentru fiecare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o-RO" sz="1800" b="0" i="0" smtClean="0">
                        <a:latin typeface="Cambria Math"/>
                      </a:rPr>
                      <m:t>i</m:t>
                    </m:r>
                    <m:r>
                      <a:rPr lang="ro-RO" sz="1800" b="0" i="1" smtClean="0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1,2,…,</m:t>
                        </m:r>
                        <m:r>
                          <a:rPr lang="en-US" sz="1800" i="1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endParaRPr lang="en-US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o-RO" sz="1800" dirty="0"/>
                  <a:t>, randamentul acţiunii </a:t>
                </a:r>
                <a:r>
                  <a:rPr lang="ro-RO" sz="1800" i="1" dirty="0"/>
                  <a:t>i</a:t>
                </a:r>
                <a:r>
                  <a:rPr lang="ro-RO" sz="1800" dirty="0"/>
                  <a:t> în perioada </a:t>
                </a:r>
                <a:r>
                  <a:rPr lang="ro-RO" sz="1800" i="1" dirty="0"/>
                  <a:t>j</a:t>
                </a:r>
                <a:r>
                  <a:rPr lang="it-IT" sz="1800" dirty="0"/>
                  <a:t>;</a:t>
                </a:r>
                <a:endParaRPr lang="ro-RO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din punct de vedere practic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o-RO" sz="1800" dirty="0"/>
                  <a:t> este calculat astfel: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ro-RO" sz="1800" dirty="0"/>
                  <a:t>= pretul de închidere în perioada j (zi, saptamana etc.)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𝑖𝑗</m:t>
                        </m:r>
                      </m:sub>
                    </m:sSub>
                    <m:r>
                      <a:rPr lang="ro-RO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ro-RO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ro-RO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o-RO" sz="1800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ro-RO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ro-RO" sz="1800" i="1">
                                    <a:latin typeface="Cambria Math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ro-RO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o-RO" sz="1800" i="1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ro-RO" sz="1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ro-RO" sz="1800" i="1">
                                    <a:latin typeface="Cambria Math"/>
                                  </a:rPr>
                                  <m:t>𝑗</m:t>
                                </m:r>
                                <m:r>
                                  <a:rPr lang="ro-RO" sz="18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𝑖</m:t>
                            </m:r>
                            <m:r>
                              <a:rPr lang="ro-RO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ro-RO" sz="1800" i="1">
                                <a:latin typeface="Cambria Math"/>
                              </a:rPr>
                              <m:t>𝑗</m:t>
                            </m:r>
                            <m:r>
                              <a:rPr lang="ro-RO" sz="1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den>
                    </m:f>
                  </m:oMath>
                </a14:m>
                <a:r>
                  <a:rPr lang="ro-RO" sz="1800" dirty="0"/>
                  <a:t>   </a:t>
                </a:r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42900" y="1981200"/>
                <a:ext cx="8229600" cy="4724400"/>
              </a:xfrm>
              <a:blipFill>
                <a:blip r:embed="rId2"/>
                <a:stretch>
                  <a:fillRect l="-74" t="-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091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457200"/>
            <a:ext cx="8458200" cy="858838"/>
          </a:xfrm>
        </p:spPr>
        <p:txBody>
          <a:bodyPr/>
          <a:lstStyle/>
          <a:p>
            <a:pPr lvl="2"/>
            <a:r>
              <a:rPr lang="ro-RO" sz="2800" b="1" dirty="0">
                <a:solidFill>
                  <a:schemeClr val="bg2"/>
                </a:solidFill>
              </a:rPr>
              <a:t>Problema optimizării portofoliilor</a:t>
            </a:r>
            <a:br>
              <a:rPr lang="ro-RO" sz="2800" b="1" dirty="0">
                <a:solidFill>
                  <a:schemeClr val="bg2"/>
                </a:solidFill>
              </a:rPr>
            </a:br>
            <a:r>
              <a:rPr lang="ro-RO" sz="2800" b="1" dirty="0">
                <a:solidFill>
                  <a:schemeClr val="bg2"/>
                </a:solidFill>
              </a:rPr>
              <a:t>Randamentul / riscul unui portofoliu</a:t>
            </a:r>
            <a:endParaRPr lang="en-US" sz="2600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828800"/>
                <a:ext cx="8229600" cy="47244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Valori</a:t>
                </a:r>
                <a:r>
                  <a:rPr lang="en-US" sz="1800" dirty="0"/>
                  <a:t> </a:t>
                </a:r>
                <a:r>
                  <a:rPr lang="ro-RO" sz="1800" dirty="0"/>
                  <a:t>utilizate</a:t>
                </a:r>
              </a:p>
              <a:p>
                <a:pPr lvl="1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ro-RO" sz="1800" dirty="0"/>
                  <a:t>, randamentul acţiunii </a:t>
                </a:r>
                <a:r>
                  <a:rPr lang="ro-RO" sz="1800" i="1" dirty="0"/>
                  <a:t>i</a:t>
                </a:r>
                <a:r>
                  <a:rPr lang="ro-RO" sz="1800" dirty="0"/>
                  <a:t> în perioada </a:t>
                </a:r>
                <a:r>
                  <a:rPr lang="ro-RO" sz="1800" i="1" dirty="0"/>
                  <a:t>j</a:t>
                </a:r>
                <a:r>
                  <a:rPr lang="it-IT" sz="1800" dirty="0"/>
                  <a:t>;</a:t>
                </a:r>
                <a:endParaRPr lang="ro-RO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18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o-RO" sz="1800" i="1">
                            <a:latin typeface="Cambria Math"/>
                          </a:rPr>
                          <m:t>𝑗</m:t>
                        </m:r>
                        <m:r>
                          <a:rPr lang="ro-RO" sz="18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ro-RO" sz="1800" i="1">
                            <a:latin typeface="Cambria Math"/>
                          </a:rPr>
                          <m:t>𝑚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𝑟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ro-RO" sz="1800" dirty="0"/>
                  <a:t>, randamentul mediu al acţiunii </a:t>
                </a:r>
                <a:r>
                  <a:rPr lang="ro-RO" sz="1800" i="1" dirty="0"/>
                  <a:t>i</a:t>
                </a:r>
                <a:endParaRPr lang="en-US" sz="1800" i="1" dirty="0"/>
              </a:p>
              <a:p>
                <a:pPr lvl="1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it-IT" sz="1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800" dirty="0"/>
                  <a:t>, fracţiunea investită în acţiunea </a:t>
                </a:r>
                <a:r>
                  <a:rPr lang="ro-RO" sz="1800" i="1" dirty="0"/>
                  <a:t>i</a:t>
                </a:r>
                <a:r>
                  <a:rPr lang="it-IT" sz="1800" dirty="0"/>
                  <a:t>, astfel încât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r>
                      <a:rPr lang="it-IT" sz="1800" i="1">
                        <a:latin typeface="Cambria Math"/>
                      </a:rPr>
                      <m:t>𝑆</m:t>
                    </m:r>
                    <m:r>
                      <a:rPr lang="it-IT" sz="1800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1800" i="1">
                            <a:latin typeface="Cambria Math"/>
                          </a:rPr>
                          <m:t>𝑖</m:t>
                        </m:r>
                        <m:r>
                          <a:rPr lang="it-IT" sz="18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it-IT" sz="1800" i="1"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it-IT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it-IT" sz="1800" i="1">
                        <a:latin typeface="Cambria Math"/>
                      </a:rPr>
                      <m:t>=1</m:t>
                    </m:r>
                  </m:oMath>
                </a14:m>
                <a:r>
                  <a:rPr lang="it-IT" sz="1800" dirty="0"/>
                  <a:t> </a:t>
                </a:r>
                <a:endParaRPr lang="en-US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ro-RO" sz="1800" dirty="0"/>
                  <a:t>, varianţa acţiunii </a:t>
                </a:r>
                <a:r>
                  <a:rPr lang="ro-RO" sz="1800" i="1" dirty="0"/>
                  <a:t>i</a:t>
                </a:r>
                <a:r>
                  <a:rPr lang="ro-RO" sz="1800" dirty="0"/>
                  <a:t>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800" i="1"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ro-RO" sz="1800" i="1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ro-RO" sz="1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ro-RO" sz="1800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sz="1800" i="1">
                              <a:latin typeface="Cambria Math"/>
                            </a:rPr>
                            <m:t>𝑗</m:t>
                          </m:r>
                          <m:r>
                            <a:rPr lang="ro-RO" sz="1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ro-RO" sz="180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ro-RO" sz="1800" i="1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ro-RO" sz="1800" i="1">
                                              <a:latin typeface="Cambria Math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o-RO" sz="1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800" dirty="0"/>
              </a:p>
              <a:p>
                <a:pPr lvl="1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  <m:r>
                          <a:rPr lang="ro-RO" sz="1800" b="0" i="1" smtClean="0">
                            <a:latin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o-RO" sz="1800" dirty="0"/>
                  <a:t>, covarianţa dintre acţiunile </a:t>
                </a:r>
                <a:r>
                  <a:rPr lang="ro-RO" sz="1800" i="1" dirty="0"/>
                  <a:t>i</a:t>
                </a:r>
                <a:r>
                  <a:rPr lang="ro-RO" sz="1800" dirty="0"/>
                  <a:t> şi </a:t>
                </a:r>
                <a:r>
                  <a:rPr lang="ro-RO" sz="1800" i="1" dirty="0"/>
                  <a:t>k</a:t>
                </a:r>
                <a:r>
                  <a:rPr lang="ro-RO" sz="1800" dirty="0"/>
                  <a:t>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𝑖𝑘</m:t>
                          </m:r>
                        </m:sub>
                      </m:sSub>
                      <m:r>
                        <a:rPr lang="ro-RO" sz="18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ro-RO" sz="1800" i="1">
                              <a:latin typeface="Cambria Math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sz="1800" i="1">
                              <a:latin typeface="Cambria Math"/>
                            </a:rPr>
                            <m:t>𝑗</m:t>
                          </m:r>
                          <m:r>
                            <a:rPr lang="ro-RO" sz="1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ro-RO" sz="1800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ro-RO" sz="18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𝑘𝑗</m:t>
                                  </m:r>
                                </m:sub>
                              </m:sSub>
                              <m:r>
                                <a:rPr lang="ro-RO" sz="18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b="1" dirty="0"/>
                  <a:t>Portofoliul este definit de fracţiunile de investiţii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b="1" i="1"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ro-RO" sz="1800" b="1" i="1"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ro-RO" sz="1800" b="1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b="1" i="1"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ro-RO" sz="1800" b="1" i="1">
                            <a:latin typeface="Cambria Math"/>
                          </a:rPr>
                          <m:t>𝟐</m:t>
                        </m:r>
                      </m:sub>
                    </m:sSub>
                    <m:r>
                      <a:rPr lang="ro-RO" sz="1800" b="1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b="1" i="1">
                            <a:latin typeface="Cambria Math"/>
                          </a:rPr>
                          <m:t>𝒚</m:t>
                        </m:r>
                      </m:e>
                      <m:sub>
                        <m:r>
                          <a:rPr lang="ro-RO" sz="1800" b="1" i="1"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ro-RO" sz="1800" b="1" dirty="0"/>
                  <a:t>.</a:t>
                </a:r>
                <a:endParaRPr lang="en-US" sz="1800" b="1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828800"/>
                <a:ext cx="8229600" cy="4724400"/>
              </a:xfrm>
              <a:blipFill>
                <a:blip r:embed="rId2"/>
                <a:stretch>
                  <a:fillRect l="-74" t="-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790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Randamentul / riscul unui portofoliu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620837"/>
                <a:ext cx="8229600" cy="51054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Varianţa portofoliului este definită prin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𝑉</m:t>
                      </m:r>
                      <m:d>
                        <m:dPr>
                          <m:ctrlPr>
                            <a:rPr lang="ro-RO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  <m:r>
                            <a:rPr lang="ro-RO" sz="1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ro-RO" sz="1800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ro-RO" sz="1800" i="1">
                                  <a:latin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ro-RO" sz="1800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it-IT" sz="18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it-IT" sz="1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ro-RO" sz="1800" i="1">
                          <a:latin typeface="Cambria Math"/>
                        </a:rPr>
                        <m:t>+2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  <m:r>
                            <a:rPr lang="ro-RO" sz="1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ro-RO" sz="1800" i="1">
                              <a:latin typeface="Cambria Math"/>
                            </a:rPr>
                            <m:t>𝑛</m:t>
                          </m:r>
                          <m:r>
                            <a:rPr lang="ro-RO" sz="1800" i="1">
                              <a:latin typeface="Cambria Math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o-RO" sz="1800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ro-RO" sz="1800" i="1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it-IT" sz="1800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it-IT" sz="1800" i="1">
                                      <a:latin typeface="Cambria Math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r>
                  <a:rPr lang="ro-RO" sz="1800" dirty="0"/>
                  <a:t>sau, matriceal</a:t>
                </a:r>
                <a:r>
                  <a:rPr lang="ro-RO" sz="1800" i="1" dirty="0"/>
                  <a:t> </a:t>
                </a:r>
              </a:p>
              <a:p>
                <a:pPr marL="0" indent="0">
                  <a:buNone/>
                </a:pPr>
                <a:endParaRPr lang="ro-RO" sz="180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𝑉</m:t>
                      </m:r>
                      <m:d>
                        <m:dPr>
                          <m:ctrlPr>
                            <a:rPr lang="ro-RO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/>
                        </a:rPr>
                        <m:t>𝑄𝑦</m:t>
                      </m:r>
                      <m:r>
                        <a:rPr lang="ro-RO" sz="1800" b="0" i="1" smtClean="0">
                          <a:latin typeface="Cambria Math"/>
                        </a:rPr>
                        <m:t>, </m:t>
                      </m:r>
                    </m:oMath>
                  </m:oMathPara>
                </a14:m>
                <a:endParaRPr lang="ro-RO" sz="1800" b="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𝑦</m:t>
                      </m:r>
                      <m:r>
                        <a:rPr lang="ro-RO" sz="18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o-RO" sz="1800" i="1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o-RO" sz="1800" i="1">
                                  <a:latin typeface="Cambria Math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o-RO" sz="1800" i="1"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o-RO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𝑄</m:t>
                      </m:r>
                      <m:r>
                        <a:rPr lang="ro-RO" sz="1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eqArr>
                            <m:eqArr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1≤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≤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𝑛</m:t>
                              </m:r>
                            </m:e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1≤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𝑗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≤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𝑛</m:t>
                              </m:r>
                            </m:e>
                          </m:eqArr>
                        </m:sub>
                      </m:sSub>
                      <m:r>
                        <a:rPr lang="ro-RO" sz="18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</a:rPr>
                            <m:t>  </m:t>
                          </m:r>
                          <m:r>
                            <a:rPr lang="ro-RO" sz="1800" i="1"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𝑖𝑖</m:t>
                          </m:r>
                        </m:sub>
                      </m:sSub>
                      <m:r>
                        <a:rPr lang="ro-RO" sz="1800" i="1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800" i="1"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ro-RO" sz="1800" i="1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ro-RO" sz="1800" i="1">
                          <a:latin typeface="Cambria Math"/>
                        </a:rPr>
                        <m:t>, 1≤</m:t>
                      </m:r>
                      <m:r>
                        <a:rPr lang="ro-RO" sz="1800" i="1">
                          <a:latin typeface="Cambria Math"/>
                        </a:rPr>
                        <m:t>𝑖</m:t>
                      </m:r>
                      <m:r>
                        <a:rPr lang="ro-RO" sz="1800" i="1">
                          <a:latin typeface="Cambria Math"/>
                        </a:rPr>
                        <m:t>≤</m:t>
                      </m:r>
                      <m:r>
                        <a:rPr lang="ro-RO" sz="1800" i="1"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r>
                  <a:rPr lang="ro-RO" sz="1800" dirty="0"/>
                  <a:t>şi este utilizată ca </a:t>
                </a:r>
                <a:r>
                  <a:rPr lang="ro-RO" sz="1800" i="1" dirty="0"/>
                  <a:t>măsură a </a:t>
                </a:r>
                <a:r>
                  <a:rPr lang="ro-RO" sz="1800" b="1" i="1" dirty="0"/>
                  <a:t>riscului portofoliului</a:t>
                </a:r>
                <a:r>
                  <a:rPr lang="ro-RO" sz="1800" dirty="0"/>
                  <a:t>.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 </a:t>
                </a: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620837"/>
                <a:ext cx="8229600" cy="5105400"/>
              </a:xfrm>
              <a:blipFill>
                <a:blip r:embed="rId2"/>
                <a:stretch>
                  <a:fillRect l="-593" t="-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489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Randamentul / riscul unui portofoliu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671955"/>
                <a:ext cx="8229600" cy="51054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b="1" i="1" dirty="0"/>
                  <a:t>Randamentul aşteptat al portofoliului</a:t>
                </a:r>
                <a:r>
                  <a:rPr lang="ro-RO" sz="1800" dirty="0"/>
                  <a:t> este dat prin</a:t>
                </a: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𝑅</m:t>
                      </m:r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  <m:r>
                            <a:rPr lang="ro-RO" sz="1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ro-RO" sz="1800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𝑟</m:t>
                                  </m:r>
                                </m:e>
                              </m:acc>
                            </m:e>
                            <m:sub>
                              <m:r>
                                <a:rPr lang="ro-RO" sz="18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sz="18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r>
                  <a:rPr lang="ro-RO" sz="1800" dirty="0"/>
                  <a:t>sau, matriceal</a:t>
                </a:r>
              </a:p>
              <a:p>
                <a:pPr marL="0" indent="0">
                  <a:buNone/>
                </a:pPr>
                <a:endParaRPr lang="ro-RO" sz="1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𝑅</m:t>
                      </m:r>
                      <m:d>
                        <m:dPr>
                          <m:ctrlPr>
                            <a:rPr lang="ro-RO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o-RO" sz="1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𝑟</m:t>
                              </m:r>
                            </m:e>
                          </m:acc>
                        </m:e>
                        <m:sup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/>
                        </a:rPr>
                        <m:t>𝑦</m:t>
                      </m:r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ro-RO" sz="1800">
                          <a:latin typeface="Cambria Math"/>
                        </a:rPr>
                        <m:t>,</m:t>
                      </m:r>
                    </m:oMath>
                  </m:oMathPara>
                </a14:m>
                <a:endParaRPr lang="ro-RO" sz="1800" dirty="0">
                  <a:latin typeface="Cambria Math"/>
                </a:endParaRPr>
              </a:p>
              <a:p>
                <a:pPr marL="0" indent="0">
                  <a:buNone/>
                </a:pPr>
                <a:endParaRPr lang="ro-RO" sz="1800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o-RO" sz="1800" i="1">
                              <a:latin typeface="Cambria Math"/>
                            </a:rPr>
                            <m:t>𝑟</m:t>
                          </m:r>
                        </m:e>
                      </m:acc>
                      <m:r>
                        <a:rPr lang="ro-RO" sz="18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ro-RO" sz="1800" i="1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ro-RO" sz="1800" i="1">
                                  <a:latin typeface="Cambria Math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o-RO" sz="1800" i="1"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o-RO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r>
                  <a:rPr lang="it-IT" sz="1800" dirty="0"/>
                  <a:t> 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it-IT" sz="1800" dirty="0"/>
                  <a:t> 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 </a:t>
                </a: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671955"/>
                <a:ext cx="8229600" cy="5105400"/>
              </a:xfrm>
              <a:blipFill>
                <a:blip r:embed="rId2"/>
                <a:stretch>
                  <a:fillRect l="-593" t="-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5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Definirea problemelor de tip risc minim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342900" y="1356677"/>
                <a:ext cx="8229600" cy="5211763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it-IT" sz="1800" dirty="0"/>
                  <a:t>Problema primară de minimizare a riscului, RISCMIN0</a:t>
                </a:r>
                <a:r>
                  <a:rPr lang="ro-RO" sz="1800" dirty="0"/>
                  <a:t>:</a:t>
                </a:r>
                <a:endParaRPr lang="en-US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RISCMIN0: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Minimizează 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𝑉</m:t>
                    </m:r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ro-RO" sz="18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o-RO" sz="1800" i="1">
                        <a:latin typeface="Cambria Math"/>
                      </a:rPr>
                      <m:t>𝑄𝑦</m:t>
                    </m:r>
                    <m:r>
                      <a:rPr lang="ro-RO" sz="1800" i="1">
                        <a:latin typeface="Cambria Math"/>
                      </a:rPr>
                      <m:t>    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cu restricţia</a:t>
                </a:r>
                <a:r>
                  <a:rPr lang="ro-RO" sz="1800" dirty="0"/>
                  <a:t>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1800" i="1">
                            <a:latin typeface="Cambria Math"/>
                          </a:rPr>
                          <m:t>𝑖</m:t>
                        </m:r>
                        <m:r>
                          <a:rPr lang="it-IT" sz="18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it-IT" sz="1800" i="1"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it-IT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it-IT" sz="1800" i="1">
                        <a:latin typeface="Cambria Math"/>
                      </a:rPr>
                      <m:t>=1</m:t>
                    </m:r>
                  </m:oMath>
                </a14:m>
                <a:r>
                  <a:rPr lang="it-IT" sz="1800" dirty="0"/>
                  <a:t> </a:t>
                </a:r>
                <a:r>
                  <a:rPr lang="ro-RO" sz="1800" dirty="0"/>
                  <a:t>.</a:t>
                </a:r>
              </a:p>
              <a:p>
                <a:pPr marL="0" indent="0" algn="just">
                  <a:buNone/>
                </a:pPr>
                <a:endParaRPr lang="ro-RO" sz="1800" i="1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it-IT" sz="1800" i="1" dirty="0"/>
                  <a:t>În general, </a:t>
                </a:r>
                <a:r>
                  <a:rPr lang="it-IT" sz="1800" i="1" dirty="0">
                    <a:solidFill>
                      <a:srgbClr val="FF0000"/>
                    </a:solidFill>
                  </a:rPr>
                  <a:t>un portofoliu este considerat optim dacă el furnizează cel mai mare randament cu cel mai mic risc</a:t>
                </a:r>
                <a:r>
                  <a:rPr lang="it-IT" sz="1800" i="1" dirty="0"/>
                  <a:t>.</a:t>
                </a:r>
                <a:r>
                  <a:rPr lang="it-IT" sz="1800" dirty="0"/>
                  <a:t> </a:t>
                </a:r>
                <a:r>
                  <a:rPr lang="ro-RO" sz="1800" dirty="0"/>
                  <a:t>Poate fi utilizată ca funcţie obiectiv funcţia compozit </a:t>
                </a:r>
                <a:r>
                  <a:rPr lang="ro-RO" sz="1800" i="1" dirty="0"/>
                  <a:t>F</a:t>
                </a:r>
                <a:r>
                  <a:rPr lang="ro-RO" sz="1800" dirty="0"/>
                  <a:t> şi este obţinută </a:t>
                </a:r>
                <a:r>
                  <a:rPr lang="it-IT" sz="1800" dirty="0"/>
                  <a:t>RISC-RANDAME</a:t>
                </a:r>
                <a:r>
                  <a:rPr lang="ro-RO" sz="1800" dirty="0"/>
                  <a:t>NT1: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RISC-RANDAMENT1: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Minimizeaz</a:t>
                </a:r>
                <a:r>
                  <a:rPr lang="ro-RO" sz="1800" dirty="0"/>
                  <a:t>ă </a:t>
                </a:r>
                <a14:m>
                  <m:oMath xmlns:m="http://schemas.openxmlformats.org/officeDocument/2006/math">
                    <m:r>
                      <a:rPr lang="it-IT" sz="1800" i="1">
                        <a:latin typeface="Cambria Math"/>
                      </a:rPr>
                      <m:t>𝐹</m:t>
                    </m:r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it-IT" sz="1800" i="1">
                        <a:latin typeface="Cambria Math"/>
                      </a:rPr>
                      <m:t>=−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𝑟</m:t>
                            </m:r>
                          </m:e>
                        </m:acc>
                      </m:e>
                      <m:sup>
                        <m:r>
                          <a:rPr lang="ro-RO" sz="18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o-RO" sz="1800" i="1">
                        <a:latin typeface="Cambria Math"/>
                      </a:rPr>
                      <m:t>𝑦</m:t>
                    </m:r>
                    <m:r>
                      <a:rPr lang="it-IT" sz="1800" i="1">
                        <a:latin typeface="Cambria Math"/>
                      </a:rPr>
                      <m:t>+</m:t>
                    </m:r>
                    <m:r>
                      <a:rPr lang="it-IT" sz="1800" i="1">
                        <a:latin typeface="Cambria Math"/>
                      </a:rPr>
                      <m:t>𝜌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ro-RO" sz="18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o-RO" sz="1800" i="1">
                        <a:latin typeface="Cambria Math"/>
                      </a:rPr>
                      <m:t>𝑄𝑦</m:t>
                    </m:r>
                    <m:r>
                      <a:rPr lang="ro-RO" sz="1800" i="1">
                        <a:latin typeface="Cambria Math"/>
                      </a:rPr>
                      <m:t>  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cu restricţia</a:t>
                </a:r>
                <a:r>
                  <a:rPr lang="ro-RO" sz="1800" dirty="0"/>
                  <a:t>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1800" i="1">
                            <a:latin typeface="Cambria Math"/>
                          </a:rPr>
                          <m:t>𝑖</m:t>
                        </m:r>
                        <m:r>
                          <a:rPr lang="it-IT" sz="18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it-IT" sz="1800" i="1"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it-IT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it-IT" sz="1800" i="1">
                        <a:latin typeface="Cambria Math"/>
                      </a:rPr>
                      <m:t>=1</m:t>
                    </m:r>
                  </m:oMath>
                </a14:m>
                <a:r>
                  <a:rPr lang="it-IT" sz="1800" dirty="0"/>
                  <a:t> </a:t>
                </a:r>
                <a:r>
                  <a:rPr lang="ro-RO" sz="1800" dirty="0"/>
                  <a:t>.</a:t>
                </a:r>
                <a:endParaRPr lang="en-US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o-RO" sz="1800" b="0" i="1" smtClean="0">
                        <a:latin typeface="Cambria Math"/>
                      </a:rPr>
                      <m:t>                 </m:t>
                    </m:r>
                    <m:r>
                      <a:rPr lang="it-IT" sz="1800" i="1">
                        <a:latin typeface="Cambria Math"/>
                      </a:rPr>
                      <m:t>𝜌</m:t>
                    </m:r>
                  </m:oMath>
                </a14:m>
                <a:r>
                  <a:rPr lang="it-IT" sz="1800" dirty="0"/>
                  <a:t> controlează raportul dintre randament şi risc</a:t>
                </a: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42900" y="1356677"/>
                <a:ext cx="8229600" cy="5211763"/>
              </a:xfrm>
              <a:blipFill>
                <a:blip r:embed="rId2"/>
                <a:stretch>
                  <a:fillRect l="-74" t="-702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1760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Definirea problemelor de tip risc minim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368300" y="1547018"/>
                <a:ext cx="8229600" cy="5211763"/>
              </a:xfrm>
            </p:spPr>
            <p:txBody>
              <a:bodyPr/>
              <a:lstStyle/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it-IT" sz="1800" dirty="0"/>
                  <a:t>O variantă alternativă</a:t>
                </a:r>
                <a:r>
                  <a:rPr lang="ro-RO" sz="1800" dirty="0"/>
                  <a:t>:</a:t>
                </a:r>
                <a:r>
                  <a:rPr lang="it-IT" sz="1800" dirty="0"/>
                  <a:t> fixa</a:t>
                </a:r>
                <a:r>
                  <a:rPr lang="ro-RO" sz="1800" dirty="0"/>
                  <a:t>rea</a:t>
                </a:r>
                <a:r>
                  <a:rPr lang="it-IT" sz="1800" dirty="0"/>
                  <a:t> </a:t>
                </a:r>
                <a:r>
                  <a:rPr lang="ro-RO" sz="1800" dirty="0"/>
                  <a:t>unei</a:t>
                </a:r>
                <a:r>
                  <a:rPr lang="it-IT" sz="1800" dirty="0"/>
                  <a:t> valo</a:t>
                </a:r>
                <a:r>
                  <a:rPr lang="ro-RO" sz="1800" dirty="0"/>
                  <a:t>ri</a:t>
                </a:r>
                <a:r>
                  <a:rPr lang="it-IT" sz="1800" dirty="0"/>
                  <a:t> ţintă pentru randament</a:t>
                </a:r>
                <a:r>
                  <a:rPr lang="ro-RO" sz="1800" dirty="0"/>
                  <a:t>:</a:t>
                </a:r>
                <a:r>
                  <a:rPr lang="it-IT" sz="1800" dirty="0"/>
                  <a:t> </a:t>
                </a:r>
                <a:r>
                  <a:rPr lang="it-IT" sz="1800" i="1" dirty="0"/>
                  <a:t>Rp</a:t>
                </a:r>
                <a:r>
                  <a:rPr lang="it-IT" sz="1800" dirty="0"/>
                  <a:t> procente, şi considera</a:t>
                </a:r>
                <a:r>
                  <a:rPr lang="ro-RO" sz="1800" dirty="0"/>
                  <a:t>rea</a:t>
                </a:r>
                <a:r>
                  <a:rPr lang="it-IT" sz="1800" dirty="0"/>
                  <a:t> problem</a:t>
                </a:r>
                <a:r>
                  <a:rPr lang="ro-RO" sz="1800" dirty="0"/>
                  <a:t>ei</a:t>
                </a:r>
                <a:r>
                  <a:rPr lang="it-IT" sz="1800" dirty="0"/>
                  <a:t> de optimizare RISCMIN1, 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RISCMIN1: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Minimizeaz</a:t>
                </a:r>
                <a:r>
                  <a:rPr lang="ro-RO" sz="1800" dirty="0"/>
                  <a:t>ă </a:t>
                </a:r>
                <a14:m>
                  <m:oMath xmlns:m="http://schemas.openxmlformats.org/officeDocument/2006/math">
                    <m:r>
                      <a:rPr lang="it-IT" sz="1800" i="1">
                        <a:latin typeface="Cambria Math"/>
                      </a:rPr>
                      <m:t>𝑉</m:t>
                    </m:r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it-IT" sz="1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ro-RO" sz="18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o-RO" sz="1800" i="1">
                        <a:latin typeface="Cambria Math"/>
                      </a:rPr>
                      <m:t>𝑄𝑦</m:t>
                    </m:r>
                    <m:r>
                      <a:rPr lang="ro-RO" sz="1800" i="1">
                        <a:latin typeface="Cambria Math"/>
                      </a:rPr>
                      <m:t>  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cu restricţiile</a:t>
                </a:r>
                <a:r>
                  <a:rPr lang="ro-RO" sz="1800" dirty="0"/>
                  <a:t>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1800" i="1">
                            <a:latin typeface="Cambria Math"/>
                          </a:rPr>
                          <m:t>𝑖</m:t>
                        </m:r>
                        <m:r>
                          <a:rPr lang="en-US" sz="18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it-IT" sz="1800" i="1"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ro-RO" sz="1800" i="1">
                                    <a:latin typeface="Cambria Math"/>
                                  </a:rPr>
                                  <m:t>𝑟</m:t>
                                </m:r>
                              </m:e>
                            </m:acc>
                          </m:e>
                          <m:sub>
                            <m:r>
                              <a:rPr lang="ro-RO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it-IT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it-IT" sz="1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it-IT" sz="1800" i="1">
                            <a:latin typeface="Cambria Math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ro-RO" sz="1800" dirty="0"/>
                  <a:t>   şi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1800" i="1">
                            <a:latin typeface="Cambria Math"/>
                          </a:rPr>
                          <m:t>𝑖</m:t>
                        </m:r>
                        <m:r>
                          <a:rPr lang="it-IT" sz="18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it-IT" sz="1800" i="1"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it-IT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it-IT" sz="1800" i="1">
                        <a:latin typeface="Cambria Math"/>
                      </a:rPr>
                      <m:t>=1</m:t>
                    </m:r>
                  </m:oMath>
                </a14:m>
                <a:r>
                  <a:rPr lang="it-IT" sz="1800" dirty="0"/>
                  <a:t> </a:t>
                </a:r>
                <a:r>
                  <a:rPr lang="ro-RO" sz="1800" dirty="0"/>
                  <a:t>.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it-IT" sz="1800" dirty="0"/>
                  <a:t> </a:t>
                </a: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it-IT" sz="1800" dirty="0">
                    <a:solidFill>
                      <a:srgbClr val="FF0000"/>
                    </a:solidFill>
                  </a:rPr>
                  <a:t>sau, alternativ, problema modificată RISCMIN1M,</a:t>
                </a:r>
                <a:endParaRPr lang="en-US" sz="18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>
                    <a:solidFill>
                      <a:srgbClr val="FF0000"/>
                    </a:solidFill>
                  </a:rPr>
                  <a:t>RISCMIN1M:</a:t>
                </a:r>
                <a:endParaRPr lang="en-US" sz="18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ro-RO" sz="1800" dirty="0">
                    <a:solidFill>
                      <a:srgbClr val="FF0000"/>
                    </a:solidFill>
                  </a:rPr>
                  <a:t>	</a:t>
                </a:r>
                <a:r>
                  <a:rPr lang="it-IT" sz="1800" dirty="0">
                    <a:solidFill>
                      <a:srgbClr val="FF0000"/>
                    </a:solidFill>
                  </a:rPr>
                  <a:t>Minimizează</a:t>
                </a:r>
                <a:br>
                  <a:rPr lang="it-IT" sz="1800" dirty="0">
                    <a:solidFill>
                      <a:srgbClr val="FF0000"/>
                    </a:solidFill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800" i="1">
                          <a:solidFill>
                            <a:srgbClr val="FF0000"/>
                          </a:solidFill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ro-RO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it-IT" sz="18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/>
                        </a:rPr>
                        <m:t>𝑄𝑦</m:t>
                      </m:r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𝜌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8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o-RO" sz="18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o-RO" sz="1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it-IT" sz="18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en-US" sz="18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it-IT" sz="18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18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ro-RO" sz="18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/>
                                            </a:rPr>
                                            <m:t>𝑟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ro-RO" sz="18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18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it-IT" sz="18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it-IT" sz="1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8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it-IT" sz="18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/>
                        </a:rPr>
                        <m:t>  </m:t>
                      </m:r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ro-RO" sz="1800" dirty="0">
                    <a:solidFill>
                      <a:srgbClr val="FF0000"/>
                    </a:solidFill>
                  </a:rPr>
                  <a:t>	</a:t>
                </a:r>
                <a:r>
                  <a:rPr lang="it-IT" sz="1800" dirty="0">
                    <a:solidFill>
                      <a:srgbClr val="FF0000"/>
                    </a:solidFill>
                  </a:rPr>
                  <a:t>cu restricţia</a:t>
                </a:r>
                <a:r>
                  <a:rPr lang="ro-RO" sz="1800" dirty="0">
                    <a:solidFill>
                      <a:srgbClr val="FF0000"/>
                    </a:solidFill>
                  </a:rPr>
                  <a:t>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  <m:r>
                          <a:rPr lang="it-IT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it-IT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it-IT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it-IT" sz="1800" i="1">
                        <a:solidFill>
                          <a:srgbClr val="FF0000"/>
                        </a:solidFill>
                        <a:latin typeface="Cambria Math"/>
                      </a:rPr>
                      <m:t>=1</m:t>
                    </m:r>
                  </m:oMath>
                </a14:m>
                <a:r>
                  <a:rPr lang="it-IT" sz="1800" dirty="0">
                    <a:solidFill>
                      <a:srgbClr val="FF0000"/>
                    </a:solidFill>
                  </a:rPr>
                  <a:t> </a:t>
                </a:r>
                <a:r>
                  <a:rPr lang="ro-RO" sz="1800" dirty="0">
                    <a:solidFill>
                      <a:srgbClr val="FF0000"/>
                    </a:solidFill>
                  </a:rPr>
                  <a:t>.</a:t>
                </a:r>
                <a:endParaRPr lang="en-US" sz="18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68300" y="1547018"/>
                <a:ext cx="8229600" cy="5211763"/>
              </a:xfrm>
              <a:blipFill>
                <a:blip r:embed="rId2"/>
                <a:stretch>
                  <a:fillRect l="-74" t="-702" r="-667" b="-49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341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Definirea problemelor de tip randament maxim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468437"/>
                <a:ext cx="8229600" cy="5211763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it-IT" sz="1800" dirty="0"/>
                  <a:t>Problema primară de </a:t>
                </a:r>
                <a:r>
                  <a:rPr lang="ro-RO" sz="1800" dirty="0"/>
                  <a:t>maximizarea randamentului</a:t>
                </a:r>
                <a:r>
                  <a:rPr lang="it-IT" sz="1800" dirty="0"/>
                  <a:t>, RANDAMENTMAX</a:t>
                </a:r>
                <a:r>
                  <a:rPr lang="ro-RO" sz="1800" dirty="0"/>
                  <a:t>0 :</a:t>
                </a:r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RANDAMENTMAX</a:t>
                </a:r>
                <a:r>
                  <a:rPr lang="ro-RO" sz="1800" dirty="0"/>
                  <a:t>0</a:t>
                </a:r>
                <a:r>
                  <a:rPr lang="it-IT" sz="1800" dirty="0"/>
                  <a:t>: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Minimizează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𝑅</m:t>
                    </m:r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=−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𝑟</m:t>
                            </m:r>
                          </m:e>
                        </m:acc>
                      </m:e>
                      <m:sup>
                        <m:r>
                          <a:rPr lang="ro-RO" sz="18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o-RO" sz="1800" i="1">
                        <a:latin typeface="Cambria Math"/>
                      </a:rPr>
                      <m:t>𝑦</m:t>
                    </m:r>
                    <m:r>
                      <a:rPr lang="ro-RO" sz="1800" i="1">
                        <a:latin typeface="Cambria Math"/>
                      </a:rPr>
                      <m:t>    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cu restricţi</a:t>
                </a:r>
                <a:r>
                  <a:rPr lang="ro-RO" sz="1800" dirty="0"/>
                  <a:t>a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1800" i="1">
                            <a:latin typeface="Cambria Math"/>
                          </a:rPr>
                          <m:t>𝑖</m:t>
                        </m:r>
                        <m:r>
                          <a:rPr lang="it-IT" sz="18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it-IT" sz="1800" i="1"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it-IT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it-IT" sz="1800" i="1">
                        <a:latin typeface="Cambria Math"/>
                      </a:rPr>
                      <m:t>=1</m:t>
                    </m:r>
                  </m:oMath>
                </a14:m>
                <a:r>
                  <a:rPr lang="it-IT" sz="1800" dirty="0"/>
                  <a:t> </a:t>
                </a:r>
                <a:r>
                  <a:rPr lang="ro-RO" sz="1800" dirty="0"/>
                  <a:t>.</a:t>
                </a: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O alternativă realistă: selectarea unui nivel acceptabil de risc,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𝑎𝑐</m:t>
                        </m:r>
                      </m:sub>
                    </m:sSub>
                  </m:oMath>
                </a14:m>
                <a:r>
                  <a:rPr lang="ro-RO" sz="1800" dirty="0"/>
                  <a:t>, şi maximizarea randamentul aşteptat. Problema RANDAMENTMAX1: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RANDAMENTMAX1: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Minimizează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𝑅</m:t>
                    </m:r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=−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𝑟</m:t>
                            </m:r>
                          </m:e>
                        </m:acc>
                      </m:e>
                      <m:sup>
                        <m:r>
                          <a:rPr lang="ro-RO" sz="18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o-RO" sz="1800" i="1">
                        <a:latin typeface="Cambria Math"/>
                      </a:rPr>
                      <m:t>𝑦</m:t>
                    </m:r>
                    <m:r>
                      <a:rPr lang="ro-RO" sz="1800" i="1">
                        <a:latin typeface="Cambria Math"/>
                      </a:rPr>
                      <m:t>    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cu restricţiile</a:t>
                </a:r>
                <a:r>
                  <a:rPr lang="ro-RO" sz="1800" dirty="0"/>
                  <a:t>   </a:t>
                </a:r>
                <a14:m>
                  <m:oMath xmlns:m="http://schemas.openxmlformats.org/officeDocument/2006/math">
                    <m:r>
                      <a:rPr lang="it-IT" sz="1800" i="1">
                        <a:latin typeface="Cambria Math"/>
                      </a:rPr>
                      <m:t>𝑉</m:t>
                    </m:r>
                    <m:r>
                      <a:rPr lang="it-IT" sz="1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  <m:sup>
                        <m:r>
                          <a:rPr lang="ro-RO" sz="18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ro-RO" sz="1800" i="1">
                        <a:latin typeface="Cambria Math"/>
                      </a:rPr>
                      <m:t>𝑄𝑦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𝑉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𝑎𝑐</m:t>
                        </m:r>
                      </m:sub>
                    </m:sSub>
                  </m:oMath>
                </a14:m>
                <a:r>
                  <a:rPr lang="ro-RO" sz="1800" dirty="0"/>
                  <a:t> şi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1800" i="1">
                            <a:latin typeface="Cambria Math"/>
                          </a:rPr>
                          <m:t>𝑖</m:t>
                        </m:r>
                        <m:r>
                          <a:rPr lang="it-IT" sz="18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it-IT" sz="1800" i="1"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it-IT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it-IT" sz="1800" i="1">
                        <a:latin typeface="Cambria Math"/>
                      </a:rPr>
                      <m:t>=1</m:t>
                    </m:r>
                  </m:oMath>
                </a14:m>
                <a:r>
                  <a:rPr lang="it-IT" sz="1800" dirty="0"/>
                  <a:t> </a:t>
                </a:r>
                <a:r>
                  <a:rPr lang="ro-RO" sz="1800" dirty="0"/>
                  <a:t>.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468437"/>
                <a:ext cx="8229600" cy="5211763"/>
              </a:xfrm>
              <a:blipFill>
                <a:blip r:embed="rId2"/>
                <a:stretch>
                  <a:fillRect l="-74" t="-702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17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Definirea problemelor de tip randament maxim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511300"/>
                <a:ext cx="8229600" cy="5211763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</a:t>
                </a:r>
                <a:r>
                  <a:rPr lang="it-IT" sz="1800" dirty="0"/>
                  <a:t>roblema modificată RANDAMENTMAX1M</a:t>
                </a:r>
                <a:r>
                  <a:rPr lang="ro-RO" sz="1800" dirty="0"/>
                  <a:t>: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RANDAMENTMAX1M: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Minimizează </a:t>
                </a: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=−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𝑟</m:t>
                              </m:r>
                            </m:e>
                          </m:acc>
                        </m:e>
                        <m:sup>
                          <m:r>
                            <a:rPr lang="ro-RO" sz="18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ro-RO" sz="1800" i="1">
                          <a:latin typeface="Cambria Math"/>
                        </a:rPr>
                        <m:t>𝑦</m:t>
                      </m:r>
                      <m:r>
                        <a:rPr lang="ro-RO" sz="1800" i="1">
                          <a:latin typeface="Cambria Math"/>
                        </a:rPr>
                        <m:t> +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/>
                            </a:rPr>
                            <m:t>𝜌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𝑎𝑐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o-RO" sz="1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o-RO" sz="1800" i="1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ro-RO" sz="1800" i="1"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ro-RO" sz="1800" i="1">
                                  <a:latin typeface="Cambria Math"/>
                                </a:rPr>
                                <m:t>𝑄𝑦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𝑎𝑐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o-RO" sz="1800" i="1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ro-RO" sz="1800" i="1"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cu restricţia</a:t>
                </a:r>
                <a:r>
                  <a:rPr lang="ro-RO" sz="1800" dirty="0"/>
                  <a:t>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1800" i="1">
                            <a:latin typeface="Cambria Math"/>
                          </a:rPr>
                          <m:t>𝑖</m:t>
                        </m:r>
                        <m:r>
                          <a:rPr lang="it-IT" sz="18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it-IT" sz="1800" i="1">
                            <a:latin typeface="Cambria Math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>
                                <a:latin typeface="Cambria Math"/>
                              </a:rPr>
                              <m:t>𝑦</m:t>
                            </m:r>
                          </m:e>
                          <m:sub>
                            <m:r>
                              <a:rPr lang="it-IT" sz="1800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it-IT" sz="1800" i="1">
                        <a:latin typeface="Cambria Math"/>
                      </a:rPr>
                      <m:t>=1</m:t>
                    </m:r>
                  </m:oMath>
                </a14:m>
                <a:r>
                  <a:rPr lang="it-IT" sz="1800" dirty="0"/>
                  <a:t> </a:t>
                </a:r>
                <a:r>
                  <a:rPr lang="ro-RO" sz="1800" dirty="0"/>
                  <a:t>.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𝜌</m:t>
                    </m:r>
                    <m:r>
                      <a:rPr lang="ro-RO" sz="1800" i="1">
                        <a:latin typeface="Cambria Math"/>
                      </a:rPr>
                      <m:t> </m:t>
                    </m:r>
                  </m:oMath>
                </a14:m>
                <a:r>
                  <a:rPr lang="ro-RO" sz="1800" dirty="0"/>
                  <a:t> </a:t>
                </a:r>
                <a:r>
                  <a:rPr lang="it-IT" sz="1800" dirty="0"/>
                  <a:t>semnifică relaţia existentă între randamentul şi riscul portofoliului.</a:t>
                </a: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511300"/>
                <a:ext cx="8229600" cy="5211763"/>
              </a:xfrm>
              <a:blipFill>
                <a:blip r:embed="rId2"/>
                <a:stretch>
                  <a:fillRect l="-74" t="-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181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627062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Transformarea în probleme de optimizare fără constrângeri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981200"/>
                <a:ext cx="8229600" cy="46101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V</a:t>
                </a:r>
                <a:r>
                  <a:rPr lang="ro-RO" sz="1800" dirty="0"/>
                  <a:t>ariabila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it-IT" sz="1800" i="1"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o-RO" sz="1800" dirty="0"/>
                  <a:t> poate fi eliminată,</a:t>
                </a: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it-IT" sz="18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it-IT" sz="1800" i="1">
                          <a:latin typeface="Cambria Math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1800" i="1">
                              <a:latin typeface="Cambria Math"/>
                            </a:rPr>
                            <m:t>𝑖</m:t>
                          </m:r>
                          <m:r>
                            <a:rPr lang="it-IT" sz="1800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it-IT" sz="1800" i="1">
                              <a:latin typeface="Cambria Math"/>
                            </a:rPr>
                            <m:t>𝑛</m:t>
                          </m:r>
                          <m:r>
                            <a:rPr lang="it-IT" sz="1800" i="1">
                              <a:latin typeface="Cambria Math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sz="18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i="1" dirty="0">
                  <a:latin typeface="Cambria Math"/>
                </a:endParaRPr>
              </a:p>
              <a:p>
                <a:pPr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 </m:t>
                    </m:r>
                    <m:r>
                      <a:rPr lang="ro-RO" sz="1800" i="1">
                        <a:latin typeface="Cambria Math"/>
                      </a:rPr>
                      <m:t>𝑥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sz="1800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o-RO" sz="1800" i="1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ro-RO" sz="1800" i="1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sz="1800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o-RO" sz="1800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ro-RO" sz="1800" i="1">
                                <a:latin typeface="Cambria Math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o-RO" sz="1800" i="1">
                                    <a:latin typeface="Cambria Math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ro-RO" sz="1800" i="1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ro-RO" sz="1800" i="1">
                                    <a:latin typeface="Cambria Math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ro-RO" sz="1800" i="1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ro-RO" sz="1800" dirty="0"/>
                  <a:t>,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𝛼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>
                                <a:latin typeface="Cambria Math"/>
                              </a:rPr>
                              <m:t>0,0,…,0,1</m:t>
                            </m:r>
                          </m:e>
                        </m:d>
                      </m:e>
                      <m:sup>
                        <m:r>
                          <a:rPr lang="ro-RO" sz="1800" i="1"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ro-RO" sz="1800" dirty="0"/>
                  <a:t>vector </a:t>
                </a:r>
                <a:r>
                  <a:rPr lang="ro-RO" sz="1800" i="1" dirty="0"/>
                  <a:t>n</a:t>
                </a:r>
                <a:r>
                  <a:rPr lang="ro-RO" sz="1800" dirty="0"/>
                  <a:t>-dimensional şi </a:t>
                </a:r>
                <a:r>
                  <a:rPr lang="ro-RO" sz="1800" i="1" dirty="0"/>
                  <a:t>B</a:t>
                </a:r>
                <a:r>
                  <a:rPr lang="ro-RO" sz="1800" dirty="0"/>
                  <a:t> matrice de dimensiune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𝑛</m:t>
                    </m:r>
                    <m:r>
                      <a:rPr lang="ro-RO" sz="18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𝑛</m:t>
                        </m:r>
                        <m:r>
                          <a:rPr lang="ro-RO" sz="1800" i="1">
                            <a:latin typeface="Cambria Math"/>
                          </a:rPr>
                          <m:t>−1</m:t>
                        </m:r>
                      </m:e>
                    </m:d>
                  </m:oMath>
                </a14:m>
                <a:r>
                  <a:rPr lang="ro-RO" sz="1800" dirty="0"/>
                  <a:t>,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𝐵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ro-RO" sz="1800" i="1">
                                <a:latin typeface="Cambria Math"/>
                              </a:rPr>
                              <m:t>1     0   …  0</m:t>
                            </m:r>
                          </m:e>
                          <m:e>
                            <m:r>
                              <a:rPr lang="ro-RO" sz="1800" i="1">
                                <a:latin typeface="Cambria Math"/>
                              </a:rPr>
                              <m:t>0      1   …  0</m:t>
                            </m:r>
                          </m:e>
                          <m:e>
                            <m:r>
                              <a:rPr lang="ro-RO" sz="1800" i="1">
                                <a:latin typeface="Cambria Math"/>
                              </a:rPr>
                              <m:t>……………</m:t>
                            </m:r>
                          </m:e>
                          <m:e>
                            <m:r>
                              <a:rPr lang="ro-RO" sz="1800" i="1">
                                <a:latin typeface="Cambria Math"/>
                              </a:rPr>
                              <m:t>0      0   …  1</m:t>
                            </m:r>
                          </m:e>
                          <m:e>
                            <m:r>
                              <a:rPr lang="ro-RO" sz="1800" i="1">
                                <a:latin typeface="Cambria Math"/>
                              </a:rPr>
                              <m:t>−1−1…−1</m:t>
                            </m:r>
                          </m:e>
                        </m:eqArr>
                      </m:e>
                    </m:d>
                  </m:oMath>
                </a14:m>
                <a:r>
                  <a:rPr lang="ro-RO" sz="1800" dirty="0"/>
                  <a:t>.</a:t>
                </a:r>
                <a:endParaRPr lang="en-US" sz="1800" dirty="0"/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O</a:t>
                </a:r>
                <a:r>
                  <a:rPr lang="ro-RO" sz="1800" dirty="0"/>
                  <a:t>bţinem</a:t>
                </a: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𝑦</m:t>
                      </m:r>
                      <m:r>
                        <a:rPr lang="ro-RO" sz="1800" i="1">
                          <a:latin typeface="Cambria Math"/>
                        </a:rPr>
                        <m:t>=</m:t>
                      </m:r>
                      <m:r>
                        <a:rPr lang="ro-RO" sz="1800" i="1">
                          <a:latin typeface="Cambria Math"/>
                        </a:rPr>
                        <m:t>𝛼</m:t>
                      </m:r>
                      <m:r>
                        <a:rPr lang="ro-RO" sz="1800" i="1">
                          <a:latin typeface="Cambria Math"/>
                        </a:rPr>
                        <m:t>+</m:t>
                      </m:r>
                      <m:r>
                        <a:rPr lang="ro-RO" sz="1800" i="1">
                          <a:latin typeface="Cambria Math"/>
                        </a:rPr>
                        <m:t>𝐵𝑥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ro-RO" sz="1800" dirty="0"/>
              </a:p>
            </p:txBody>
          </p:sp>
        </mc:Choice>
        <mc:Fallback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981200"/>
                <a:ext cx="8229600" cy="4610100"/>
              </a:xfrm>
              <a:blipFill>
                <a:blip r:embed="rId2"/>
                <a:stretch>
                  <a:fillRect l="-74" t="-661" r="-593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844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627062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Transformarea în probleme de optimizare fără constrângeri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342900" y="1905000"/>
                <a:ext cx="8229600" cy="4724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o-RO" sz="1800" dirty="0"/>
                  <a:t>MINRISC0: 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	</a:t>
                </a:r>
                <a:r>
                  <a:rPr lang="ro-RO" sz="1800" dirty="0"/>
                  <a:t>Minimizează  </a:t>
                </a: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𝑉</m:t>
                      </m:r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𝛼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𝐵𝑥</m:t>
                              </m:r>
                            </m:e>
                          </m:d>
                        </m:e>
                        <m:sup>
                          <m:r>
                            <a:rPr lang="en-US" sz="18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800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𝛼</m:t>
                          </m:r>
                          <m:r>
                            <a:rPr lang="ro-RO" sz="1800" i="1">
                              <a:latin typeface="Cambria Math"/>
                            </a:rPr>
                            <m:t>+</m:t>
                          </m:r>
                          <m:r>
                            <a:rPr lang="ro-RO" sz="1800" i="1">
                              <a:latin typeface="Cambria Math"/>
                            </a:rPr>
                            <m:t>𝐵𝑥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>
                    <a:solidFill>
                      <a:srgbClr val="FF0000"/>
                    </a:solidFill>
                  </a:rPr>
                  <a:t>RISCMIN1M </a:t>
                </a:r>
                <a:endParaRPr lang="en-US" sz="18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rgbClr val="FF0000"/>
                    </a:solidFill>
                  </a:rPr>
                  <a:t>	</a:t>
                </a:r>
                <a:r>
                  <a:rPr lang="ro-RO" sz="1800" dirty="0">
                    <a:solidFill>
                      <a:srgbClr val="FF0000"/>
                    </a:solidFill>
                  </a:rPr>
                  <a:t>Minimizează </a:t>
                </a:r>
                <a:endParaRPr lang="en-US" sz="18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𝐹</m:t>
                          </m:r>
                          <m:d>
                            <m:dPr>
                              <m:ctrlPr>
                                <a:rPr lang="ro-RO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d>
                            <m:dPr>
                              <m:ctrlPr>
                                <a:rPr lang="ro-RO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𝐵𝑥</m:t>
                              </m:r>
                            </m:e>
                          </m:d>
                        </m:e>
                        <m:sup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𝛼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𝐵𝑥</m:t>
                          </m:r>
                        </m:e>
                      </m:d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𝜌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sz="18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solidFill>
                                            <a:srgbClr val="FF0000"/>
                                          </a:solidFill>
                                          <a:latin typeface="Cambria Math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sz="1800" i="1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𝐵𝑥</m:t>
                              </m:r>
                            </m:e>
                          </m:d>
                        </m:e>
                        <m:sup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RANDAMENTMAX1M 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	</a:t>
                </a:r>
                <a:r>
                  <a:rPr lang="it-IT" sz="1800" dirty="0"/>
                  <a:t>Minimizează</a:t>
                </a: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𝐹</m:t>
                      </m:r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=−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𝑟</m:t>
                              </m:r>
                            </m:e>
                          </m:acc>
                        </m:e>
                        <m:sup>
                          <m:r>
                            <a:rPr lang="ro-RO" sz="18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𝛼</m:t>
                          </m:r>
                          <m:r>
                            <a:rPr lang="en-US" sz="1800" i="1">
                              <a:latin typeface="Cambria Math"/>
                            </a:rPr>
                            <m:t>+</m:t>
                          </m:r>
                          <m:r>
                            <a:rPr lang="en-US" sz="1800" i="1">
                              <a:latin typeface="Cambria Math"/>
                            </a:rPr>
                            <m:t>𝐵𝑥</m:t>
                          </m:r>
                        </m:e>
                      </m:d>
                      <m:r>
                        <a:rPr lang="ro-RO" sz="1800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/>
                            </a:rPr>
                            <m:t>𝜌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ro-RO" sz="1800" i="1">
                                          <a:latin typeface="Cambria Math"/>
                                        </a:rPr>
                                        <m:t>𝑎𝑐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ro-RO" sz="1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o-RO" sz="1800" i="1"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𝛼</m:t>
                                      </m:r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+</m:t>
                                      </m:r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𝐵𝑥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ro-RO" sz="1800" i="1"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ro-RO" sz="1800" i="1">
                                  <a:latin typeface="Cambria Math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/>
                                    </a:rPr>
                                    <m:t>𝛼</m:t>
                                  </m:r>
                                  <m:r>
                                    <a:rPr lang="en-US" sz="1800" i="1">
                                      <a:latin typeface="Cambria Math"/>
                                    </a:rPr>
                                    <m:t>+</m:t>
                                  </m:r>
                                  <m:r>
                                    <a:rPr lang="en-US" sz="1800" i="1">
                                      <a:latin typeface="Cambria Math"/>
                                    </a:rPr>
                                    <m:t>𝐵𝑥</m:t>
                                  </m:r>
                                </m:e>
                              </m:d>
                              <m:r>
                                <a:rPr lang="ro-RO" sz="18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o-RO" sz="1800" i="1">
                                      <a:latin typeface="Cambria Math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ro-RO" sz="1800" i="1">
                                      <a:latin typeface="Cambria Math"/>
                                    </a:rPr>
                                    <m:t>𝑎𝑐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o-RO" sz="18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∗</m:t>
                        </m:r>
                      </m:sup>
                    </m:sSup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ro-RO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o-RO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o-RO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ro-RO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ro-RO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o-RO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o-RO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ro-RO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,…,</m:t>
                            </m:r>
                            <m:sSubSup>
                              <m:sSubSupPr>
                                <m:ctrlPr>
                                  <a:rPr lang="ro-RO" sz="18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o-RO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o-RO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ro-RO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−1</m:t>
                                </m:r>
                              </m:sub>
                              <m:sup>
                                <m:r>
                                  <a:rPr lang="ro-RO" sz="1800" i="1">
                                    <a:solidFill>
                                      <a:srgbClr val="FF0000"/>
                                    </a:solidFill>
                                    <a:latin typeface="Cambria Math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ro-RO" sz="1800" dirty="0">
                    <a:solidFill>
                      <a:srgbClr val="FF0000"/>
                    </a:solidFill>
                  </a:rPr>
                  <a:t>soluţie </a:t>
                </a:r>
                <a:r>
                  <a:rPr lang="en-US" sz="18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</a:t>
                </a:r>
                <a:r>
                  <a:rPr lang="ro-RO" sz="1800" dirty="0">
                    <a:solidFill>
                      <a:srgbClr val="FF0000"/>
                    </a:solidFill>
                  </a:rPr>
                  <a:t> portofoliul de risc minim este: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/>
                        </a:rPr>
                        <m:t>, 1≤</m:t>
                      </m:r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/>
                        </a:rPr>
                        <m:t>𝑖</m:t>
                      </m:r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/>
                        </a:rPr>
                        <m:t>≤</m:t>
                      </m:r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/>
                        </a:rPr>
                        <m:t>−1 ş</m:t>
                      </m:r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/>
                        </a:rPr>
                        <m:t>𝑖</m:t>
                      </m:r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sSubSup>
                        <m:sSubSupPr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</m:sub>
                        <m:sup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∗</m:t>
                          </m:r>
                        </m:sup>
                      </m:sSubSup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/>
                        </a:rPr>
                        <m:t>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o-RO" sz="1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o-RO" sz="1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ro-RO" sz="1800" i="1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∗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1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342900" y="1905000"/>
                <a:ext cx="8229600" cy="4724400"/>
              </a:xfrm>
              <a:blipFill>
                <a:blip r:embed="rId2"/>
                <a:stretch>
                  <a:fillRect l="-593" t="-774" b="-1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76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Rezolvarea problemei RISCMIN1M utilizând GA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178878"/>
                <a:ext cx="8229600" cy="52117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ro-RO" sz="1800" b="1" dirty="0"/>
              </a:p>
              <a:p>
                <a:pPr marL="0" indent="0">
                  <a:buNone/>
                </a:pPr>
                <a:r>
                  <a:rPr lang="ro-RO" sz="1800" dirty="0"/>
                  <a:t>RISCMIN1M 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	</a:t>
                </a:r>
                <a:r>
                  <a:rPr lang="ro-RO" sz="1800" dirty="0"/>
                  <a:t>Minimizează </a:t>
                </a: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/>
                            </a:rPr>
                            <m:t>𝐹</m:t>
                          </m:r>
                          <m:d>
                            <m:dPr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=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𝐵𝑥</m:t>
                              </m:r>
                            </m:e>
                          </m:d>
                        </m:e>
                        <m:sup>
                          <m:r>
                            <a:rPr lang="en-US" sz="1800" i="1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800" i="1">
                          <a:latin typeface="Cambria Math"/>
                        </a:rPr>
                        <m:t>𝑄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𝛼</m:t>
                          </m:r>
                          <m:r>
                            <a:rPr lang="en-US" sz="1800" i="1">
                              <a:latin typeface="Cambria Math"/>
                            </a:rPr>
                            <m:t>+</m:t>
                          </m:r>
                          <m:r>
                            <a:rPr lang="en-US" sz="1800" i="1">
                              <a:latin typeface="Cambria Math"/>
                            </a:rPr>
                            <m:t>𝐵𝑥</m:t>
                          </m:r>
                        </m:e>
                      </m:d>
                      <m:r>
                        <a:rPr lang="en-US" sz="1800" i="1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/>
                            </a:rPr>
                            <m:t>𝜌</m:t>
                          </m:r>
                        </m:num>
                        <m:den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𝑝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18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sz="1800" i="1"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800" i="1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sz="1800" i="1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800" i="1">
                                          <a:latin typeface="Cambria Math"/>
                                        </a:rPr>
                                        <m:t>𝑟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sz="1800" i="1">
                                      <a:latin typeface="Cambria Math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1800" i="1">
                                  <a:latin typeface="Cambria Math"/>
                                </a:rPr>
                                <m:t>𝐵𝑥</m:t>
                              </m:r>
                            </m:e>
                          </m:d>
                        </m:e>
                        <m:sup>
                          <m:r>
                            <a:rPr lang="en-US" sz="18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o-RO" sz="1800" b="1" dirty="0"/>
              </a:p>
              <a:p>
                <a:pPr marL="0" indent="0">
                  <a:buNone/>
                </a:pPr>
                <a:r>
                  <a:rPr lang="ro-RO" sz="1800" b="1" dirty="0"/>
                  <a:t>Observație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</a:rPr>
                      <m:t>𝑄</m:t>
                    </m:r>
                    <m:r>
                      <a:rPr lang="en-US" sz="1800" i="1">
                        <a:latin typeface="Cambria Math"/>
                      </a:rPr>
                      <m:t> </m:t>
                    </m:r>
                  </m:oMath>
                </a14:m>
                <a:r>
                  <a:rPr lang="ro-RO" sz="1800" dirty="0"/>
                  <a:t>este matrice semipozitiv definită, deci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/>
                          </a:rPr>
                          <m:t>𝐹</m:t>
                        </m:r>
                        <m:d>
                          <m:dPr>
                            <m:ctrlPr>
                              <a:rPr lang="ro-RO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800" i="1">
                            <a:latin typeface="Cambria Math"/>
                          </a:rPr>
                          <m:t>=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/>
                              </a:rPr>
                              <m:t>𝛼</m:t>
                            </m:r>
                            <m:r>
                              <a:rPr lang="en-US" sz="1800" i="1">
                                <a:latin typeface="Cambria Math"/>
                              </a:rPr>
                              <m:t>+</m:t>
                            </m:r>
                            <m:r>
                              <a:rPr lang="en-US" sz="1800" i="1">
                                <a:latin typeface="Cambria Math"/>
                              </a:rPr>
                              <m:t>𝐵𝑥</m:t>
                            </m:r>
                          </m:e>
                        </m:d>
                      </m:e>
                      <m:sup>
                        <m:r>
                          <a:rPr lang="en-US" sz="1800" i="1">
                            <a:latin typeface="Cambria Math"/>
                          </a:rPr>
                          <m:t>𝑇</m:t>
                        </m:r>
                      </m:sup>
                    </m:sSup>
                    <m:r>
                      <a:rPr lang="en-US" sz="1800" i="1">
                        <a:latin typeface="Cambria Math"/>
                      </a:rPr>
                      <m:t>𝑄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𝛼</m:t>
                        </m:r>
                        <m:r>
                          <a:rPr lang="en-US" sz="1800" i="1">
                            <a:latin typeface="Cambria Math"/>
                          </a:rPr>
                          <m:t>+</m:t>
                        </m:r>
                        <m:r>
                          <a:rPr lang="en-US" sz="1800" i="1">
                            <a:latin typeface="Cambria Math"/>
                          </a:rPr>
                          <m:t>𝐵𝑥</m:t>
                        </m:r>
                      </m:e>
                    </m:d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 ∀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r>
                      <a:rPr lang="ro-RO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ro-RO" sz="1800" dirty="0"/>
                  <a:t> F este cu valori pozitive</a:t>
                </a:r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r>
                  <a:rPr lang="ro-RO" sz="1800" b="1" dirty="0"/>
                  <a:t>Problema poate fi transformată în problemă de maxim</a:t>
                </a:r>
              </a:p>
              <a:p>
                <a:pPr marL="0" indent="0">
                  <a:buNone/>
                </a:pPr>
                <a:r>
                  <a:rPr lang="ro-RO" sz="1800" dirty="0"/>
                  <a:t>	Maximizează </a:t>
                </a: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𝐹</m:t>
                      </m:r>
                      <m:r>
                        <a:rPr lang="ro-RO" sz="1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ro-RO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o-RO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sz="18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𝐹</m:t>
                          </m:r>
                          <m:d>
                            <m:dPr>
                              <m:ctrlPr>
                                <a:rPr lang="ro-RO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ro-RO" sz="1800" b="1" dirty="0"/>
              </a:p>
              <a:p>
                <a:pPr marL="0" indent="0">
                  <a:buNone/>
                </a:pPr>
                <a:r>
                  <a:rPr lang="ro-RO" sz="1800" b="1" dirty="0"/>
                  <a:t>Observație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F1 este cu valori strict pozitive, valoarea maximă este 1 și este atinsă în punctul care realizează minimul lui F </a:t>
                </a: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178878"/>
                <a:ext cx="8229600" cy="5211763"/>
              </a:xfrm>
              <a:blipFill>
                <a:blip r:embed="rId2"/>
                <a:stretch>
                  <a:fillRect l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27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Rezolvarea problemei RISCMIN1M utilizând GA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066800"/>
                <a:ext cx="8229600" cy="52117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ro-RO" sz="1800" b="1" dirty="0"/>
              </a:p>
              <a:p>
                <a:pPr marL="0" indent="0">
                  <a:buNone/>
                </a:pPr>
                <a:r>
                  <a:rPr lang="ro-RO" sz="1800" b="1" dirty="0"/>
                  <a:t>Modelul de populaţie</a:t>
                </a:r>
                <a:r>
                  <a:rPr lang="ro-RO" sz="1800" dirty="0"/>
                  <a:t>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Populația este cu dimensiune constantă (funcție de generație), </a:t>
                </a:r>
                <a:r>
                  <a:rPr lang="ro-RO" sz="1800" i="1" dirty="0"/>
                  <a:t>dim</a:t>
                </a:r>
                <a:r>
                  <a:rPr lang="ro-RO" sz="1800" dirty="0"/>
                  <a:t>. 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Este utilizat modelul generațional</a:t>
                </a:r>
                <a:r>
                  <a:rPr lang="en-US" sz="1800" dirty="0"/>
                  <a:t> </a:t>
                </a:r>
                <a:r>
                  <a:rPr lang="ro-RO" sz="1800" dirty="0"/>
                  <a:t>(problema este pe spațiu continuu</a:t>
                </a:r>
                <a:r>
                  <a:rPr lang="en-US" sz="1800" dirty="0"/>
                  <a:t>)</a:t>
                </a:r>
                <a:endParaRPr lang="ro-RO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r>
                  <a:rPr lang="ro-RO" sz="1800" b="1" dirty="0"/>
                  <a:t>Asocierea fenotip-genotip. Definirea soluțiilor fezabile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Fiecărui fenotip </a:t>
                </a:r>
                <a:r>
                  <a:rPr lang="ro-RO" sz="1800" i="1" dirty="0"/>
                  <a:t>y</a:t>
                </a:r>
                <a:r>
                  <a:rPr lang="ro-RO" sz="1800" dirty="0"/>
                  <a:t> (portofoliu) îi corespunde un cromozom definit de un şir cu </a:t>
                </a:r>
                <a:r>
                  <a:rPr lang="ro-RO" sz="1800" i="1" dirty="0"/>
                  <a:t>n</a:t>
                </a:r>
                <a:r>
                  <a:rPr lang="en-US" sz="1800" i="1" dirty="0"/>
                  <a:t>-1</a:t>
                </a:r>
                <a:r>
                  <a:rPr lang="ro-RO" sz="1800" dirty="0"/>
                  <a:t> numere reale.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Din punct de vedere al implementării, fiecare cromozom este însoţit de informaţia calitatea evaluată în termenii funcţiei obiectiv</a:t>
                </a:r>
                <a:r>
                  <a:rPr lang="en-US" sz="1800" dirty="0"/>
                  <a:t>.</a:t>
                </a:r>
                <a:r>
                  <a:rPr lang="ro-RO" sz="1800" dirty="0"/>
                  <a:t>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Reprezentarea - este utilizat un vector </a:t>
                </a:r>
                <a:r>
                  <a:rPr lang="ro-RO" sz="1800" i="1" dirty="0"/>
                  <a:t>x</a:t>
                </a:r>
                <a:r>
                  <a:rPr lang="ro-RO" sz="1800" dirty="0"/>
                  <a:t>, cu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i="1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1800" i="1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en-US" sz="1800" i="1">
                          <a:latin typeface="Cambria Math"/>
                        </a:rPr>
                        <m:t>=</m:t>
                      </m:r>
                      <m:r>
                        <a:rPr lang="en-US" sz="1800" i="1">
                          <a:latin typeface="Cambria Math"/>
                        </a:rPr>
                        <m:t>𝑦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𝑖</m:t>
                          </m:r>
                        </m:e>
                      </m:d>
                      <m:r>
                        <a:rPr lang="en-US" sz="1800" i="1">
                          <a:latin typeface="Cambria Math"/>
                        </a:rPr>
                        <m:t>, 1≤</m:t>
                      </m:r>
                      <m:r>
                        <a:rPr lang="en-US" sz="1800" i="1">
                          <a:latin typeface="Cambria Math"/>
                        </a:rPr>
                        <m:t>𝑖</m:t>
                      </m:r>
                      <m:r>
                        <a:rPr lang="en-US" sz="1800" i="1">
                          <a:latin typeface="Cambria Math"/>
                        </a:rPr>
                        <m:t>≤</m:t>
                      </m:r>
                      <m:r>
                        <a:rPr lang="en-US" sz="1800" i="1">
                          <a:latin typeface="Cambria Math"/>
                        </a:rPr>
                        <m:t>𝑛</m:t>
                      </m:r>
                      <m:r>
                        <a:rPr lang="en-US" sz="1800" i="1"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ro-RO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𝑥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1800" i="1">
                          <a:latin typeface="Cambria Math"/>
                        </a:rPr>
                        <m:t>=</m:t>
                      </m:r>
                      <m:r>
                        <a:rPr lang="en-US" sz="1800" i="1">
                          <a:latin typeface="Cambria Math"/>
                        </a:rPr>
                        <m:t>𝐹</m:t>
                      </m:r>
                      <m:r>
                        <a:rPr lang="ro-RO" sz="1800" b="0" i="1" smtClean="0">
                          <a:latin typeface="Cambria Math"/>
                        </a:rPr>
                        <m:t>1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1: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ro-RO" sz="1800" dirty="0"/>
              </a:p>
              <a:p>
                <a:pPr marL="0" lvl="0" indent="0" algn="just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066800"/>
                <a:ext cx="8229600" cy="5211763"/>
              </a:xfrm>
              <a:blipFill>
                <a:blip r:embed="rId2"/>
                <a:stretch>
                  <a:fillRect l="-593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095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Rezolvarea problemei RISCMIN1M utilizând GA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341437"/>
                <a:ext cx="8229600" cy="52117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r>
                  <a:rPr lang="ro-RO" sz="1800" b="1" dirty="0"/>
                  <a:t>Asocierea fenotip-genotip. Definirea soluțiilor fezabile</a:t>
                </a:r>
              </a:p>
              <a:p>
                <a:pPr marL="0" indent="0" algn="just">
                  <a:buNone/>
                </a:pPr>
                <a:endParaRPr lang="ro-RO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Pot fi considerate două situaţii  posibile: 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SHORT SELLING admis </a:t>
                </a:r>
                <a:r>
                  <a:rPr lang="en-US" sz="1800" dirty="0"/>
                  <a:t>:</a:t>
                </a:r>
                <a:r>
                  <a:rPr lang="ro-RO" sz="1800" dirty="0"/>
                  <a:t> nu este impusă codiţia ca fiecare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800" dirty="0"/>
                  <a:t> să fie pozitiv</a:t>
                </a:r>
                <a:r>
                  <a:rPr lang="en-US" sz="1800" dirty="0"/>
                  <a:t>: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/>
                      </a:rPr>
                      <m:t>1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≥</m:t>
                    </m:r>
                    <m:r>
                      <a:rPr lang="it-IT" sz="1800" i="1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800" i="1"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it-IT" sz="1800">
                        <a:latin typeface="Cambria Math"/>
                      </a:rPr>
                      <m:t>≥</m:t>
                    </m:r>
                    <m:r>
                      <a:rPr lang="en-US" sz="1800">
                        <a:latin typeface="Cambria Math"/>
                      </a:rPr>
                      <m:t>−1</m:t>
                    </m:r>
                  </m:oMath>
                </a14:m>
                <a:r>
                  <a:rPr lang="ro-RO" sz="1800" dirty="0"/>
                  <a:t>,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1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𝑖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ro-RO" sz="1800" dirty="0"/>
                  <a:t>  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ro-RO" sz="1800" dirty="0">
                    <a:solidFill>
                      <a:srgbClr val="FF0000"/>
                    </a:solidFill>
                  </a:rPr>
                  <a:t>SHORT SELLING exclus </a:t>
                </a:r>
                <a:r>
                  <a:rPr lang="en-US" sz="1800" dirty="0">
                    <a:solidFill>
                      <a:srgbClr val="FF000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180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sz="18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≥</m:t>
                    </m:r>
                    <m:r>
                      <a:rPr lang="it-IT" sz="1800" i="1">
                        <a:solidFill>
                          <a:srgbClr val="FF0000"/>
                        </a:solidFill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𝑖</m:t>
                        </m:r>
                      </m:e>
                    </m:d>
                    <m:r>
                      <a:rPr lang="it-IT" sz="1800">
                        <a:solidFill>
                          <a:srgbClr val="FF0000"/>
                        </a:solidFill>
                        <a:latin typeface="Cambria Math"/>
                      </a:rPr>
                      <m:t>≥0</m:t>
                    </m:r>
                  </m:oMath>
                </a14:m>
                <a:r>
                  <a:rPr lang="ro-RO" sz="18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𝑖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𝑛</m:t>
                    </m:r>
                  </m:oMath>
                </a14:m>
                <a:r>
                  <a:rPr lang="ro-RO" sz="1800" dirty="0">
                    <a:solidFill>
                      <a:srgbClr val="FF0000"/>
                    </a:solidFill>
                  </a:rPr>
                  <a:t>  </a:t>
                </a:r>
              </a:p>
              <a:p>
                <a:pPr marL="0" indent="0">
                  <a:buNone/>
                </a:pPr>
                <a:endParaRPr lang="ro-RO" sz="1800" dirty="0"/>
              </a:p>
              <a:p>
                <a:pPr lvl="0"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SHORT SELLING -  o valoare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1800" dirty="0"/>
                  <a:t> </a:t>
                </a:r>
                <a:r>
                  <a:rPr lang="en-US" sz="1800" dirty="0"/>
                  <a:t>negativ</a:t>
                </a:r>
                <a:r>
                  <a:rPr lang="ro-RO" sz="1800" dirty="0"/>
                  <a:t>ă</a:t>
                </a:r>
                <a:r>
                  <a:rPr lang="en-US" sz="1800" dirty="0"/>
                  <a:t> </a:t>
                </a:r>
                <a:r>
                  <a:rPr lang="ro-RO" sz="1800" dirty="0"/>
                  <a:t>are semnificaţia că strategia optimă de investiţie implică vânzarea de tip </a:t>
                </a:r>
                <a:r>
                  <a:rPr lang="en-US" sz="1800" dirty="0"/>
                  <a:t>“short selling”, </a:t>
                </a:r>
                <a:r>
                  <a:rPr lang="en-US" sz="1800" dirty="0" err="1"/>
                  <a:t>adic</a:t>
                </a:r>
                <a:r>
                  <a:rPr lang="ro-RO" sz="1800" dirty="0"/>
                  <a:t>ă vânzarea unor active pe care investitorul nu le deţine, prin împrumutul acestora de la broker cu intenţia de a le returna ulterior. </a:t>
                </a:r>
              </a:p>
              <a:p>
                <a:pPr lvl="0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lvl="0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Strategia </a:t>
                </a:r>
                <a:r>
                  <a:rPr lang="en-US" sz="1800" dirty="0"/>
                  <a:t>SHORT SELLING</a:t>
                </a:r>
                <a:r>
                  <a:rPr lang="ro-RO" sz="1800" dirty="0"/>
                  <a:t> este efectivă doar în situaţia în care preţul acţiunilor este în scădere.</a:t>
                </a:r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lvl="0" indent="0" algn="just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341437"/>
                <a:ext cx="8229600" cy="5211763"/>
              </a:xfrm>
              <a:blipFill>
                <a:blip r:embed="rId2"/>
                <a:stretch>
                  <a:fillRect l="-593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383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Rezolvarea problemei RISCMIN1M utilizând GA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341437"/>
                <a:ext cx="8229600" cy="5211763"/>
              </a:xfrm>
            </p:spPr>
            <p:txBody>
              <a:bodyPr/>
              <a:lstStyle/>
              <a:p>
                <a:pPr marL="0" lvl="0" indent="0" algn="just">
                  <a:buNone/>
                </a:pPr>
                <a:endParaRPr lang="ro-RO" sz="1800" dirty="0"/>
              </a:p>
              <a:p>
                <a:pPr marL="0" lvl="0" indent="0" algn="just">
                  <a:buNone/>
                </a:pPr>
                <a:r>
                  <a:rPr lang="ro-RO" sz="1800" dirty="0"/>
                  <a:t>Restricțiile impuse genotiourilor (reprezentarea cromozomială)</a:t>
                </a:r>
              </a:p>
              <a:p>
                <a:pPr marL="0" lvl="0" indent="0" algn="just">
                  <a:buNone/>
                </a:pPr>
                <a:endParaRPr lang="ro-RO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Restricții în strategia SHORT SELLING</a:t>
                </a:r>
                <a:r>
                  <a:rPr lang="en-US" sz="1800" dirty="0"/>
                  <a:t>:</a:t>
                </a:r>
              </a:p>
              <a:p>
                <a:pPr lvl="1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</a:rPr>
                      <m:t>𝟏</m:t>
                    </m:r>
                    <m:r>
                      <a:rPr lang="en-US" sz="1800" b="1" i="1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sz="1800" b="1" i="1" smtClean="0">
                        <a:latin typeface="Cambria Math"/>
                        <a:ea typeface="Cambria Math"/>
                      </a:rPr>
                      <m:t>𝒙</m:t>
                    </m:r>
                    <m:d>
                      <m:d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800" b="1" i="1">
                            <a:latin typeface="Cambria Math"/>
                          </a:rPr>
                          <m:t>𝒊</m:t>
                        </m:r>
                      </m:e>
                    </m:d>
                    <m:r>
                      <a:rPr lang="it-IT" sz="1800" b="1">
                        <a:latin typeface="Cambria Math"/>
                      </a:rPr>
                      <m:t>≥</m:t>
                    </m:r>
                    <m:r>
                      <a:rPr lang="en-US" sz="1800" b="1">
                        <a:latin typeface="Cambria Math"/>
                      </a:rPr>
                      <m:t>−</m:t>
                    </m:r>
                    <m:r>
                      <a:rPr lang="en-US" sz="1800" b="1" i="1">
                        <a:latin typeface="Cambria Math"/>
                      </a:rPr>
                      <m:t>𝟏</m:t>
                    </m:r>
                    <m:r>
                      <m:rPr>
                        <m:nor/>
                      </m:rPr>
                      <a:rPr lang="ro-RO" sz="1800" b="1" dirty="0"/>
                      <m:t>, </m:t>
                    </m:r>
                    <m:r>
                      <a:rPr lang="ro-RO" sz="1800" b="1" i="1">
                        <a:latin typeface="Cambria Math"/>
                      </a:rPr>
                      <m:t>𝟏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𝒊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𝒏</m:t>
                    </m:r>
                    <m:r>
                      <a:rPr lang="en-US" sz="1800" b="1" i="1" smtClean="0">
                        <a:latin typeface="Cambria Math"/>
                        <a:ea typeface="Cambria Math"/>
                      </a:rPr>
                      <m:t>−</m:t>
                    </m:r>
                    <m:r>
                      <a:rPr lang="en-US" sz="1800" b="1" i="1" smtClean="0">
                        <a:latin typeface="Cambria Math"/>
                        <a:ea typeface="Cambria Math"/>
                      </a:rPr>
                      <m:t>𝟏</m:t>
                    </m:r>
                  </m:oMath>
                </a14:m>
                <a:endParaRPr lang="en-US" sz="1800" b="1" i="1" dirty="0">
                  <a:latin typeface="Cambria Math"/>
                  <a:ea typeface="Cambria Math"/>
                </a:endParaRPr>
              </a:p>
              <a:p>
                <a:pPr lvl="1" algn="just">
                  <a:buFont typeface="Wingdings" panose="05000000000000000000" pitchFamily="2" charset="2"/>
                  <a:buChar char="q"/>
                </a:pPr>
                <a:r>
                  <a:rPr lang="en-US" sz="1800" dirty="0" err="1"/>
                  <a:t>Deoarece</a:t>
                </a:r>
                <a:r>
                  <a:rPr lang="en-US" sz="1800" dirty="0"/>
                  <a:t> </a:t>
                </a:r>
                <a:endParaRPr lang="ro-RO" sz="1800" dirty="0"/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o-RO" sz="1800" i="1">
                            <a:latin typeface="Cambria Math"/>
                          </a:rPr>
                          <m:t>𝑖</m:t>
                        </m:r>
                        <m:r>
                          <a:rPr lang="ro-RO" sz="1800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ro-RO" sz="1800" i="1">
                            <a:latin typeface="Cambria Math"/>
                          </a:rPr>
                          <m:t>𝑛</m:t>
                        </m:r>
                        <m:r>
                          <a:rPr lang="ro-RO" sz="1800" i="1">
                            <a:latin typeface="Cambria Math"/>
                          </a:rPr>
                          <m:t>−1</m:t>
                        </m:r>
                      </m:sup>
                      <m:e>
                        <m:r>
                          <a:rPr lang="ro-RO" sz="1800" i="1">
                            <a:latin typeface="Cambria Math"/>
                          </a:rPr>
                          <m:t>𝑥</m:t>
                        </m:r>
                        <m:d>
                          <m:d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𝑖</m:t>
                            </m:r>
                          </m:e>
                        </m:d>
                      </m:e>
                    </m:nary>
                    <m:r>
                      <a:rPr lang="ro-RO" sz="1800" dirty="0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/>
                          </a:rPr>
                          <m:t>−1,1</m:t>
                        </m:r>
                      </m:e>
                    </m:d>
                  </m:oMath>
                </a14:m>
                <a:r>
                  <a:rPr lang="ro-RO" sz="1800" dirty="0"/>
                  <a:t> </a:t>
                </a:r>
              </a:p>
              <a:p>
                <a:pPr marL="457200" lvl="1" indent="0" algn="just">
                  <a:buNone/>
                </a:pPr>
                <a:r>
                  <a:rPr lang="en-US" sz="1800" dirty="0"/>
                  <a:t>rezult</a:t>
                </a:r>
                <a:r>
                  <a:rPr lang="ro-RO" sz="1800" dirty="0"/>
                  <a:t>ă </a:t>
                </a:r>
              </a:p>
              <a:p>
                <a:pPr marL="457200" lvl="1" indent="0" algn="ctr">
                  <a:buNone/>
                </a:pPr>
                <a14:m>
                  <m:oMath xmlns:m="http://schemas.openxmlformats.org/officeDocument/2006/math">
                    <m:r>
                      <a:rPr lang="en-US" sz="1800" b="1" i="1">
                        <a:latin typeface="Cambria Math"/>
                      </a:rPr>
                      <m:t>𝟎</m:t>
                    </m:r>
                    <m:r>
                      <a:rPr lang="en-US" sz="1800" b="1" i="1">
                        <a:latin typeface="Cambria Math"/>
                      </a:rPr>
                      <m:t>≤</m:t>
                    </m:r>
                    <m:nary>
                      <m:naryPr>
                        <m:chr m:val="∑"/>
                        <m:limLoc m:val="undOvr"/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o-RO" sz="1800" b="1" i="1">
                            <a:latin typeface="Cambria Math"/>
                          </a:rPr>
                          <m:t>𝒊</m:t>
                        </m:r>
                        <m:r>
                          <a:rPr lang="ro-RO" sz="1800" b="1" i="1">
                            <a:latin typeface="Cambria Math"/>
                          </a:rPr>
                          <m:t>=</m:t>
                        </m:r>
                        <m:r>
                          <a:rPr lang="ro-RO" sz="1800" b="1" i="1"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ro-RO" sz="1800" b="1" i="1">
                            <a:latin typeface="Cambria Math"/>
                          </a:rPr>
                          <m:t>𝒏</m:t>
                        </m:r>
                        <m:r>
                          <a:rPr lang="ro-RO" sz="1800" b="1" i="1">
                            <a:latin typeface="Cambria Math"/>
                          </a:rPr>
                          <m:t>−</m:t>
                        </m:r>
                        <m:r>
                          <a:rPr lang="ro-RO" sz="1800" b="1" i="1">
                            <a:latin typeface="Cambria Math"/>
                          </a:rPr>
                          <m:t>𝟏</m:t>
                        </m:r>
                      </m:sup>
                      <m:e>
                        <m:r>
                          <a:rPr lang="ro-RO" sz="1800" b="1" i="1">
                            <a:latin typeface="Cambria Math"/>
                          </a:rPr>
                          <m:t>𝒙</m:t>
                        </m:r>
                        <m:d>
                          <m:dPr>
                            <m:ctrlPr>
                              <a:rPr lang="en-US" sz="1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b="1" i="1">
                                <a:latin typeface="Cambria Math"/>
                              </a:rPr>
                              <m:t>𝒊</m:t>
                            </m:r>
                          </m:e>
                        </m:d>
                      </m:e>
                    </m:nary>
                    <m:r>
                      <a:rPr lang="ro-RO" sz="1800" b="1" i="1">
                        <a:latin typeface="Cambria Math"/>
                      </a:rPr>
                      <m:t>≤</m:t>
                    </m:r>
                    <m:r>
                      <a:rPr lang="ro-RO" sz="1800" b="1" i="1">
                        <a:latin typeface="Cambria Math"/>
                      </a:rPr>
                      <m:t>𝟐</m:t>
                    </m:r>
                  </m:oMath>
                </a14:m>
                <a:r>
                  <a:rPr lang="ro-RO" sz="1800" b="1" dirty="0"/>
                  <a:t>.</a:t>
                </a:r>
              </a:p>
              <a:p>
                <a:pPr marL="457200" lvl="1" indent="0" algn="just">
                  <a:buNone/>
                </a:pPr>
                <a:endParaRPr lang="en-US" sz="1800" dirty="0"/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dirty="0"/>
                  <a:t> </a:t>
                </a:r>
                <a:r>
                  <a:rPr lang="ro-RO" sz="1800" dirty="0">
                    <a:solidFill>
                      <a:srgbClr val="FF0000"/>
                    </a:solidFill>
                  </a:rPr>
                  <a:t>Restricții în strategia de e</a:t>
                </a:r>
                <a:r>
                  <a:rPr lang="en-US" sz="1800" dirty="0">
                    <a:solidFill>
                      <a:srgbClr val="FF0000"/>
                    </a:solidFill>
                  </a:rPr>
                  <a:t>x</a:t>
                </a:r>
                <a:r>
                  <a:rPr lang="ro-RO" sz="1800" dirty="0">
                    <a:solidFill>
                      <a:srgbClr val="FF0000"/>
                    </a:solidFill>
                  </a:rPr>
                  <a:t>cludere a situației SHORT SELLING</a:t>
                </a:r>
              </a:p>
              <a:p>
                <a:pPr lvl="1" algn="just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/>
                      </a:rPr>
                      <m:t>≤</m:t>
                    </m: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/>
                      </a:rPr>
                      <m:t>𝒊</m:t>
                    </m: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/>
                      </a:rPr>
                      <m:t>≤</m:t>
                    </m: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/>
                      </a:rPr>
                      <m:t>𝒏</m:t>
                    </m: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/>
                      </a:rPr>
                      <m:t>, </m:t>
                    </m: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/>
                      </a:rPr>
                      <m:t>𝟎</m:t>
                    </m:r>
                    <m:r>
                      <a:rPr lang="ro-RO" sz="1800" b="1" i="1" smtClean="0">
                        <a:solidFill>
                          <a:srgbClr val="FF0000"/>
                        </a:solidFill>
                        <a:latin typeface="Cambria Math"/>
                      </a:rPr>
                      <m:t>≤</m:t>
                    </m:r>
                    <m:r>
                      <a:rPr lang="it-IT" sz="1800" b="1" i="1">
                        <a:solidFill>
                          <a:srgbClr val="FF0000"/>
                        </a:solidFill>
                        <a:latin typeface="Cambria Math"/>
                      </a:rPr>
                      <m:t>𝒙</m:t>
                    </m:r>
                    <m:d>
                      <m:dPr>
                        <m:ctrlPr>
                          <a:rPr lang="en-US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𝒊</m:t>
                        </m:r>
                      </m:e>
                    </m:d>
                    <m:r>
                      <a:rPr lang="it-IT" sz="1800" b="1">
                        <a:solidFill>
                          <a:srgbClr val="FF0000"/>
                        </a:solidFill>
                        <a:latin typeface="Cambria Math"/>
                      </a:rPr>
                      <m:t>≤</m:t>
                    </m:r>
                    <m:r>
                      <a:rPr lang="it-IT" sz="1800" b="1" i="1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ro-RO" sz="1800" b="1" dirty="0">
                  <a:solidFill>
                    <a:srgbClr val="FF0000"/>
                  </a:solidFill>
                  <a:latin typeface="Cambria Math"/>
                </a:endParaRPr>
              </a:p>
              <a:p>
                <a:pPr lvl="1" algn="just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1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it-IT" sz="1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r>
                          <a:rPr lang="it-IT" sz="1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sub>
                      <m:sup>
                        <m:r>
                          <a:rPr lang="it-IT" sz="1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𝒏</m:t>
                        </m:r>
                        <m:r>
                          <a:rPr lang="en-US" sz="1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𝟏</m:t>
                        </m:r>
                      </m:sup>
                      <m:e>
                        <m:r>
                          <a:rPr lang="it-IT" sz="1800" b="1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𝒙</m:t>
                        </m:r>
                        <m:d>
                          <m:dPr>
                            <m:ctrlPr>
                              <a:rPr lang="en-US" sz="18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1800" b="1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𝒊</m:t>
                            </m:r>
                          </m:e>
                        </m:d>
                      </m:e>
                    </m:nary>
                    <m:r>
                      <a:rPr lang="it-IT" sz="1800" b="1" i="1">
                        <a:solidFill>
                          <a:srgbClr val="FF0000"/>
                        </a:solidFill>
                        <a:latin typeface="Cambria Math"/>
                      </a:rPr>
                      <m:t>≤</m:t>
                    </m:r>
                    <m:r>
                      <a:rPr lang="it-IT" sz="1800" b="1" i="1">
                        <a:solidFill>
                          <a:srgbClr val="FF000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en-US" sz="1800" b="1" dirty="0">
                  <a:solidFill>
                    <a:srgbClr val="FF0000"/>
                  </a:solidFill>
                </a:endParaRPr>
              </a:p>
              <a:p>
                <a:pPr lvl="1" algn="just">
                  <a:buFont typeface="Wingdings" pitchFamily="2" charset="2"/>
                  <a:buChar char="q"/>
                </a:pPr>
                <a:endParaRPr lang="en-US" sz="1800" b="1" i="1" dirty="0">
                  <a:latin typeface="Cambria Math"/>
                  <a:ea typeface="Cambria Math"/>
                </a:endParaRPr>
              </a:p>
              <a:p>
                <a:pPr algn="just">
                  <a:buFont typeface="Wingdings" pitchFamily="2" charset="2"/>
                  <a:buChar char="q"/>
                </a:pP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341437"/>
                <a:ext cx="8229600" cy="5211763"/>
              </a:xfrm>
              <a:blipFill>
                <a:blip r:embed="rId2"/>
                <a:stretch>
                  <a:fillRect l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8754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14400"/>
            <a:ext cx="7696200" cy="55626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ro-RO" sz="1800" b="1" dirty="0"/>
              <a:t>Generarea populaţiei inițiale: </a:t>
            </a:r>
            <a:r>
              <a:rPr lang="ro-RO" sz="1800" dirty="0"/>
              <a:t>aleator, cu respectarea restricțiilor  </a:t>
            </a:r>
            <a:endParaRPr lang="en-US" sz="1800" dirty="0"/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def gen_cr(nr_actiuni): #generarea unui individ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c=np.zeros(nr_actiuni-1)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s=0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i=0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generat=np.zeros(nr_actiuni-1)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while i&lt;nr_actiuni-1 and s&lt;1 :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	j=np.random.randint(0,nr_actiuni-1)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while generat[j]: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    j = np.random.randint(0, nr_actiuni - 1)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c[j]=np.random.uniform(0,1)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s=sum(c)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generat[j]=1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	if s&gt;1: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    c[j]=c[j]-(s-1)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else: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    i=i+1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return c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Rectangle 2"/>
          <p:cNvSpPr txBox="1">
            <a:spLocks noChangeArrowheads="1"/>
          </p:cNvSpPr>
          <p:nvPr/>
        </p:nvSpPr>
        <p:spPr bwMode="auto">
          <a:xfrm>
            <a:off x="228600" y="228600"/>
            <a:ext cx="88392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2800" b="1" kern="0" dirty="0">
                <a:solidFill>
                  <a:schemeClr val="bg2"/>
                </a:solidFill>
              </a:rPr>
              <a:t>GA</a:t>
            </a:r>
            <a:r>
              <a:rPr lang="en-US" sz="2800" b="1" kern="0" dirty="0">
                <a:solidFill>
                  <a:schemeClr val="bg2"/>
                </a:solidFill>
              </a:rPr>
              <a:t>. </a:t>
            </a:r>
            <a:r>
              <a:rPr lang="ro-RO" sz="2800" b="1" kern="0" dirty="0">
                <a:solidFill>
                  <a:schemeClr val="bg2"/>
                </a:solidFill>
              </a:rPr>
              <a:t>S</a:t>
            </a:r>
            <a:r>
              <a:rPr lang="ro-RO" altLang="en-US" sz="2800" b="1" kern="0" dirty="0">
                <a:solidFill>
                  <a:schemeClr val="bg2"/>
                </a:solidFill>
              </a:rPr>
              <a:t>trategia</a:t>
            </a:r>
            <a:r>
              <a:rPr lang="en-US" altLang="en-US" sz="2800" b="1" kern="0" dirty="0">
                <a:solidFill>
                  <a:schemeClr val="bg2"/>
                </a:solidFill>
              </a:rPr>
              <a:t>  care exclude </a:t>
            </a:r>
            <a:r>
              <a:rPr lang="ro-RO" sz="2800" b="1" dirty="0">
                <a:solidFill>
                  <a:schemeClr val="bg2"/>
                </a:solidFill>
              </a:rPr>
              <a:t>SHORT SELLING</a:t>
            </a:r>
            <a:endParaRPr lang="en-US" altLang="en-US" sz="2600" b="1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314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87438"/>
            <a:ext cx="7696200" cy="4779962"/>
          </a:xfrm>
        </p:spPr>
        <p:txBody>
          <a:bodyPr/>
          <a:lstStyle/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#generarea populatiei initiale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#I: nr_actiuni, dim; Q,rmed,B,alpha,ro,Rp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#E: populatia intiala, o matrice dimxnr_actiuni - ultima #coloana este cea a valorilor</a:t>
            </a:r>
          </a:p>
          <a:p>
            <a:pPr marL="0" indent="0">
              <a:buNone/>
            </a:pPr>
            <a:endParaRPr lang="en-US" sz="1600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def gen_pop(dim,nr_actiuni,Q,rmed,B,alpha,ro,Rp):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pop=np.zeros([dim,nr_actiuni])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for i in range(dim):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x=gen_cr(nr_actiuni)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pop[i][:nr_actiuni - 1]=x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y=x.reshape([nr_actiuni-1,1])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val,V=fobiectiv(Q,rmed,B,alpha,ro,Rp,y)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#val trebuie minimizat, 1/(1+val) trebuie maximizat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pop[i][nr_actiuni - 1]=1/(val+1)</a:t>
            </a:r>
          </a:p>
          <a:p>
            <a:pPr marL="0" indent="0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return pop</a:t>
            </a: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ro-RO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228600" y="228600"/>
            <a:ext cx="88392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2800" b="1" kern="0" dirty="0">
                <a:solidFill>
                  <a:schemeClr val="bg2"/>
                </a:solidFill>
              </a:rPr>
              <a:t>GA</a:t>
            </a:r>
            <a:r>
              <a:rPr lang="en-US" sz="2800" b="1" kern="0" dirty="0">
                <a:solidFill>
                  <a:schemeClr val="bg2"/>
                </a:solidFill>
              </a:rPr>
              <a:t>. </a:t>
            </a:r>
            <a:r>
              <a:rPr lang="ro-RO" sz="2800" b="1" kern="0" dirty="0">
                <a:solidFill>
                  <a:schemeClr val="bg2"/>
                </a:solidFill>
              </a:rPr>
              <a:t>S</a:t>
            </a:r>
            <a:r>
              <a:rPr lang="ro-RO" altLang="en-US" sz="2800" b="1" kern="0" dirty="0">
                <a:solidFill>
                  <a:schemeClr val="bg2"/>
                </a:solidFill>
              </a:rPr>
              <a:t>trategia</a:t>
            </a:r>
            <a:r>
              <a:rPr lang="en-US" altLang="en-US" sz="2800" b="1" kern="0" dirty="0">
                <a:solidFill>
                  <a:schemeClr val="bg2"/>
                </a:solidFill>
              </a:rPr>
              <a:t>  care exclude </a:t>
            </a:r>
            <a:r>
              <a:rPr lang="ro-RO" sz="2800" b="1" dirty="0">
                <a:solidFill>
                  <a:schemeClr val="bg2"/>
                </a:solidFill>
              </a:rPr>
              <a:t>SHORT SELLING</a:t>
            </a:r>
            <a:endParaRPr lang="en-US" altLang="en-US" sz="2600" b="1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121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412557"/>
                <a:ext cx="8229600" cy="5211763"/>
              </a:xfrm>
            </p:spPr>
            <p:txBody>
              <a:bodyPr/>
              <a:lstStyle/>
              <a:p>
                <a:pPr marL="0" indent="0" algn="just">
                  <a:buNone/>
                </a:pPr>
                <a:r>
                  <a:rPr lang="ro-RO" sz="1800" b="1" dirty="0"/>
                  <a:t>Selecția p</a:t>
                </a:r>
                <a:r>
                  <a:rPr lang="ro-RO" sz="1800" dirty="0"/>
                  <a:t>ă</a:t>
                </a:r>
                <a:r>
                  <a:rPr lang="ro-RO" sz="1800" b="1" dirty="0"/>
                  <a:t>rinților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Utilizează distribuția FPS cu sigma scalare, extrageri simulate cu mecanismul ruletă</a:t>
                </a:r>
              </a:p>
              <a:p>
                <a:pPr marL="0" indent="0" algn="just">
                  <a:buNone/>
                </a:pPr>
                <a:endParaRPr lang="ro-RO" sz="1800" b="1" dirty="0"/>
              </a:p>
              <a:p>
                <a:pPr marL="0" indent="0" algn="just">
                  <a:buNone/>
                </a:pPr>
                <a:r>
                  <a:rPr lang="ro-RO" sz="1800" b="1" dirty="0"/>
                  <a:t>Recombinarea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Recombinarea este aplicată cu o rată </a:t>
                </a:r>
                <a:r>
                  <a:rPr lang="ro-RO" sz="1800" i="1" dirty="0"/>
                  <a:t>pc</a:t>
                </a:r>
                <a:r>
                  <a:rPr lang="ro-RO" sz="1800" dirty="0"/>
                  <a:t> şi revine la aplicarea operatorului de </a:t>
                </a:r>
                <a:r>
                  <a:rPr lang="ro-RO" sz="1800" b="1" dirty="0"/>
                  <a:t>recombinare aritmetică totală</a:t>
                </a:r>
                <a:r>
                  <a:rPr lang="ro-RO" sz="1800" dirty="0"/>
                  <a:t>, cu ponderea </a:t>
                </a:r>
                <a:r>
                  <a:rPr lang="ro-RO" sz="1800" i="1" dirty="0"/>
                  <a:t>p</a:t>
                </a:r>
                <a:r>
                  <a:rPr lang="ro-RO" sz="1800" dirty="0"/>
                  <a:t>, celor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1800" i="1">
                            <a:latin typeface="Cambria Math"/>
                          </a:rPr>
                          <m:t>𝑑𝑖𝑚</m:t>
                        </m:r>
                      </m:num>
                      <m:den>
                        <m:r>
                          <a:rPr lang="ro-RO" sz="1800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ro-RO" sz="1800" dirty="0"/>
                  <a:t> perechi de cromozomi  aleşi aleator din populaţia de părinţi.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solidFill>
                      <a:srgbClr val="FF0000"/>
                    </a:solidFill>
                  </a:rPr>
                  <a:t>Rezultatele recombinării corespund întotdeauna unor soluții fezabile.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b="1" dirty="0">
                  <a:solidFill>
                    <a:srgbClr val="FF0000"/>
                  </a:solidFill>
                </a:endParaRPr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solidFill>
                      <a:srgbClr val="FF0000"/>
                    </a:solidFill>
                  </a:rPr>
                  <a:t>Poate fi deci utilizată schema generală de recombinare pentru probleme fără constrângeri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Recombinarea este implementată şi în varianta asexuată. </a:t>
                </a:r>
              </a:p>
              <a:p>
                <a:pPr algn="just">
                  <a:buFont typeface="Wingdings" panose="05000000000000000000" pitchFamily="2" charset="2"/>
                  <a:buChar char="q"/>
                </a:pPr>
                <a:endParaRPr lang="ro-RO" sz="1800" b="1" dirty="0"/>
              </a:p>
              <a:p>
                <a:pPr marL="0" indent="0" algn="just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ro-RO" sz="17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412557"/>
                <a:ext cx="8229600" cy="5211763"/>
              </a:xfrm>
              <a:blipFill>
                <a:blip r:embed="rId3"/>
                <a:stretch>
                  <a:fillRect l="-593" t="-702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228600" y="228600"/>
            <a:ext cx="88392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2800" b="1" kern="0" dirty="0">
                <a:solidFill>
                  <a:schemeClr val="bg2"/>
                </a:solidFill>
              </a:rPr>
              <a:t>GA</a:t>
            </a:r>
            <a:r>
              <a:rPr lang="en-US" sz="2800" b="1" kern="0" dirty="0">
                <a:solidFill>
                  <a:schemeClr val="bg2"/>
                </a:solidFill>
              </a:rPr>
              <a:t>. </a:t>
            </a:r>
            <a:r>
              <a:rPr lang="ro-RO" sz="2800" b="1" kern="0" dirty="0">
                <a:solidFill>
                  <a:schemeClr val="bg2"/>
                </a:solidFill>
              </a:rPr>
              <a:t>S</a:t>
            </a:r>
            <a:r>
              <a:rPr lang="ro-RO" altLang="en-US" sz="2800" b="1" kern="0" dirty="0">
                <a:solidFill>
                  <a:schemeClr val="bg2"/>
                </a:solidFill>
              </a:rPr>
              <a:t>trategia</a:t>
            </a:r>
            <a:r>
              <a:rPr lang="en-US" altLang="en-US" sz="2800" b="1" kern="0" dirty="0">
                <a:solidFill>
                  <a:schemeClr val="bg2"/>
                </a:solidFill>
              </a:rPr>
              <a:t>  care exclude </a:t>
            </a:r>
            <a:r>
              <a:rPr lang="ro-RO" sz="2800" b="1" dirty="0">
                <a:solidFill>
                  <a:schemeClr val="bg2"/>
                </a:solidFill>
              </a:rPr>
              <a:t>SHORT SELLING</a:t>
            </a:r>
            <a:endParaRPr lang="en-US" altLang="en-US" sz="2600" b="1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5837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087438"/>
                <a:ext cx="8229600" cy="53133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o-RO" sz="1800" b="1" dirty="0"/>
                  <a:t>Mutaţi</a:t>
                </a:r>
                <a:r>
                  <a:rPr lang="en-US" sz="1800" b="1" dirty="0"/>
                  <a:t>a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b="1" dirty="0"/>
                  <a:t>Operatorul de mutaţie </a:t>
                </a:r>
                <a:r>
                  <a:rPr lang="ro-RO" sz="1800" dirty="0"/>
                  <a:t>ales este cel de tip fluaj, cu o rată </a:t>
                </a:r>
                <a:r>
                  <a:rPr lang="ro-RO" sz="1800" i="1" dirty="0"/>
                  <a:t>pm</a:t>
                </a:r>
                <a:r>
                  <a:rPr lang="ro-RO" sz="1800" dirty="0"/>
                  <a:t>.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C</a:t>
                </a:r>
                <a:r>
                  <a:rPr lang="ro-RO" sz="1800" dirty="0"/>
                  <a:t>u o rată </a:t>
                </a:r>
                <a:r>
                  <a:rPr lang="ro-RO" sz="1800" i="1" dirty="0"/>
                  <a:t>pm</a:t>
                </a:r>
                <a:r>
                  <a:rPr lang="ro-RO" sz="1800" dirty="0"/>
                  <a:t>, fiecare genă din fiecare cromozom </a:t>
                </a:r>
                <a:r>
                  <a:rPr lang="ro-RO" sz="1800" i="1" dirty="0"/>
                  <a:t>c1</a:t>
                </a:r>
                <a:r>
                  <a:rPr lang="ro-RO" sz="1800" dirty="0"/>
                  <a:t> suferă o mutaţie prin adăugarea unei valori generate din repartiţia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/>
                      </a:rPr>
                      <m:t>N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/>
                          </a:rPr>
                          <m:t>0,</m:t>
                        </m:r>
                        <m:r>
                          <a:rPr lang="ro-RO" sz="1800" i="1">
                            <a:latin typeface="Cambria Math"/>
                          </a:rPr>
                          <m:t>𝜎</m:t>
                        </m:r>
                        <m:r>
                          <a:rPr lang="en-US" sz="1800" i="1"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i="1">
                                <a:latin typeface="Cambria Math"/>
                              </a:rPr>
                              <m:t>𝑡</m:t>
                            </m:r>
                          </m:num>
                          <m:den>
                            <m:r>
                              <a:rPr lang="en-US" sz="1800" i="1">
                                <a:latin typeface="Cambria Math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ro-RO" sz="1800" dirty="0"/>
                  <a:t>, dar astfel încât </a:t>
                </a:r>
                <a:r>
                  <a:rPr lang="ro-RO" sz="1800" b="1" dirty="0"/>
                  <a:t>cromozomul rezultat </a:t>
                </a:r>
                <a:r>
                  <a:rPr lang="ro-RO" sz="1800" b="1" i="1" dirty="0"/>
                  <a:t>c2</a:t>
                </a:r>
                <a:r>
                  <a:rPr lang="ro-RO" sz="1800" b="1" dirty="0"/>
                  <a:t> să corespundă unei soluţii fezabile</a:t>
                </a:r>
                <a:r>
                  <a:rPr lang="ro-RO" sz="1800" dirty="0"/>
                  <a:t>. </a:t>
                </a: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b="1" dirty="0">
                    <a:solidFill>
                      <a:srgbClr val="FF0000"/>
                    </a:solidFill>
                  </a:rPr>
                  <a:t>Dacă </a:t>
                </a:r>
                <a:r>
                  <a:rPr lang="ro-RO" sz="1800" b="1" i="1" dirty="0">
                    <a:solidFill>
                      <a:srgbClr val="FF0000"/>
                    </a:solidFill>
                  </a:rPr>
                  <a:t>c2</a:t>
                </a:r>
                <a:r>
                  <a:rPr lang="ro-RO" sz="1800" b="1" dirty="0">
                    <a:solidFill>
                      <a:srgbClr val="FF0000"/>
                    </a:solidFill>
                  </a:rPr>
                  <a:t> nu este soluţie fezabilă, atunci alela/alelele modificate este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 </a:t>
                </a:r>
                <a:r>
                  <a:rPr lang="ro-RO" sz="1800" b="1" dirty="0">
                    <a:solidFill>
                      <a:srgbClr val="FF0000"/>
                    </a:solidFill>
                  </a:rPr>
                  <a:t>ajustată/sunt ajustate astfel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 </a:t>
                </a:r>
                <a:r>
                  <a:rPr lang="ro-RO" sz="1800" b="1" dirty="0">
                    <a:solidFill>
                      <a:srgbClr val="FF0000"/>
                    </a:solidFill>
                  </a:rPr>
                  <a:t>încât </a:t>
                </a:r>
                <a:r>
                  <a:rPr lang="ro-RO" sz="1800" b="1" i="1" dirty="0">
                    <a:solidFill>
                      <a:srgbClr val="FF0000"/>
                    </a:solidFill>
                  </a:rPr>
                  <a:t>c2</a:t>
                </a:r>
                <a:r>
                  <a:rPr lang="ro-RO" sz="1800" b="1" dirty="0">
                    <a:solidFill>
                      <a:srgbClr val="FF0000"/>
                    </a:solidFill>
                  </a:rPr>
                  <a:t> să devină soluţie fezabilă.</a:t>
                </a:r>
                <a:endParaRPr lang="en-US" sz="1800" b="1" dirty="0">
                  <a:solidFill>
                    <a:srgbClr val="FF0000"/>
                  </a:solidFill>
                </a:endParaRPr>
              </a:p>
              <a:p>
                <a:pPr lvl="0" algn="just">
                  <a:buFont typeface="Wingdings" panose="05000000000000000000" pitchFamily="2" charset="2"/>
                  <a:buChar char="q"/>
                </a:pPr>
                <a:endParaRPr lang="en-US" sz="1800" b="1" dirty="0">
                  <a:solidFill>
                    <a:srgbClr val="FF0000"/>
                  </a:solidFill>
                </a:endParaRPr>
              </a:p>
              <a:p>
                <a:pPr algn="just">
                  <a:buFont typeface="Wingdings" pitchFamily="2" charset="2"/>
                  <a:buChar char="q"/>
                </a:pPr>
                <a:r>
                  <a:rPr lang="ro-RO" sz="1800" b="1" dirty="0">
                    <a:solidFill>
                      <a:srgbClr val="FF0000"/>
                    </a:solidFill>
                  </a:rPr>
                  <a:t>Poate fi deci utilizată schema generală de mutaţie pentru probleme fără constrângeri</a:t>
                </a:r>
              </a:p>
              <a:p>
                <a:pPr lvl="0" algn="just">
                  <a:buFont typeface="Wingdings" panose="05000000000000000000" pitchFamily="2" charset="2"/>
                  <a:buChar char="q"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087438"/>
                <a:ext cx="8229600" cy="5313362"/>
              </a:xfrm>
              <a:blipFill>
                <a:blip r:embed="rId2"/>
                <a:stretch>
                  <a:fillRect l="-593" t="-573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228600" y="228600"/>
            <a:ext cx="88392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2800" b="1" kern="0" dirty="0">
                <a:solidFill>
                  <a:schemeClr val="bg2"/>
                </a:solidFill>
              </a:rPr>
              <a:t>GA</a:t>
            </a:r>
            <a:r>
              <a:rPr lang="en-US" sz="2800" b="1" kern="0" dirty="0">
                <a:solidFill>
                  <a:schemeClr val="bg2"/>
                </a:solidFill>
              </a:rPr>
              <a:t>. </a:t>
            </a:r>
            <a:r>
              <a:rPr lang="ro-RO" sz="2800" b="1" kern="0" dirty="0">
                <a:solidFill>
                  <a:schemeClr val="bg2"/>
                </a:solidFill>
              </a:rPr>
              <a:t>S</a:t>
            </a:r>
            <a:r>
              <a:rPr lang="ro-RO" altLang="en-US" sz="2800" b="1" kern="0" dirty="0">
                <a:solidFill>
                  <a:schemeClr val="bg2"/>
                </a:solidFill>
              </a:rPr>
              <a:t>trategia</a:t>
            </a:r>
            <a:r>
              <a:rPr lang="en-US" altLang="en-US" sz="2800" b="1" kern="0" dirty="0">
                <a:solidFill>
                  <a:schemeClr val="bg2"/>
                </a:solidFill>
              </a:rPr>
              <a:t>  care exclude </a:t>
            </a:r>
            <a:r>
              <a:rPr lang="ro-RO" sz="2800" b="1" dirty="0">
                <a:solidFill>
                  <a:schemeClr val="bg2"/>
                </a:solidFill>
              </a:rPr>
              <a:t>SHORT SELLING</a:t>
            </a:r>
            <a:endParaRPr lang="en-US" altLang="en-US" sz="2600" b="1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591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87438"/>
            <a:ext cx="8229600" cy="5313362"/>
          </a:xfrm>
        </p:spPr>
        <p:txBody>
          <a:bodyPr/>
          <a:lstStyle/>
          <a:p>
            <a:pPr marL="0" lvl="0" indent="0" algn="just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#mutatia asupra genei j</a:t>
            </a:r>
          </a:p>
          <a:p>
            <a:pPr marL="0" lvl="0" indent="0" algn="just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def m_RM1M(x,j,sigma):</a:t>
            </a:r>
          </a:p>
          <a:p>
            <a:pPr marL="0" lvl="0" indent="0" algn="just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p = np.random.normal(0, sigma)</a:t>
            </a:r>
          </a:p>
          <a:p>
            <a:pPr marL="0" lvl="0" indent="0" algn="just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y = x[j] + p</a:t>
            </a:r>
          </a:p>
          <a:p>
            <a:pPr marL="0" lvl="0" indent="0" algn="just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if y &gt; 1:</a:t>
            </a:r>
          </a:p>
          <a:p>
            <a:pPr marL="0" lvl="0" indent="0" algn="just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y = 1</a:t>
            </a:r>
          </a:p>
          <a:p>
            <a:pPr marL="0" lvl="0" indent="0" algn="just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if y &lt; 0:</a:t>
            </a:r>
          </a:p>
          <a:p>
            <a:pPr marL="0" lvl="0" indent="0" algn="just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y = 0</a:t>
            </a:r>
          </a:p>
          <a:p>
            <a:pPr marL="0" lvl="0" indent="0" algn="just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x[j]=y</a:t>
            </a:r>
          </a:p>
          <a:p>
            <a:pPr marL="0" lvl="0" indent="0" algn="just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s=sum(x)</a:t>
            </a:r>
          </a:p>
          <a:p>
            <a:pPr marL="0" lvl="0" indent="0" algn="just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if s&gt;1:</a:t>
            </a:r>
          </a:p>
          <a:p>
            <a:pPr marL="0" lvl="0" indent="0" algn="just">
              <a:buNone/>
            </a:pPr>
            <a:r>
              <a:rPr lang="en-US" sz="1600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        x[j]=x[j]-(s-1)</a:t>
            </a:r>
          </a:p>
          <a:p>
            <a:pPr lvl="0"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1800" b="1" dirty="0"/>
              <a:t>Mecanismul de supravieţuire -</a:t>
            </a:r>
            <a:r>
              <a:rPr lang="ro-RO" sz="1800" dirty="0"/>
              <a:t> elistism</a:t>
            </a:r>
            <a:endParaRPr lang="en-US" sz="1800" dirty="0"/>
          </a:p>
          <a:p>
            <a:pPr algn="just">
              <a:buFont typeface="Wingdings" panose="05000000000000000000" pitchFamily="2" charset="2"/>
              <a:buChar char="q"/>
            </a:pPr>
            <a:endParaRPr lang="en-US" sz="1800" b="1" dirty="0"/>
          </a:p>
          <a:p>
            <a:pPr algn="just">
              <a:buFont typeface="Wingdings" panose="05000000000000000000" pitchFamily="2" charset="2"/>
              <a:buChar char="q"/>
            </a:pPr>
            <a:r>
              <a:rPr lang="ro-RO" sz="1800" b="1" dirty="0"/>
              <a:t>Condiția de terminare</a:t>
            </a:r>
            <a:r>
              <a:rPr lang="ro-RO" sz="1800" dirty="0"/>
              <a:t>: simulare pe un număr dat de epoci, cât timp populația conține măcar două valori ale funcției fitness</a:t>
            </a:r>
          </a:p>
          <a:p>
            <a:pPr lvl="0"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0" lvl="0" indent="0" algn="just">
              <a:buNone/>
            </a:pPr>
            <a:endParaRPr lang="en-US" sz="1800" dirty="0"/>
          </a:p>
          <a:p>
            <a:pPr lvl="0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0" indent="0">
              <a:buNone/>
            </a:pPr>
            <a:endParaRPr lang="ro-RO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228600" y="228600"/>
            <a:ext cx="88392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2800" b="1" kern="0" dirty="0">
                <a:solidFill>
                  <a:schemeClr val="bg2"/>
                </a:solidFill>
              </a:rPr>
              <a:t>GA</a:t>
            </a:r>
            <a:r>
              <a:rPr lang="en-US" sz="2800" b="1" kern="0" dirty="0">
                <a:solidFill>
                  <a:schemeClr val="bg2"/>
                </a:solidFill>
              </a:rPr>
              <a:t>. </a:t>
            </a:r>
            <a:r>
              <a:rPr lang="ro-RO" sz="2800" b="1" kern="0" dirty="0">
                <a:solidFill>
                  <a:schemeClr val="bg2"/>
                </a:solidFill>
              </a:rPr>
              <a:t>S</a:t>
            </a:r>
            <a:r>
              <a:rPr lang="ro-RO" altLang="en-US" sz="2800" b="1" kern="0" dirty="0">
                <a:solidFill>
                  <a:schemeClr val="bg2"/>
                </a:solidFill>
              </a:rPr>
              <a:t>trategia</a:t>
            </a:r>
            <a:r>
              <a:rPr lang="en-US" altLang="en-US" sz="2800" b="1" kern="0" dirty="0">
                <a:solidFill>
                  <a:schemeClr val="bg2"/>
                </a:solidFill>
              </a:rPr>
              <a:t>  care exclude </a:t>
            </a:r>
            <a:r>
              <a:rPr lang="ro-RO" sz="2800" b="1" dirty="0">
                <a:solidFill>
                  <a:schemeClr val="bg2"/>
                </a:solidFill>
              </a:rPr>
              <a:t>SHORT SELLING</a:t>
            </a:r>
            <a:endParaRPr lang="en-US" altLang="en-US" sz="2600" b="1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977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1087438"/>
                <a:ext cx="8229600" cy="52371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dirty="0">
                    <a:solidFill>
                      <a:schemeClr val="bg2"/>
                    </a:solidFill>
                  </a:rPr>
                  <a:t>EXEMPLU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ro-RO" sz="1800" dirty="0"/>
                  <a:t>Evoluţia preţului unui portofoliu de 5 acţiuni pe perioada a 10 saptamani:</a:t>
                </a:r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 algn="just">
                  <a:buNone/>
                </a:pPr>
                <a:r>
                  <a:rPr lang="ro-RO" sz="1800" dirty="0"/>
                  <a:t>Problema de rezolvat: determinarea portofoliului de risc minim pentru un randament dat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</a:rPr>
                          <m:t>𝑅</m:t>
                        </m:r>
                      </m:e>
                      <m:sub>
                        <m:r>
                          <a:rPr lang="ro-RO" sz="1800" i="1"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ro-RO" sz="1800" i="1">
                        <a:latin typeface="Cambria Math"/>
                      </a:rPr>
                      <m:t>=1.15%</m:t>
                    </m:r>
                  </m:oMath>
                </a14:m>
                <a:r>
                  <a:rPr lang="ro-RO" sz="1800" dirty="0"/>
                  <a:t>.</a:t>
                </a: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1087438"/>
                <a:ext cx="8229600" cy="5237162"/>
              </a:xfrm>
              <a:blipFill rotWithShape="1">
                <a:blip r:embed="rId2"/>
                <a:stretch>
                  <a:fillRect l="-593" t="-581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graphicFrame>
        <p:nvGraphicFramePr>
          <p:cNvPr id="6175" name="Table 61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766840"/>
              </p:ext>
            </p:extLst>
          </p:nvPr>
        </p:nvGraphicFramePr>
        <p:xfrm>
          <a:off x="381000" y="2187320"/>
          <a:ext cx="8229598" cy="2302386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{69CF1AB2-1976-4502-BF36-3FF5EA218861}</a:tableStyleId>
              </a:tblPr>
              <a:tblGrid>
                <a:gridCol w="671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7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91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78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78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78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78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978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333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37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S1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S2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S3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S4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S5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S6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S7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S8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S9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S10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7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A1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1.2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1.3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1.4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1.5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1.1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1.2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1.1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1.0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1.0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 b="0" dirty="0">
                          <a:effectLst/>
                        </a:rPr>
                        <a:t>1.1</a:t>
                      </a:r>
                      <a:endParaRPr lang="en-US" sz="1200" b="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7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A2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1.3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1.0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0.8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0.9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1.4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1.3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1.2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1.1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1.2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 b="0" dirty="0">
                          <a:effectLst/>
                        </a:rPr>
                        <a:t>1.1</a:t>
                      </a:r>
                      <a:endParaRPr lang="en-US" sz="1200" b="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7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A3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0.9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1.1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1.0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1.1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1.1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1.3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1.2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1.1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1.0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 b="0" dirty="0">
                          <a:effectLst/>
                        </a:rPr>
                        <a:t>1.1</a:t>
                      </a:r>
                      <a:endParaRPr lang="en-US" sz="1200" b="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7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A4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1.1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1.1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1.2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1.3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1.2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1.2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1.1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1.0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1.1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 b="0" dirty="0">
                          <a:effectLst/>
                        </a:rPr>
                        <a:t>1.2</a:t>
                      </a:r>
                      <a:endParaRPr lang="en-US" sz="1200" b="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7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>
                          <a:effectLst/>
                        </a:rPr>
                        <a:t>A5</a:t>
                      </a:r>
                      <a:endParaRPr lang="en-US" sz="120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 b="0" dirty="0">
                          <a:effectLst/>
                        </a:rPr>
                        <a:t>0.8</a:t>
                      </a:r>
                      <a:endParaRPr lang="en-US" sz="1200" b="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 b="0" dirty="0">
                          <a:effectLst/>
                        </a:rPr>
                        <a:t>0.75</a:t>
                      </a:r>
                      <a:endParaRPr lang="en-US" sz="1200" b="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 b="0" dirty="0">
                          <a:effectLst/>
                        </a:rPr>
                        <a:t>0.65</a:t>
                      </a:r>
                      <a:endParaRPr lang="en-US" sz="1200" b="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 b="0" dirty="0">
                          <a:effectLst/>
                        </a:rPr>
                        <a:t>0.75</a:t>
                      </a:r>
                      <a:endParaRPr lang="en-US" sz="1200" b="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 b="0" dirty="0">
                          <a:effectLst/>
                        </a:rPr>
                        <a:t>0.8</a:t>
                      </a:r>
                      <a:endParaRPr lang="en-US" sz="1200" b="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 b="0" dirty="0">
                          <a:effectLst/>
                        </a:rPr>
                        <a:t>0.9</a:t>
                      </a:r>
                      <a:endParaRPr lang="en-US" sz="1200" b="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 b="0" dirty="0">
                          <a:effectLst/>
                        </a:rPr>
                        <a:t>1.0</a:t>
                      </a:r>
                      <a:endParaRPr lang="en-US" sz="1200" b="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 b="0" dirty="0">
                          <a:effectLst/>
                        </a:rPr>
                        <a:t>1.1</a:t>
                      </a:r>
                      <a:endParaRPr lang="en-US" sz="1200" b="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 b="0" dirty="0">
                          <a:effectLst/>
                        </a:rPr>
                        <a:t>1.1</a:t>
                      </a:r>
                      <a:endParaRPr lang="en-US" sz="1200" b="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o-RO" sz="1200" b="0" dirty="0">
                          <a:effectLst/>
                        </a:rPr>
                        <a:t>1.2</a:t>
                      </a:r>
                      <a:endParaRPr lang="en-US" sz="1200" b="0" dirty="0">
                        <a:effectLst/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Rectangle 2"/>
          <p:cNvSpPr txBox="1">
            <a:spLocks noChangeArrowheads="1"/>
          </p:cNvSpPr>
          <p:nvPr/>
        </p:nvSpPr>
        <p:spPr bwMode="auto">
          <a:xfrm>
            <a:off x="228600" y="228600"/>
            <a:ext cx="88392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2800" b="1" kern="0" dirty="0">
                <a:solidFill>
                  <a:schemeClr val="bg2"/>
                </a:solidFill>
              </a:rPr>
              <a:t>GA</a:t>
            </a:r>
            <a:r>
              <a:rPr lang="en-US" sz="2800" b="1" kern="0" dirty="0">
                <a:solidFill>
                  <a:schemeClr val="bg2"/>
                </a:solidFill>
              </a:rPr>
              <a:t>. </a:t>
            </a:r>
            <a:r>
              <a:rPr lang="ro-RO" sz="2800" b="1" kern="0" dirty="0">
                <a:solidFill>
                  <a:schemeClr val="bg2"/>
                </a:solidFill>
              </a:rPr>
              <a:t>S</a:t>
            </a:r>
            <a:r>
              <a:rPr lang="ro-RO" altLang="en-US" sz="2800" b="1" kern="0" dirty="0">
                <a:solidFill>
                  <a:schemeClr val="bg2"/>
                </a:solidFill>
              </a:rPr>
              <a:t>trategia</a:t>
            </a:r>
            <a:r>
              <a:rPr lang="en-US" altLang="en-US" sz="2800" b="1" kern="0" dirty="0">
                <a:solidFill>
                  <a:schemeClr val="bg2"/>
                </a:solidFill>
              </a:rPr>
              <a:t>  care exclude </a:t>
            </a:r>
            <a:r>
              <a:rPr lang="ro-RO" sz="2800" b="1" dirty="0">
                <a:solidFill>
                  <a:schemeClr val="bg2"/>
                </a:solidFill>
              </a:rPr>
              <a:t>SHORT SELLING</a:t>
            </a:r>
            <a:endParaRPr lang="en-US" altLang="en-US" sz="2600" b="1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160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87438"/>
            <a:ext cx="8229600" cy="52371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ro-RO" sz="1800" dirty="0"/>
              <a:t>EXEMPLU</a:t>
            </a:r>
          </a:p>
          <a:p>
            <a:pPr marL="0" indent="0">
              <a:buNone/>
            </a:pPr>
            <a:r>
              <a:rPr lang="ro-RO" sz="1800" dirty="0"/>
              <a:t>Cea mai buna valoare calculată RiscMin1M:  0.00350026</a:t>
            </a:r>
          </a:p>
          <a:p>
            <a:pPr marL="0" indent="0">
              <a:buNone/>
            </a:pPr>
            <a:r>
              <a:rPr lang="ro-RO" sz="1800" dirty="0"/>
              <a:t>Riscul minim 0.00346126</a:t>
            </a:r>
          </a:p>
          <a:p>
            <a:pPr marL="0" indent="0">
              <a:buNone/>
            </a:pPr>
            <a:r>
              <a:rPr lang="ro-RO" sz="1800" dirty="0"/>
              <a:t>Alegerea corespunzatoare este:  </a:t>
            </a:r>
          </a:p>
          <a:p>
            <a:pPr marL="0" indent="0">
              <a:buNone/>
            </a:pPr>
            <a:r>
              <a:rPr lang="ro-RO" sz="1800" dirty="0"/>
              <a:t>[0.35526492  0.31457585  0.08622611  0.22979552  0.0141376 ]</a:t>
            </a:r>
          </a:p>
          <a:p>
            <a:pPr marL="0" indent="0">
              <a:buNone/>
            </a:pPr>
            <a:r>
              <a:rPr lang="ro-RO" sz="1800" dirty="0"/>
              <a:t>Randamentul obtinut: 1.1492818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228600" y="228600"/>
            <a:ext cx="88392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ro-RO" sz="2800" b="1" kern="0" dirty="0">
                <a:solidFill>
                  <a:schemeClr val="bg2"/>
                </a:solidFill>
              </a:rPr>
              <a:t>GA</a:t>
            </a:r>
            <a:r>
              <a:rPr lang="en-US" sz="2800" b="1" kern="0" dirty="0">
                <a:solidFill>
                  <a:schemeClr val="bg2"/>
                </a:solidFill>
              </a:rPr>
              <a:t>. </a:t>
            </a:r>
            <a:r>
              <a:rPr lang="ro-RO" sz="2800" b="1" kern="0" dirty="0">
                <a:solidFill>
                  <a:schemeClr val="bg2"/>
                </a:solidFill>
              </a:rPr>
              <a:t>S</a:t>
            </a:r>
            <a:r>
              <a:rPr lang="ro-RO" altLang="en-US" sz="2800" b="1" kern="0" dirty="0">
                <a:solidFill>
                  <a:schemeClr val="bg2"/>
                </a:solidFill>
              </a:rPr>
              <a:t>trategia</a:t>
            </a:r>
            <a:r>
              <a:rPr lang="en-US" altLang="en-US" sz="2800" b="1" kern="0" dirty="0">
                <a:solidFill>
                  <a:schemeClr val="bg2"/>
                </a:solidFill>
              </a:rPr>
              <a:t>  care exclude </a:t>
            </a:r>
            <a:r>
              <a:rPr lang="ro-RO" sz="2800" b="1" dirty="0">
                <a:solidFill>
                  <a:schemeClr val="bg2"/>
                </a:solidFill>
              </a:rPr>
              <a:t>SHORT SELLING</a:t>
            </a:r>
            <a:endParaRPr lang="en-US" altLang="en-US" sz="2600" b="1" kern="0" dirty="0">
              <a:solidFill>
                <a:schemeClr val="bg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957" y="3215634"/>
            <a:ext cx="4602486" cy="345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731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sz="2800" b="1" dirty="0">
                <a:solidFill>
                  <a:schemeClr val="bg2"/>
                </a:solidFill>
              </a:rPr>
              <a:t>Rezolvarea problemei RISCMIN1M utilizând </a:t>
            </a:r>
            <a:r>
              <a:rPr lang="en-US" sz="2800" b="1" dirty="0">
                <a:solidFill>
                  <a:schemeClr val="bg2"/>
                </a:solidFill>
              </a:rPr>
              <a:t>ES</a:t>
            </a:r>
            <a:endParaRPr lang="en-US" altLang="en-US" sz="2600" b="1" dirty="0">
              <a:solidFill>
                <a:schemeClr val="bg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Rectangle 3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2117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ro-RO" sz="1800" b="1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Reprezentarea – pentru fiecare componentă a vectorului soluție este păstrată o dimensiune a pragului de mutație: </a:t>
                </a:r>
                <a:r>
                  <a:rPr lang="ro-RO" sz="1800" dirty="0">
                    <a:solidFill>
                      <a:srgbClr val="FF0000"/>
                    </a:solidFill>
                  </a:rPr>
                  <a:t>un cromozom este reprezentat prin vectorul cu </a:t>
                </a:r>
                <a14:m>
                  <m:oMath xmlns:m="http://schemas.openxmlformats.org/officeDocument/2006/math">
                    <m:r>
                      <a:rPr lang="ro-RO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2(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ro-RO" sz="1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o-RO" sz="1800" dirty="0">
                    <a:solidFill>
                      <a:srgbClr val="FF0000"/>
                    </a:solidFill>
                  </a:rPr>
                  <a:t>) elemente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…,</m:t>
                            </m:r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ro-RO" sz="1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/>
              </a:p>
              <a:p>
                <a:pPr lvl="0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Generarea populației inițiale – aleator; fiecare alelă din zona soluție este generată uniform în intervalul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ro-RO" sz="1800" dirty="0"/>
                  <a:t> astfel încât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ro-RO" sz="1800" i="1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sz="1800" dirty="0"/>
                  <a:t> (similar GA)</a:t>
                </a:r>
                <a:r>
                  <a:rPr lang="ro-RO" sz="1800" dirty="0"/>
                  <a:t>, iar fiecare valoare a unui parametru este generată uniform în intervalul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05,  0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</m:oMath>
                </a14:m>
                <a:endParaRPr lang="en-US" sz="1800" dirty="0"/>
              </a:p>
              <a:p>
                <a:pPr lvl="0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lvl="0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Mutația - </a:t>
                </a:r>
                <a:r>
                  <a:rPr lang="ro-RO" sz="1800" b="1" dirty="0">
                    <a:solidFill>
                      <a:srgbClr val="FF0000"/>
                    </a:solidFill>
                  </a:rPr>
                  <a:t>mutația necorelată cu mai mulți parametri</a:t>
                </a:r>
                <a:endParaRPr lang="en-US" sz="1800" b="1" dirty="0">
                  <a:solidFill>
                    <a:srgbClr val="FF0000"/>
                  </a:solidFill>
                </a:endParaRPr>
              </a:p>
              <a:p>
                <a:pPr lvl="0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Recombinarea – globală, toate alelele sunt recombinate în manieră indirectă (prin medie)</a:t>
                </a:r>
              </a:p>
              <a:p>
                <a:pPr lvl="0"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lvl="0"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Selecția generației următoare – de tip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</m:oMath>
                </a14:m>
                <a:endParaRPr lang="en-US" sz="1800" dirty="0"/>
              </a:p>
              <a:p>
                <a:pPr lvl="0" algn="just"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sz="1800" dirty="0"/>
              </a:p>
            </p:txBody>
          </p:sp>
        </mc:Choice>
        <mc:Fallback xmlns="">
          <p:sp>
            <p:nvSpPr>
              <p:cNvPr id="614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57200" y="990600"/>
                <a:ext cx="8229600" cy="5211763"/>
              </a:xfrm>
              <a:blipFill>
                <a:blip r:embed="rId2"/>
                <a:stretch>
                  <a:fillRect l="-74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58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087438"/>
            <a:ext cx="8229600" cy="52371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800" dirty="0"/>
              <a:t>EXEMPLU </a:t>
            </a:r>
          </a:p>
          <a:p>
            <a:pPr marL="0" indent="0">
              <a:buNone/>
            </a:pPr>
            <a:r>
              <a:rPr lang="ro-RO" sz="1800" dirty="0"/>
              <a:t>Cea mai buna valoare calculată RiscMin1M:  0.00352242</a:t>
            </a:r>
            <a:endParaRPr lang="en-US" sz="1800" dirty="0"/>
          </a:p>
          <a:p>
            <a:pPr marL="0" indent="0">
              <a:buNone/>
            </a:pPr>
            <a:r>
              <a:rPr lang="ro-RO" sz="1800" dirty="0"/>
              <a:t>Riscul minim 0.00342218</a:t>
            </a:r>
            <a:endParaRPr lang="en-US" sz="1800" dirty="0"/>
          </a:p>
          <a:p>
            <a:pPr marL="0" indent="0">
              <a:buNone/>
            </a:pPr>
            <a:r>
              <a:rPr lang="ro-RO" sz="1800" dirty="0"/>
              <a:t>Alegerea corespunzatoare este:  </a:t>
            </a:r>
            <a:endParaRPr lang="en-US" sz="1800" dirty="0"/>
          </a:p>
          <a:p>
            <a:pPr marL="0" indent="0">
              <a:buNone/>
            </a:pPr>
            <a:r>
              <a:rPr lang="ro-RO" sz="1800" dirty="0"/>
              <a:t>[0.34998232 </a:t>
            </a:r>
            <a:r>
              <a:rPr lang="en-US" sz="1800" dirty="0"/>
              <a:t>   </a:t>
            </a:r>
            <a:r>
              <a:rPr lang="ro-RO" sz="1800" dirty="0"/>
              <a:t>0.29871443 </a:t>
            </a:r>
            <a:r>
              <a:rPr lang="en-US" sz="1800" dirty="0"/>
              <a:t>   </a:t>
            </a:r>
            <a:r>
              <a:rPr lang="ro-RO" sz="1800" dirty="0"/>
              <a:t>0.07720576 </a:t>
            </a:r>
            <a:r>
              <a:rPr lang="en-US" sz="1800" dirty="0"/>
              <a:t>   </a:t>
            </a:r>
            <a:r>
              <a:rPr lang="ro-RO" sz="1800" dirty="0"/>
              <a:t>0.25555053 </a:t>
            </a:r>
            <a:r>
              <a:rPr lang="en-US" sz="1800" dirty="0"/>
              <a:t>   </a:t>
            </a:r>
            <a:r>
              <a:rPr lang="ro-RO" sz="1800" dirty="0"/>
              <a:t>0.01854695]</a:t>
            </a:r>
            <a:endParaRPr lang="en-US" sz="1800" dirty="0"/>
          </a:p>
          <a:p>
            <a:pPr marL="0" indent="0">
              <a:buNone/>
            </a:pPr>
            <a:r>
              <a:rPr lang="ro-RO" sz="1800" dirty="0"/>
              <a:t>Randamentul obtinut:  1.14884866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614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49" name="Rectangle 11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0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1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2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4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5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6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7" name="Rectangle 3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8" name="Rectangle 3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59" name="Rectangle 3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0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1" name="Rectangle 4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2" name="Rectangle 4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3" name="Rectangle 4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4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5" name="Rectangle 52"/>
          <p:cNvSpPr>
            <a:spLocks noChangeArrowheads="1"/>
          </p:cNvSpPr>
          <p:nvPr/>
        </p:nvSpPr>
        <p:spPr bwMode="auto">
          <a:xfrm>
            <a:off x="0" y="1828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6166" name="Rectangle 54"/>
          <p:cNvSpPr>
            <a:spLocks noChangeArrowheads="1"/>
          </p:cNvSpPr>
          <p:nvPr/>
        </p:nvSpPr>
        <p:spPr bwMode="auto">
          <a:xfrm>
            <a:off x="0" y="1485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27" name="Rectangle 2"/>
          <p:cNvSpPr txBox="1">
            <a:spLocks noChangeArrowheads="1"/>
          </p:cNvSpPr>
          <p:nvPr/>
        </p:nvSpPr>
        <p:spPr bwMode="auto">
          <a:xfrm>
            <a:off x="228600" y="228600"/>
            <a:ext cx="88392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kern="0" dirty="0">
                <a:solidFill>
                  <a:schemeClr val="bg2"/>
                </a:solidFill>
              </a:rPr>
              <a:t>ES. </a:t>
            </a:r>
            <a:r>
              <a:rPr lang="ro-RO" sz="2800" b="1" kern="0" dirty="0">
                <a:solidFill>
                  <a:schemeClr val="bg2"/>
                </a:solidFill>
              </a:rPr>
              <a:t>S</a:t>
            </a:r>
            <a:r>
              <a:rPr lang="ro-RO" altLang="en-US" sz="2800" b="1" kern="0" dirty="0">
                <a:solidFill>
                  <a:schemeClr val="bg2"/>
                </a:solidFill>
              </a:rPr>
              <a:t>trategia</a:t>
            </a:r>
            <a:r>
              <a:rPr lang="en-US" altLang="en-US" sz="2800" b="1" kern="0" dirty="0">
                <a:solidFill>
                  <a:schemeClr val="bg2"/>
                </a:solidFill>
              </a:rPr>
              <a:t>  care exclude </a:t>
            </a:r>
            <a:r>
              <a:rPr lang="ro-RO" sz="2800" b="1" dirty="0">
                <a:solidFill>
                  <a:schemeClr val="bg2"/>
                </a:solidFill>
              </a:rPr>
              <a:t>SHORT SELLING</a:t>
            </a:r>
            <a:endParaRPr lang="en-US" altLang="en-US" sz="2600" b="1" kern="0" dirty="0">
              <a:solidFill>
                <a:schemeClr val="bg2"/>
              </a:solidFill>
            </a:endParaRPr>
          </a:p>
        </p:txBody>
      </p:sp>
      <p:pic>
        <p:nvPicPr>
          <p:cNvPr id="25" name="Picture 2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253" y="3124200"/>
            <a:ext cx="5009515" cy="3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048033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aramond" pitchFamily="18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4152</TotalTime>
  <Words>1992</Words>
  <Application>Microsoft Office PowerPoint</Application>
  <PresentationFormat>On-screen Show (4:3)</PresentationFormat>
  <Paragraphs>363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Arial Black</vt:lpstr>
      <vt:lpstr>Calibri</vt:lpstr>
      <vt:lpstr>Cambria Math</vt:lpstr>
      <vt:lpstr>Courier New</vt:lpstr>
      <vt:lpstr>Garamond</vt:lpstr>
      <vt:lpstr>Times New Roman</vt:lpstr>
      <vt:lpstr>Wingdings</vt:lpstr>
      <vt:lpstr>Pixel</vt:lpstr>
      <vt:lpstr>   Optimizarea portofoliilor de active.   Abordări GA și ES.   </vt:lpstr>
      <vt:lpstr>Problema optimizării portofoliilor Randamentul / riscul unui portofoliu</vt:lpstr>
      <vt:lpstr>Problema optimizării portofoliilor Randamentul / riscul unui portofoliu</vt:lpstr>
      <vt:lpstr>Randamentul / riscul unui portofoliu</vt:lpstr>
      <vt:lpstr>Randamentul / riscul unui portofoliu</vt:lpstr>
      <vt:lpstr>Definirea problemelor de tip risc minim</vt:lpstr>
      <vt:lpstr>Definirea problemelor de tip risc minim</vt:lpstr>
      <vt:lpstr>Definirea problemelor de tip randament maxim</vt:lpstr>
      <vt:lpstr>Definirea problemelor de tip randament maxim</vt:lpstr>
      <vt:lpstr>Transformarea în probleme de optimizare fără constrângeri</vt:lpstr>
      <vt:lpstr>Transformarea în probleme de optimizare fără constrângeri</vt:lpstr>
      <vt:lpstr>Rezolvarea problemei RISCMIN1M utilizând GA</vt:lpstr>
      <vt:lpstr>Rezolvarea problemei RISCMIN1M utilizând GA</vt:lpstr>
      <vt:lpstr>Rezolvarea problemei RISCMIN1M utilizând GA</vt:lpstr>
      <vt:lpstr>Rezolvarea problemei RISCMIN1M utilizând GA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Rezolvarea problemei RISCMIN1M utilizând ES</vt:lpstr>
      <vt:lpstr>PowerPoint Presentation</vt:lpstr>
    </vt:vector>
  </TitlesOfParts>
  <Company>ASE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Catalina</dc:creator>
  <cp:lastModifiedBy>Catalina</cp:lastModifiedBy>
  <cp:revision>552</cp:revision>
  <dcterms:created xsi:type="dcterms:W3CDTF">2007-06-04T09:28:42Z</dcterms:created>
  <dcterms:modified xsi:type="dcterms:W3CDTF">2026-04-26T07:04:33Z</dcterms:modified>
</cp:coreProperties>
</file>