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3" r:id="rId2"/>
  </p:sldMasterIdLst>
  <p:notesMasterIdLst>
    <p:notesMasterId r:id="rId19"/>
  </p:notesMasterIdLst>
  <p:sldIdLst>
    <p:sldId id="256" r:id="rId3"/>
    <p:sldId id="370" r:id="rId4"/>
    <p:sldId id="371" r:id="rId5"/>
    <p:sldId id="395" r:id="rId6"/>
    <p:sldId id="385" r:id="rId7"/>
    <p:sldId id="396" r:id="rId8"/>
    <p:sldId id="397" r:id="rId9"/>
    <p:sldId id="384" r:id="rId10"/>
    <p:sldId id="398" r:id="rId11"/>
    <p:sldId id="400" r:id="rId12"/>
    <p:sldId id="387" r:id="rId13"/>
    <p:sldId id="388" r:id="rId14"/>
    <p:sldId id="380" r:id="rId15"/>
    <p:sldId id="392" r:id="rId16"/>
    <p:sldId id="393" r:id="rId17"/>
    <p:sldId id="399" r:id="rId18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5CD42-3613-44C0-8B7F-A449A6981CFB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9988" y="1243013"/>
            <a:ext cx="4475162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53062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3DCDC-B615-42D4-8D5F-CE8902542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DCDC-B615-42D4-8D5F-CE8902542E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83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DCDC-B615-42D4-8D5F-CE8902542E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10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33DCDC-B615-42D4-8D5F-CE8902542E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73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2413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891" y="3346"/>
                <a:ext cx="2858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3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3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ABCA9-46AD-4FA0-9BD1-35953D8F0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4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8355B-FA73-42D0-BCDE-4DC2F1DBE1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9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7484D-F35A-4697-A442-464B87EA77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50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2A68B-40C1-4FF9-BD12-1E0E2B5D0D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9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46F34-3198-4168-AD2A-EA0F22698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9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07FE9-B256-41FA-B64C-2CF00F272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51F954-50E2-4359-B334-6D15BA50D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4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03F89-01A2-4961-98B7-5700B78E05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5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96FCE4-30AB-4647-AEB6-26FDB0E7C7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1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6B05A-88BE-4D16-804B-BFCB7E7FC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8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6B155-4A3B-4FDC-87ED-90FB5932C2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49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91C4248-1183-4D41-99D5-F6E8F9EFCB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2413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970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70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704" name="Freeform 8"/>
              <p:cNvSpPr>
                <a:spLocks/>
              </p:cNvSpPr>
              <p:nvPr/>
            </p:nvSpPr>
            <p:spPr bwMode="hidden">
              <a:xfrm>
                <a:off x="2891" y="3346"/>
                <a:ext cx="2858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0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2970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0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71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9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6725"/>
            <a:ext cx="7772400" cy="2454275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>
                <a:effectLst/>
              </a:rPr>
            </a:br>
            <a:r>
              <a:rPr lang="ro-RO" sz="4000" dirty="0">
                <a:effectLst/>
              </a:rPr>
              <a:t>Algoritmi genetici (GA). </a:t>
            </a:r>
            <a:br>
              <a:rPr lang="ro-RO" sz="4000" dirty="0">
                <a:effectLst/>
              </a:rPr>
            </a:br>
            <a:r>
              <a:rPr lang="ro-RO" sz="4000" dirty="0">
                <a:effectLst/>
              </a:rPr>
              <a:t>Problema decodificării unui mesaj</a:t>
            </a:r>
            <a:br>
              <a:rPr lang="ro-RO" sz="4000" dirty="0">
                <a:effectLst/>
              </a:rPr>
            </a:br>
            <a:br>
              <a:rPr lang="ro-RO" sz="2000" dirty="0">
                <a:effectLst/>
              </a:rPr>
            </a:br>
            <a:endParaRPr lang="ro-RO" sz="20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533400"/>
            <a:ext cx="8458200" cy="685800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                   I. ALGORITMI GENETICI</a:t>
            </a:r>
            <a:r>
              <a:rPr lang="ro-RO" altLang="en-US" sz="2600" b="1" dirty="0">
                <a:solidFill>
                  <a:schemeClr val="bg2"/>
                </a:solidFill>
              </a:rPr>
              <a:t> (GA)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9716"/>
            <a:ext cx="8229600" cy="1104899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ro-RO" sz="1800" dirty="0"/>
              <a:t>A. Reprezentarea în spațiul GA și definirea funcției fitness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B. </a:t>
            </a:r>
          </a:p>
          <a:p>
            <a:pPr>
              <a:buAutoNum type="alphaUcPeriod"/>
            </a:pPr>
            <a:endParaRPr lang="ro-RO" sz="1800" dirty="0"/>
          </a:p>
          <a:p>
            <a:pPr marL="0" indent="0">
              <a:buNone/>
            </a:pPr>
            <a:endParaRPr lang="ro-RO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32" y="2057400"/>
            <a:ext cx="8309568" cy="40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3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ro-RO" altLang="en-US" sz="2600" b="1" dirty="0">
                <a:solidFill>
                  <a:schemeClr val="bg2"/>
                </a:solidFill>
              </a:rPr>
            </a:br>
            <a:r>
              <a:rPr lang="ro-RO" altLang="en-US" sz="2600" b="1" dirty="0">
                <a:solidFill>
                  <a:schemeClr val="bg2"/>
                </a:solidFill>
              </a:rPr>
              <a:t>II. Enunțul problemei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Este disponibilă perechea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𝑚𝑒𝑠𝑎𝑗</m:t>
                            </m:r>
                          </m:e>
                          <m:sub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𝑜𝑟𝑖𝑔𝑖𝑛𝑎𝑙</m:t>
                            </m:r>
                          </m:sub>
                        </m:s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𝑚𝑒𝑠𝑎𝑗</m:t>
                            </m:r>
                          </m:e>
                          <m:sub>
                            <m:r>
                              <a:rPr lang="ro-RO" sz="2000" b="0" i="1" smtClean="0">
                                <a:latin typeface="Cambria Math" panose="02040503050406030204" pitchFamily="18" charset="0"/>
                              </a:rPr>
                              <m:t>𝑐𝑜𝑑𝑖𝑓𝑖𝑐𝑎𝑡</m:t>
                            </m:r>
                          </m:sub>
                        </m:sSub>
                      </m:e>
                    </m:d>
                  </m:oMath>
                </a14:m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</m:sub>
                    </m:sSub>
                    <m:r>
                      <a:rPr lang="ro-RO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𝑐𝑜𝑑𝑖𝑓𝑖𝑐𝑎𝑡</m:t>
                        </m:r>
                      </m:sub>
                    </m:sSub>
                  </m:oMath>
                </a14:m>
                <a:r>
                  <a:rPr lang="ro-RO" sz="2000" dirty="0"/>
                  <a:t> sunt două șiruri de caractere formate exclusiv din litere mici ale alfabetului englez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Șirurile au aceeași lungime,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𝑙𝑚</m:t>
                    </m:r>
                  </m:oMath>
                </a14:m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Fiecărui caracter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</m:sub>
                    </m:sSub>
                    <m:d>
                      <m:dPr>
                        <m:ctrlPr>
                          <a:rPr lang="ro-RO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ro-RO" sz="2000" b="0" i="1" smtClean="0">
                        <a:latin typeface="Cambria Math" panose="02040503050406030204" pitchFamily="18" charset="0"/>
                      </a:rPr>
                      <m:t>𝑙𝑚</m:t>
                    </m:r>
                  </m:oMath>
                </a14:m>
                <a:r>
                  <a:rPr lang="ro-RO" sz="2000" dirty="0"/>
                  <a:t> îi corespunde unic caracterul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</a:rPr>
                          <m:t>𝑐𝑜𝑑𝑖𝑓𝑖𝑐𝑎𝑡</m:t>
                        </m:r>
                      </m:sub>
                    </m:sSub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ro-RO" sz="2000" dirty="0"/>
                  <a:t> (coduri unice)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Problema este de a calcula, pentru fiecare literă a alfabetului englez, asocierea care să producă decodificarea corectă a șirului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𝑐𝑜𝑑𝑖𝑓𝑖𝑐𝑎𝑡</m:t>
                        </m:r>
                      </m:sub>
                    </m:sSub>
                  </m:oMath>
                </a14:m>
                <a:r>
                  <a:rPr lang="ro-RO" sz="2000" dirty="0"/>
                  <a:t> în șirul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</m:sub>
                    </m:sSub>
                  </m:oMath>
                </a14:m>
                <a:endParaRPr lang="ro-RO" sz="2000" dirty="0"/>
              </a:p>
              <a:p>
                <a:pPr marL="0" indent="0" algn="just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  <a:blipFill>
                <a:blip r:embed="rId2"/>
                <a:stretch>
                  <a:fillRect l="-222" t="-250" r="-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7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II. </a:t>
            </a:r>
            <a:r>
              <a:rPr lang="ro-RO" altLang="en-US" sz="2600" b="1" dirty="0">
                <a:solidFill>
                  <a:schemeClr val="bg2"/>
                </a:solidFill>
              </a:rPr>
              <a:t>Enunțul problemei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2000" dirty="0"/>
                  <a:t>EXEMPLU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Date de intrare: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7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700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</m:sub>
                      </m:sSub>
                      <m:r>
                        <m:rPr>
                          <m:nor/>
                        </m:rPr>
                        <a:rPr lang="ro-RO" sz="1700"/>
                        <m:t>=</m:t>
                      </m:r>
                      <m:r>
                        <m:rPr>
                          <m:nor/>
                        </m:rPr>
                        <a:rPr lang="ro-RO" sz="1700" i="1"/>
                        <m:t>aaabbbcccdddefffaaatttfffabwwwrwradebcdddaavviii</m:t>
                      </m:r>
                    </m:oMath>
                  </m:oMathPara>
                </a14:m>
                <a:endParaRPr lang="ro-RO" sz="170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7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700" i="1">
                              <a:latin typeface="Cambria Math" panose="02040503050406030204" pitchFamily="18" charset="0"/>
                            </a:rPr>
                            <m:t>𝑐𝑜𝑑𝑖𝑓𝑖𝑐𝑎𝑡</m:t>
                          </m:r>
                        </m:sub>
                      </m:sSub>
                      <m:r>
                        <a:rPr lang="ro-RO" sz="1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700" i="1">
                          <a:latin typeface="Cambria Math" panose="02040503050406030204" pitchFamily="18" charset="0"/>
                        </a:rPr>
                        <m:t>𝑚𝑚𝑚𝑛𝑛𝑛𝑜𝑜𝑜𝑝𝑝𝑝𝑟𝑔𝑔𝑔𝑚𝑚𝑚𝑑𝑑𝑑𝑔𝑔𝑔𝑚𝑛𝑠𝑠𝑠𝑒𝑠𝑒𝑚𝑝𝑟𝑛𝑜𝑝𝑝𝑝𝑚𝑚𝑢𝑢𝑖𝑖𝑖</m:t>
                      </m:r>
                    </m:oMath>
                  </m:oMathPara>
                </a14:m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0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Asocierea la nivel de literă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Pentru literele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𝑚𝑒𝑠𝑎𝑗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</m:sub>
                    </m:sSub>
                  </m:oMath>
                </a14:m>
                <a:endParaRPr lang="ro-RO" sz="20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ro-RO" sz="20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o-RO" sz="20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ro-RO" sz="20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Pentru celelalte litere – orice asociere care să nu o perturbe pe cea de mai sus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2000" dirty="0"/>
                  <a:t>Un exemplu de rezolvare: stabilirea corespondenței</a:t>
                </a:r>
              </a:p>
              <a:p>
                <a:pPr marL="457200" lvl="1" indent="0" algn="ctr">
                  <a:buNone/>
                </a:pPr>
                <a:r>
                  <a:rPr lang="ro-RO" sz="2000" dirty="0"/>
                  <a:t> a b c d e f g h i j k l m n o p q r s t u v w x y z</a:t>
                </a:r>
              </a:p>
              <a:p>
                <a:pPr marL="457200" lvl="1" indent="0" algn="ctr">
                  <a:buNone/>
                </a:pPr>
                <a:r>
                  <a:rPr lang="ro-RO" sz="2000" dirty="0"/>
                  <a:t> m n o p r g k f i a t q j w z y v e c d x u s h b l</a:t>
                </a:r>
              </a:p>
              <a:p>
                <a:pPr marL="0" indent="0" algn="just">
                  <a:buNone/>
                </a:pPr>
                <a:endParaRPr lang="ro-RO" sz="20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  <a:blipFill>
                <a:blip r:embed="rId2"/>
                <a:stretch>
                  <a:fillRect l="-741" t="-500" r="-741" b="-125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9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III. </a:t>
            </a:r>
            <a:r>
              <a:rPr lang="ro-RO" altLang="en-US" sz="2600" b="1" dirty="0">
                <a:solidFill>
                  <a:schemeClr val="bg2"/>
                </a:solidFill>
              </a:rPr>
              <a:t>Preprocesare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Fiecare mesaj este prelucrat astfel: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Pas1. Elimină dublurile, păstrând ordinea apariției fiecărui caracter în mesaj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Pas2. Reprezintă fiecare caracter printr-un număr începând de la </a:t>
                </a:r>
                <a:r>
                  <a:rPr lang="en-US" sz="1800" dirty="0"/>
                  <a:t>0</a:t>
                </a:r>
                <a:r>
                  <a:rPr lang="ro-RO" sz="1800" dirty="0"/>
                  <a:t>, astfel încât să fie obținută corespondența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↔1, …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↔25</m:t>
                    </m:r>
                  </m:oMath>
                </a14:m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Exemplu</a:t>
                </a:r>
              </a:p>
              <a:p>
                <a:pPr eaLnBrk="1" hangingPunct="1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</m:sub>
                      </m:sSub>
                      <m:r>
                        <m:rPr>
                          <m:nor/>
                        </m:rPr>
                        <a:rPr lang="ro-RO" sz="1800"/>
                        <m:t>=</m:t>
                      </m:r>
                      <m:r>
                        <m:rPr>
                          <m:nor/>
                        </m:rPr>
                        <a:rPr lang="ro-RO" sz="1800" i="1"/>
                        <m:t>aaabbbcccdddefffaaatttfffabwwwrwradebcdddaavviii</m:t>
                      </m:r>
                    </m:oMath>
                  </m:oMathPara>
                </a14:m>
                <a:endParaRPr lang="en-US" sz="18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ro-RO" sz="18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ro-RO" sz="1800"/>
                        <m:t>=</m:t>
                      </m:r>
                      <m:r>
                        <m:rPr>
                          <m:nor/>
                        </m:rPr>
                        <a:rPr lang="ro-RO" sz="1800" i="1"/>
                        <m:t>abcdeftwrvi</m:t>
                      </m:r>
                    </m:oMath>
                  </m:oMathPara>
                </a14:m>
                <a:endParaRPr lang="en-US" sz="18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8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𝑒𝑠𝑎𝑗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=[0, 1, 2, 3, 4, 5, 19, 22, 17, 21, 8]</m:t>
                      </m:r>
                    </m:oMath>
                  </m:oMathPara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8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ro-RO" sz="1800" i="1" dirty="0"/>
              </a:p>
              <a:p>
                <a:pPr eaLnBrk="1" hangingPunct="1">
                  <a:buClr>
                    <a:schemeClr val="tx1"/>
                  </a:buClr>
                  <a:buFont typeface="Wingdings" pitchFamily="2" charset="2"/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  <a:blipFill>
                <a:blip r:embed="rId2"/>
                <a:stretch>
                  <a:fillRect l="-74" t="-625" r="-59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Down Arrow 1"/>
          <p:cNvSpPr/>
          <p:nvPr/>
        </p:nvSpPr>
        <p:spPr bwMode="auto">
          <a:xfrm>
            <a:off x="3429000" y="3733799"/>
            <a:ext cx="1371600" cy="51435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Pas 1</a:t>
            </a:r>
          </a:p>
        </p:txBody>
      </p:sp>
      <p:sp>
        <p:nvSpPr>
          <p:cNvPr id="24" name="Down Arrow 23"/>
          <p:cNvSpPr/>
          <p:nvPr/>
        </p:nvSpPr>
        <p:spPr bwMode="auto">
          <a:xfrm>
            <a:off x="3505200" y="4832838"/>
            <a:ext cx="1371600" cy="51435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Pas 2</a:t>
            </a:r>
          </a:p>
        </p:txBody>
      </p:sp>
    </p:spTree>
    <p:extLst>
      <p:ext uri="{BB962C8B-B14F-4D97-AF65-F5344CB8AC3E}">
        <p14:creationId xmlns:p14="http://schemas.microsoft.com/office/powerpoint/2010/main" val="3813626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III. </a:t>
            </a:r>
            <a:r>
              <a:rPr lang="ro-RO" altLang="en-US" sz="2600" b="1" dirty="0">
                <a:solidFill>
                  <a:schemeClr val="bg2"/>
                </a:solidFill>
              </a:rPr>
              <a:t>Preprocesare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/>
              <p:cNvSpPr>
                <a:spLocks noGrp="1" noChangeArrowheads="1"/>
              </p:cNvSpPr>
              <p:nvPr>
                <p:ph type="body" sz="half" idx="1"/>
              </p:nvPr>
            </p:nvSpPr>
            <p:spPr bwMode="auto">
              <a:xfrm>
                <a:off x="457200" y="1484272"/>
                <a:ext cx="7772400" cy="3977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1" hangingPunct="1">
                  <a:buClr>
                    <a:schemeClr val="tx1"/>
                  </a:buClr>
                  <a:buNone/>
                </a:pPr>
                <a:r>
                  <a:rPr lang="en-US" sz="1600" dirty="0"/>
                  <a:t>Similar,</a:t>
                </a:r>
              </a:p>
              <a:p>
                <a:pPr marL="0" indent="0" algn="just"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600" i="1">
                              <a:latin typeface="Cambria Math" panose="02040503050406030204" pitchFamily="18" charset="0"/>
                            </a:rPr>
                            <m:t>𝑚𝑒𝑠𝑎𝑗</m:t>
                          </m:r>
                        </m:e>
                        <m:sub>
                          <m:r>
                            <a:rPr lang="ro-RO" sz="1600" i="1">
                              <a:latin typeface="Cambria Math" panose="02040503050406030204" pitchFamily="18" charset="0"/>
                            </a:rPr>
                            <m:t>𝑐𝑜𝑑𝑖𝑓𝑖𝑐𝑎𝑡</m:t>
                          </m:r>
                        </m:sub>
                      </m:sSub>
                      <m:r>
                        <a:rPr lang="ro-RO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600" i="1">
                          <a:latin typeface="Cambria Math" panose="02040503050406030204" pitchFamily="18" charset="0"/>
                        </a:rPr>
                        <m:t>𝑚𝑚𝑚𝑛𝑛𝑛𝑜𝑜𝑜𝑝𝑝𝑝𝑟𝑔𝑔𝑔𝑚𝑚𝑚𝑑𝑑𝑑𝑔𝑔𝑔𝑚𝑛𝑠𝑠𝑠𝑒𝑠𝑒𝑚𝑝𝑟𝑛𝑜𝑝𝑝𝑝𝑚𝑚𝑢𝑢𝑖𝑖𝑖</m:t>
                      </m:r>
                    </m:oMath>
                  </m:oMathPara>
                </a14:m>
                <a:endParaRPr lang="ro-RO" sz="1800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ro-RO" sz="1600" i="1" dirty="0"/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eaLnBrk="1" hangingPunct="1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6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o-RO" sz="16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m:rPr>
                          <m:nor/>
                        </m:rPr>
                        <a:rPr lang="ro-RO" sz="16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ro-RO" sz="16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o-RO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[12, 13, 14, 15, 17, 6, 3, 18, 4, 20, 8]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500" b="1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1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def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mesaj2num(mesaj):</a:t>
                </a:r>
                <a:b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  <a:t>#obtinerea reprezentarii 'a'-0, 'b'-1,...</a:t>
                </a:r>
                <a:b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mesajnum=[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ord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(c)-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ord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kumimoji="0" lang="en-US" altLang="en-US" sz="1500" b="1" i="0" u="none" strike="noStrike" cap="none" normalizeH="0" baseline="0" noProof="1">
                    <a:ln>
                      <a:noFill/>
                    </a:ln>
                    <a:solidFill>
                      <a:srgbClr val="008080"/>
                    </a:solidFill>
                    <a:effectLst/>
                    <a:latin typeface="Consolas" panose="020B0609020204030204" pitchFamily="49" charset="0"/>
                  </a:rPr>
                  <a:t>'a'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) </a:t>
                </a:r>
                <a:r>
                  <a:rPr kumimoji="0" lang="en-US" altLang="en-US" sz="1500" b="1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for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c </a:t>
                </a:r>
                <a:r>
                  <a:rPr kumimoji="0" lang="en-US" altLang="en-US" sz="1500" b="1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in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mesaj]</a:t>
                </a:r>
                <a:b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  <a:t>#eliminarea dublurilor</a:t>
                </a:r>
                <a:b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kumimoji="0" lang="en-US" altLang="en-US" sz="1500" b="0" i="1" u="none" strike="noStrike" cap="none" normalizeH="0" baseline="0" noProof="1">
                    <a:ln>
                      <a:noFill/>
                    </a:ln>
                    <a:solidFill>
                      <a:srgbClr val="80808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numd=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list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dict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.fromkeys(mesajnum))</a:t>
                </a:r>
                <a:b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</a:b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    </a:t>
                </a:r>
                <a:r>
                  <a:rPr kumimoji="0" lang="en-US" altLang="en-US" sz="1500" b="1" i="0" u="none" strike="noStrike" cap="none" normalizeH="0" baseline="0" noProof="1">
                    <a:ln>
                      <a:noFill/>
                    </a:ln>
                    <a:solidFill>
                      <a:srgbClr val="000080"/>
                    </a:solidFill>
                    <a:effectLst/>
                    <a:latin typeface="Consolas" panose="020B0609020204030204" pitchFamily="49" charset="0"/>
                  </a:rPr>
                  <a:t>return </a:t>
                </a:r>
                <a: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  <a:t>numd</a:t>
                </a:r>
                <a:br>
                  <a:rPr kumimoji="0" lang="en-US" altLang="en-US" sz="1500" b="0" i="0" u="none" strike="noStrike" cap="none" normalizeH="0" baseline="0" noProof="1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</a:rPr>
                </a:br>
                <a:endParaRPr kumimoji="0" lang="en-US" altLang="en-US" sz="1800" b="0" i="0" u="none" strike="noStrike" cap="none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 bwMode="auto">
              <a:xfrm>
                <a:off x="457200" y="1484272"/>
                <a:ext cx="7772400" cy="3977243"/>
              </a:xfrm>
              <a:prstGeom prst="rect">
                <a:avLst/>
              </a:prstGeom>
              <a:blipFill>
                <a:blip r:embed="rId2"/>
                <a:stretch>
                  <a:fillRect l="-392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/>
          <p:cNvSpPr/>
          <p:nvPr/>
        </p:nvSpPr>
        <p:spPr bwMode="auto">
          <a:xfrm>
            <a:off x="3200400" y="2438401"/>
            <a:ext cx="3048000" cy="62864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Preprocesare</a:t>
            </a:r>
          </a:p>
        </p:txBody>
      </p:sp>
    </p:spTree>
    <p:extLst>
      <p:ext uri="{BB962C8B-B14F-4D97-AF65-F5344CB8AC3E}">
        <p14:creationId xmlns:p14="http://schemas.microsoft.com/office/powerpoint/2010/main" val="248193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III. </a:t>
            </a:r>
            <a:r>
              <a:rPr lang="ro-RO" altLang="en-US" sz="2600" b="1" dirty="0">
                <a:solidFill>
                  <a:schemeClr val="bg2"/>
                </a:solidFill>
              </a:rPr>
              <a:t>Preprocesare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143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457200" y="1409700"/>
            <a:ext cx="7772400" cy="40766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en-US" sz="1800" b="1" dirty="0">
                <a:solidFill>
                  <a:schemeClr val="tx2"/>
                </a:solidFill>
              </a:rPr>
              <a:t>Funcția </a:t>
            </a:r>
            <a:r>
              <a:rPr lang="ro-RO" altLang="en-US" sz="1800" b="1" i="1" dirty="0">
                <a:solidFill>
                  <a:schemeClr val="tx2"/>
                </a:solidFill>
              </a:rPr>
              <a:t>preia_date</a:t>
            </a:r>
            <a:r>
              <a:rPr lang="ro-RO" altLang="en-US" sz="1800" b="1" dirty="0">
                <a:solidFill>
                  <a:schemeClr val="tx2"/>
                </a:solidFill>
              </a:rPr>
              <a:t> citește mesajele din fișierul </a:t>
            </a:r>
            <a:r>
              <a:rPr lang="ro-RO" altLang="en-US" sz="1800" b="1" i="1" dirty="0">
                <a:solidFill>
                  <a:schemeClr val="tx2"/>
                </a:solidFill>
              </a:rPr>
              <a:t>fis</a:t>
            </a:r>
            <a:r>
              <a:rPr lang="ro-RO" altLang="en-US" sz="1800" b="1" dirty="0">
                <a:solidFill>
                  <a:schemeClr val="tx2"/>
                </a:solidFill>
              </a:rPr>
              <a:t> și returnează mesajele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en-US" sz="1800" b="1" dirty="0">
                <a:solidFill>
                  <a:schemeClr val="tx2"/>
                </a:solidFill>
              </a:rPr>
              <a:t>în formă procesată și respectiv originală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altLang="en-US" sz="1800" b="1" dirty="0">
                <a:solidFill>
                  <a:srgbClr val="000080"/>
                </a:solidFill>
              </a:rPr>
              <a:t>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 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preia_date(fis):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#este preluat tot textul intr-o singura linie - fara eventualele \n</a:t>
            </a:r>
            <a:b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with 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(fis, 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as 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file: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data = file.read().replace(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n=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(data)/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#fiecare jumatate de text - mesajul corect, mesajul codificat</a:t>
            </a:r>
            <a:b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1" u="none" strike="noStrike" cap="none" normalizeH="0" baseline="0" noProof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mesaj1=data[:n]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mesaj2=data[n:]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mesaj=mesaj2num(mesaj1)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cod=mesaj2num(mesaj2)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5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mesaj,cod,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(mesaj), mesaj1, mesaj2</a:t>
            </a:r>
            <a:br>
              <a:rPr kumimoji="0" lang="en-US" altLang="en-US" sz="15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56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. </a:t>
            </a:r>
            <a:r>
              <a:rPr lang="ro-RO" altLang="en-US" sz="2600" b="1" dirty="0">
                <a:solidFill>
                  <a:schemeClr val="bg2"/>
                </a:solidFill>
              </a:rPr>
              <a:t>Reprezentarea în spațiul genotipurilor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Fiecare candidat la soluție este o permutare din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e>
                    </m:d>
                  </m:oMath>
                </a14:m>
                <a:r>
                  <a:rPr lang="ro-RO" sz="1800" dirty="0"/>
                  <a:t>. Problema este fără constrângeri. Spațiul soluțiilor =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b="0" dirty="0">
                    <a:ea typeface="Cambria Math" panose="02040503050406030204" pitchFamily="18" charset="0"/>
                  </a:rPr>
                  <a:t>Fie perechea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𝑚𝑒𝑠𝑎𝑗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𝑐𝑜𝑑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o-RO" sz="1800" dirty="0"/>
                  <a:t>vectori de lungime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𝑙𝑚</m:t>
                    </m:r>
                  </m:oMath>
                </a14:m>
                <a:r>
                  <a:rPr lang="ro-RO" sz="1800" dirty="0"/>
                  <a:t>, variantele mesajelor dupa pasul de preprocesare. </a:t>
                </a:r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Un genotip </a:t>
                </a:r>
                <a:r>
                  <a:rPr lang="ro-RO" sz="1800" dirty="0">
                    <a:solidFill>
                      <a:srgbClr val="FF0000"/>
                    </a:solidFill>
                  </a:rPr>
                  <a:t>oarecare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e>
                    </m:d>
                  </m:oMath>
                </a14:m>
                <a:r>
                  <a:rPr lang="ro-RO" sz="1800" dirty="0"/>
                  <a:t> este permutarea care </a:t>
                </a:r>
                <a:r>
                  <a:rPr lang="ro-RO" sz="1800" dirty="0">
                    <a:solidFill>
                      <a:srgbClr val="FF0000"/>
                    </a:solidFill>
                  </a:rPr>
                  <a:t>a stat la baza codificării </a:t>
                </a:r>
                <a:r>
                  <a:rPr lang="ro-RO" sz="1800" dirty="0"/>
                  <a:t>și după care se face </a:t>
                </a:r>
                <a:r>
                  <a:rPr lang="ro-RO" sz="1800" dirty="0">
                    <a:solidFill>
                      <a:srgbClr val="FF0000"/>
                    </a:solidFill>
                  </a:rPr>
                  <a:t>decodificarea</a:t>
                </a:r>
                <a:r>
                  <a:rPr lang="en-US" sz="1800" dirty="0">
                    <a:solidFill>
                      <a:srgbClr val="FF0000"/>
                    </a:solidFill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𝒄𝒐𝒅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ro-RO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groupCh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𝒎𝒆𝒔𝒂𝒋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endParaRPr lang="ro-RO" sz="1800" dirty="0"/>
              </a:p>
              <a:p>
                <a:pPr marL="0" indent="0" algn="just">
                  <a:buNone/>
                </a:pPr>
                <a:r>
                  <a:rPr lang="ro-RO" sz="1800" dirty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𝑝𝑒𝑛𝑡𝑟𝑢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𝑙𝑚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o-RO" sz="1800" dirty="0"/>
                  <a:t>		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𝑚𝑒𝑠𝑎𝑗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𝑐𝑜𝑑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𝑒𝑐h𝑖𝑣𝑎𝑙𝑒𝑛𝑡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𝑐𝑢</m:t>
                    </m:r>
                  </m:oMath>
                </a14:m>
                <a:r>
                  <a:rPr lang="ro-RO" sz="18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ro-RO" sz="18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decodificare</m:t>
                    </m:r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𝑚𝑒𝑠𝑎𝑗</m:t>
                    </m:r>
                    <m:r>
                      <a:rPr lang="ro-RO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ro-RO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𝑢𝑛𝑑𝑒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𝑐𝑜𝑑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ro-RO" sz="1800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Evident, un genotip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  <a:r>
                  <a:rPr lang="ro-RO" sz="1800" dirty="0">
                    <a:solidFill>
                      <a:srgbClr val="FF0000"/>
                    </a:solidFill>
                  </a:rPr>
                  <a:t>este soluție a problemei dacă reprezintă permutarea după care se face corect decodificarea</a:t>
                </a:r>
                <a:r>
                  <a:rPr lang="en-US" sz="1800" dirty="0">
                    <a:solidFill>
                      <a:srgbClr val="FF0000"/>
                    </a:solidFill>
                  </a:rPr>
                  <a:t>:</a:t>
                </a:r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𝒎𝒆𝒔𝒂𝒋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𝒎𝒆𝒔𝒂𝒋</m:t>
                    </m:r>
                  </m:oMath>
                </a14:m>
                <a:endParaRPr lang="ro-RO" sz="1800" b="1" dirty="0">
                  <a:solidFill>
                    <a:srgbClr val="FF0000"/>
                  </a:solidFill>
                </a:endParaRPr>
              </a:p>
              <a:p>
                <a:pPr marL="0" indent="0" algn="just">
                  <a:buNone/>
                </a:pPr>
                <a:r>
                  <a:rPr lang="ro-RO" sz="1800" dirty="0"/>
                  <a:t>	</a:t>
                </a:r>
              </a:p>
              <a:p>
                <a:pPr>
                  <a:buFont typeface="Wingdings" pitchFamily="2" charset="2"/>
                  <a:buChar char="q"/>
                </a:pPr>
                <a:endParaRPr lang="ro-RO" sz="1800" dirty="0"/>
              </a:p>
              <a:p>
                <a:pPr>
                  <a:buFont typeface="Wingdings" pitchFamily="2" charset="2"/>
                  <a:buChar char="q"/>
                </a:pPr>
                <a:endParaRPr lang="en-US" altLang="en-US" sz="1800" dirty="0"/>
              </a:p>
              <a:p>
                <a:pPr eaLnBrk="1" hangingPunct="1">
                  <a:buClr>
                    <a:schemeClr val="tx1"/>
                  </a:buClr>
                  <a:buFont typeface="Wingdings" pitchFamily="2" charset="2"/>
                  <a:buNone/>
                </a:pPr>
                <a:endParaRPr lang="en-US" altLang="en-US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  <a:blipFill>
                <a:blip r:embed="rId3"/>
                <a:stretch>
                  <a:fillRect l="-74" t="-625" r="-593" b="-212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12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1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. </a:t>
            </a:r>
            <a:r>
              <a:rPr lang="ro-RO" altLang="en-US" sz="2600" b="1" dirty="0">
                <a:solidFill>
                  <a:schemeClr val="bg2"/>
                </a:solidFill>
              </a:rPr>
              <a:t>Reprezentarea în spațiul genotipurilor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95300" y="1143001"/>
                <a:ext cx="8229600" cy="518160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/>
                  <a:t>EXEMPLU</a:t>
                </a:r>
                <a:r>
                  <a:rPr lang="en-US" sz="1800" dirty="0"/>
                  <a:t>L 1 -  </a:t>
                </a:r>
                <a:r>
                  <a:rPr lang="ro-RO" sz="1800" dirty="0"/>
                  <a:t>decodificare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b="0" dirty="0">
                    <a:ea typeface="Cambria Math" panose="02040503050406030204" pitchFamily="18" charset="0"/>
                  </a:rPr>
                  <a:t>Fie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</m:t>
                    </m:r>
                    <m:r>
                      <m:rPr>
                        <m:nor/>
                      </m:rPr>
                      <a:rPr lang="ro-RO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=[12, 13, 14, 15, 17, 6, 3, 18, 4, 20, 8]</m:t>
                    </m:r>
                  </m:oMath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Un candidat la soluție: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16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candidat</m:t>
                        </m:r>
                      </m:sub>
                    </m:sSub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1600"/>
                      <m:t>[</m:t>
                    </m:r>
                    <m:r>
                      <m:rPr>
                        <m:nor/>
                      </m:rPr>
                      <a:rPr lang="ro-RO" sz="1600" b="0" i="0" smtClean="0"/>
                      <m:t>9</m:t>
                    </m:r>
                    <m:r>
                      <m:rPr>
                        <m:nor/>
                      </m:rPr>
                      <a:rPr lang="ro-RO" sz="1600"/>
                      <m:t> </m:t>
                    </m:r>
                    <m:r>
                      <m:rPr>
                        <m:nor/>
                      </m:rPr>
                      <a:rPr lang="ro-RO" sz="1600" b="0" i="0" smtClean="0"/>
                      <m:t>12</m:t>
                    </m:r>
                    <m:r>
                      <m:rPr>
                        <m:nor/>
                      </m:rPr>
                      <a:rPr lang="ro-RO" sz="1600"/>
                      <m:t> 1</m:t>
                    </m:r>
                    <m:r>
                      <m:rPr>
                        <m:nor/>
                      </m:rPr>
                      <a:rPr lang="ro-RO" sz="1600" b="0" i="0" smtClean="0"/>
                      <m:t>9</m:t>
                    </m:r>
                    <m:r>
                      <m:rPr>
                        <m:nor/>
                      </m:rPr>
                      <a:rPr lang="ro-RO" sz="1600"/>
                      <m:t> 15 17  6  0 22  </m:t>
                    </m:r>
                    <m:r>
                      <m:rPr>
                        <m:nor/>
                      </m:rPr>
                      <a:rPr lang="ro-RO" sz="1600" b="0" i="0" smtClean="0"/>
                      <m:t>1</m:t>
                    </m:r>
                    <m:r>
                      <m:rPr>
                        <m:nor/>
                      </m:rPr>
                      <a:rPr lang="ro-RO" sz="1600"/>
                      <m:t>8  1  </m:t>
                    </m:r>
                    <m:r>
                      <m:rPr>
                        <m:nor/>
                      </m:rPr>
                      <a:rPr lang="ro-RO" sz="1600" b="0" i="0" smtClean="0"/>
                      <m:t>13</m:t>
                    </m:r>
                    <m:r>
                      <m:rPr>
                        <m:nor/>
                      </m:rPr>
                      <a:rPr lang="ro-RO" sz="1600"/>
                      <m:t>  5 21 24 23  7 16  4 11  3 10 20 8 2</m:t>
                    </m:r>
                    <m:r>
                      <m:rPr>
                        <m:nor/>
                      </m:rPr>
                      <a:rPr lang="ro-RO" sz="1600" b="0" i="0" smtClean="0"/>
                      <m:t>5</m:t>
                    </m:r>
                    <m:r>
                      <m:rPr>
                        <m:nor/>
                      </m:rPr>
                      <a:rPr lang="ro-RO" sz="1600"/>
                      <m:t>  2 1</m:t>
                    </m:r>
                    <m:r>
                      <m:rPr>
                        <m:nor/>
                      </m:rPr>
                      <a:rPr lang="ro-RO" sz="1600" b="0" i="0" smtClean="0"/>
                      <m:t>4</m:t>
                    </m:r>
                    <m:r>
                      <m:rPr>
                        <m:nor/>
                      </m:rPr>
                      <a:rPr lang="ro-RO" sz="1600"/>
                      <m:t>]</m:t>
                    </m:r>
                  </m:oMath>
                </a14:m>
                <a:endParaRPr lang="ro-RO" sz="16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Determinarea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𝑚𝑒𝑠𝑎𝑗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1800" dirty="0"/>
                  <a:t>: </a:t>
                </a:r>
                <a:endParaRPr lang="ro-RO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ro-RO" sz="1800" b="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o-RO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candidat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o-RO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 →</m:t>
                      </m:r>
                      <m:r>
                        <a:rPr lang="ro-RO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o-RO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ro-RO" sz="18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candidat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ro-RO" sz="18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candidat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ro-RO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just">
                  <a:buNone/>
                </a:pPr>
                <a:endParaRPr lang="ro-RO" sz="18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=[1, 1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8,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2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o-RO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Mesajul corect este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𝑚𝑒𝑠𝑎𝑗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 1, 2, 3, 4, 5, 19, 22, 17, 21, 8]</m:t>
                    </m:r>
                  </m:oMath>
                </a14:m>
                <a:r>
                  <a:rPr lang="ro-RO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deci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1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candidat</m:t>
                        </m:r>
                      </m:sub>
                    </m:sSub>
                  </m:oMath>
                </a14:m>
                <a:r>
                  <a:rPr lang="ro-RO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nu este soluție.</a:t>
                </a:r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95300" y="1143001"/>
                <a:ext cx="8229600" cy="5181601"/>
              </a:xfrm>
              <a:blipFill>
                <a:blip r:embed="rId3"/>
                <a:stretch>
                  <a:fillRect l="-593" t="-706" r="-667" b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89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1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. </a:t>
            </a:r>
            <a:r>
              <a:rPr lang="ro-RO" altLang="en-US" sz="2600" b="1" dirty="0">
                <a:solidFill>
                  <a:schemeClr val="bg2"/>
                </a:solidFill>
              </a:rPr>
              <a:t>Reprezentarea în spațiul genotipurilor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95300" y="1143001"/>
                <a:ext cx="8229600" cy="518160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/>
                  <a:t>EXEMPLU</a:t>
                </a:r>
                <a:r>
                  <a:rPr lang="en-US" sz="1800" dirty="0"/>
                  <a:t>L 2 – </a:t>
                </a:r>
                <a:r>
                  <a:rPr lang="ro-RO" sz="1800" dirty="0"/>
                  <a:t>permutare soluție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b="0" dirty="0">
                    <a:ea typeface="Cambria Math" panose="02040503050406030204" pitchFamily="18" charset="0"/>
                  </a:rPr>
                  <a:t>Fie perechea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𝑚𝑒𝑠𝑎𝑗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𝑐𝑜𝑑</m:t>
                        </m:r>
                      </m:e>
                    </m:d>
                  </m:oMath>
                </a14:m>
                <a:r>
                  <a:rPr lang="ro-RO" sz="1800" dirty="0"/>
                  <a:t> dată de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[0, 1, 2, 3, 4, 5, 19, 22, 17, 21, 8]</m:t>
                      </m:r>
                    </m:oMath>
                  </m:oMathPara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𝑐𝑜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ro-RO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=[12, 13, 14, 15, 17, 6, 3, 18, 4, 20, 8]</m:t>
                      </m:r>
                    </m:oMath>
                  </m:oMathPara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O soluție a problemei (nu este unică pentru că mesajele nu sunt formate cu toate literele alfabetului englez):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sol</m:t>
                        </m:r>
                      </m:sub>
                    </m:sSub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o-RO" sz="1600"/>
                      <m:t>[12 13 14 15 17  6  0 22  8  1  9  5 21 24 23  7 16  4 11  3 10 20 18 2</m:t>
                    </m:r>
                    <m:r>
                      <m:rPr>
                        <m:nor/>
                      </m:rPr>
                      <a:rPr lang="ro-RO" sz="1600" b="0" i="0" smtClean="0"/>
                      <m:t>5</m:t>
                    </m:r>
                    <m:r>
                      <m:rPr>
                        <m:nor/>
                      </m:rPr>
                      <a:rPr lang="ro-RO" sz="1600"/>
                      <m:t>  2 19]</m:t>
                    </m:r>
                  </m:oMath>
                </a14:m>
                <a:endParaRPr lang="ro-RO" sz="1600" dirty="0"/>
              </a:p>
              <a:p>
                <a:pPr marL="0" indent="0" algn="just">
                  <a:buNone/>
                </a:pPr>
                <a:r>
                  <a:rPr lang="ro-RO" sz="1800" dirty="0"/>
                  <a:t>	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Verificare: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pentru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ro-RO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=0..10,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ro-RO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sol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𝑚𝑒𝑠𝑎𝑗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𝑐𝑜𝑑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sol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𝑚𝑒𝑠𝑎𝑗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ro-RO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ro-RO" sz="1800" b="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sol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𝑚𝑒𝑠𝑎𝑗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  <m: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ro-RO" sz="18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</m:t>
                      </m:r>
                    </m:oMath>
                  </m:oMathPara>
                </a14:m>
                <a:endParaRPr lang="ro-RO" sz="1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sol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𝑚𝑒𝑠𝑎𝑗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ro-RO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o-RO" sz="1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sol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en-US" sz="1800" dirty="0"/>
              </a:p>
              <a:p>
                <a:pPr eaLnBrk="1" hangingPunct="1">
                  <a:buClr>
                    <a:schemeClr val="tx1"/>
                  </a:buClr>
                  <a:buFont typeface="Wingdings" pitchFamily="2" charset="2"/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95300" y="1143001"/>
                <a:ext cx="8229600" cy="5181601"/>
              </a:xfrm>
              <a:blipFill>
                <a:blip r:embed="rId3"/>
                <a:stretch>
                  <a:fillRect l="-593" t="-706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793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V. </a:t>
            </a:r>
            <a:r>
              <a:rPr lang="ro-RO" altLang="en-US" sz="2600" b="1" dirty="0">
                <a:solidFill>
                  <a:schemeClr val="bg2"/>
                </a:solidFill>
              </a:rPr>
              <a:t>Funcția</a:t>
            </a:r>
            <a:r>
              <a:rPr lang="en-US" altLang="en-US" sz="2600" b="1" dirty="0">
                <a:solidFill>
                  <a:schemeClr val="bg2"/>
                </a:solidFill>
              </a:rPr>
              <a:t> fitness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Fie cromozomul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26</m:t>
                        </m:r>
                      </m:e>
                    </m:d>
                  </m:oMath>
                </a14:m>
                <a:r>
                  <a:rPr lang="ro-RO" sz="1800" dirty="0"/>
                  <a:t>. Este definită funcția de tip cost, </a:t>
                </a:r>
                <a:r>
                  <a:rPr lang="ro-RO" sz="1800" dirty="0">
                    <a:solidFill>
                      <a:srgbClr val="FF0000"/>
                    </a:solidFill>
                  </a:rPr>
                  <a:t>funcție de minim</a:t>
                </a:r>
              </a:p>
              <a:p>
                <a:pPr marL="0" indent="0" algn="just">
                  <a:buNone/>
                </a:pPr>
                <a:endParaRPr lang="ro-RO" sz="18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𝑙𝑚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ro-RO" sz="1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𝑚𝑒𝑠𝑎𝑗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𝑚𝑒𝑠𝑎𝑗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ro-RO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ro-RO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 panose="02040503050406030204" pitchFamily="18" charset="0"/>
                        </a:rPr>
                        <m:t>𝑢𝑛𝑑𝑒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𝑚𝑒𝑠𝑎𝑗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𝑐𝑢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𝑐𝑜𝑑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o-RO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 algn="ctr">
                  <a:buNone/>
                </a:pPr>
                <a:endParaRPr lang="ro-RO" sz="1800" dirty="0"/>
              </a:p>
              <a:p>
                <a:pPr>
                  <a:buFont typeface="Wingdings" pitchFamily="2" charset="2"/>
                  <a:buChar char="q"/>
                </a:pPr>
                <a:r>
                  <a:rPr lang="ro-RO" altLang="en-US" sz="1800" dirty="0"/>
                  <a:t>Valoarea minimă a funcției cost este 0 și corespunde unei soluții a problemei.</a:t>
                </a:r>
              </a:p>
              <a:p>
                <a:pPr>
                  <a:buFont typeface="Wingdings" pitchFamily="2" charset="2"/>
                  <a:buChar char="q"/>
                </a:pPr>
                <a:endParaRPr lang="ro-RO" altLang="en-US" sz="1800" dirty="0"/>
              </a:p>
              <a:p>
                <a:pPr>
                  <a:buFont typeface="Wingdings" pitchFamily="2" charset="2"/>
                  <a:buChar char="q"/>
                </a:pPr>
                <a:r>
                  <a:rPr lang="ro-RO" altLang="en-US" sz="1800" dirty="0"/>
                  <a:t>Funcția fitness </a:t>
                </a:r>
                <a:r>
                  <a:rPr lang="ro-RO" altLang="en-US" sz="1800" dirty="0">
                    <a:sym typeface="Wingdings" panose="05000000000000000000" pitchFamily="2" charset="2"/>
                  </a:rPr>
                  <a:t> </a:t>
                </a:r>
                <a:r>
                  <a:rPr lang="ro-RO" altLang="en-US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funcție de maxim, valoarea maximă 1 corespunde costului minim 0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𝑓𝑖𝑡𝑛𝑒𝑠𝑠</m:t>
                    </m:r>
                    <m:d>
                      <m:d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1800" dirty="0"/>
                  <a:t> </a:t>
                </a:r>
                <a:endParaRPr lang="ro-RO" sz="1800" dirty="0"/>
              </a:p>
              <a:p>
                <a:pPr marL="0" indent="0" algn="ctr">
                  <a:buNone/>
                </a:pPr>
                <a:endParaRPr lang="en-US" altLang="en-US" sz="1800" dirty="0"/>
              </a:p>
              <a:p>
                <a:pPr eaLnBrk="1" hangingPunct="1">
                  <a:buClr>
                    <a:schemeClr val="tx1"/>
                  </a:buClr>
                  <a:buFont typeface="Wingdings" pitchFamily="2" charset="2"/>
                  <a:buNone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4876801"/>
              </a:xfrm>
              <a:blipFill>
                <a:blip r:embed="rId2"/>
                <a:stretch>
                  <a:fillRect l="-74" t="-625" r="-59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324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914400"/>
          </a:xfrm>
        </p:spPr>
        <p:txBody>
          <a:bodyPr/>
          <a:lstStyle/>
          <a:p>
            <a:pPr eaLnBrk="1" hangingPunct="1"/>
            <a:br>
              <a:rPr lang="en-US" altLang="en-US" sz="2600" b="1" dirty="0">
                <a:solidFill>
                  <a:schemeClr val="bg2"/>
                </a:solidFill>
              </a:rPr>
            </a:br>
            <a:r>
              <a:rPr lang="en-US" altLang="en-US" sz="2600" b="1" dirty="0">
                <a:solidFill>
                  <a:schemeClr val="bg2"/>
                </a:solidFill>
              </a:rPr>
              <a:t>V</a:t>
            </a:r>
            <a:r>
              <a:rPr lang="ro-RO" altLang="en-US" sz="2600" b="1" dirty="0">
                <a:solidFill>
                  <a:schemeClr val="bg2"/>
                </a:solidFill>
              </a:rPr>
              <a:t>I</a:t>
            </a:r>
            <a:r>
              <a:rPr lang="en-US" altLang="en-US" sz="2600" b="1" dirty="0">
                <a:solidFill>
                  <a:schemeClr val="bg2"/>
                </a:solidFill>
              </a:rPr>
              <a:t>. </a:t>
            </a:r>
            <a:r>
              <a:rPr lang="ro-RO" altLang="en-US" sz="2600" b="1" dirty="0">
                <a:solidFill>
                  <a:schemeClr val="bg2"/>
                </a:solidFill>
              </a:rPr>
              <a:t>Modele de populație. Populația inițială</a:t>
            </a:r>
            <a:br>
              <a:rPr lang="en-US" altLang="en-US" sz="2600" b="1" dirty="0">
                <a:solidFill>
                  <a:schemeClr val="bg2"/>
                </a:solidFill>
              </a:rPr>
            </a:b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4876801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sz="1800" dirty="0"/>
              <a:t>Utilizăm modelul generațional</a:t>
            </a:r>
            <a:endParaRPr lang="ro-RO" sz="1800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ro-RO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Lucrăm cu populații cu dimensiune fixă</a:t>
            </a:r>
            <a:r>
              <a:rPr lang="ro-RO" sz="1800" dirty="0"/>
              <a:t> 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>
              <a:buFont typeface="Wingdings" pitchFamily="2" charset="2"/>
              <a:buChar char="q"/>
            </a:pPr>
            <a:r>
              <a:rPr lang="ro-RO" sz="1800" i="1" dirty="0">
                <a:sym typeface="Wingdings" panose="05000000000000000000" pitchFamily="2" charset="2"/>
              </a:rPr>
              <a:t>dim</a:t>
            </a:r>
            <a:r>
              <a:rPr lang="ro-RO" sz="1800" dirty="0">
                <a:sym typeface="Wingdings" panose="05000000000000000000" pitchFamily="2" charset="2"/>
              </a:rPr>
              <a:t> = dimensiunea populației curente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q"/>
            </a:pPr>
            <a:endParaRPr lang="ro-RO" altLang="en-US" sz="1800" dirty="0">
              <a:sym typeface="Wingdings" panose="05000000000000000000" pitchFamily="2" charset="2"/>
            </a:endParaRPr>
          </a:p>
          <a:p>
            <a:pPr>
              <a:buFont typeface="Wingdings" pitchFamily="2" charset="2"/>
              <a:buChar char="q"/>
            </a:pPr>
            <a:r>
              <a:rPr lang="ro-RO" altLang="en-US" sz="1800" dirty="0">
                <a:sym typeface="Wingdings" panose="05000000000000000000" pitchFamily="2" charset="2"/>
              </a:rPr>
              <a:t>Populația inițială este generate aleator, astfel încât toți indivizii să aibă aceeași șansă de a fi selectați la momentul 0.</a:t>
            </a:r>
            <a:endParaRPr lang="ro-RO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ro-RO" alt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84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181100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600" b="1" dirty="0">
                <a:solidFill>
                  <a:schemeClr val="bg2"/>
                </a:solidFill>
              </a:rPr>
              <a:t>VII. Operatori de variație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57200" y="1219200"/>
                <a:ext cx="7848600" cy="4953000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dirty="0"/>
                  <a:t>MUTAȚIA</a:t>
                </a:r>
                <a:endParaRPr lang="ro-RO" sz="1800" dirty="0">
                  <a:solidFill>
                    <a:srgbClr val="FF0000"/>
                  </a:solidFill>
                </a:endParaRP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>
                    <a:solidFill>
                      <a:srgbClr val="FF0000"/>
                    </a:solidFill>
                  </a:rPr>
                  <a:t>La nivel de populație</a:t>
                </a:r>
                <a:r>
                  <a:rPr lang="ro-RO" sz="1800" dirty="0"/>
                  <a:t>, este aplicată schema generală pentru </a:t>
                </a:r>
                <a:r>
                  <a:rPr lang="ro-RO" sz="1800" dirty="0">
                    <a:solidFill>
                      <a:srgbClr val="FF0000"/>
                    </a:solidFill>
                  </a:rPr>
                  <a:t>probleme fără constrângeri</a:t>
                </a:r>
                <a:r>
                  <a:rPr lang="ro-RO" sz="1800" dirty="0"/>
                  <a:t>, cu probabilitate de mutație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/>
                            <a:ea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 în jurul valorii 0.2. Mutația este aplicată la nivel de individ (reprezentare prin permutări)</a:t>
                </a:r>
                <a:endParaRPr lang="ro-RO" sz="1800" dirty="0"/>
              </a:p>
              <a:p>
                <a:pPr>
                  <a:buFont typeface="Wingdings" pitchFamily="2" charset="2"/>
                  <a:buChar char="q"/>
                </a:pPr>
                <a:r>
                  <a:rPr lang="ro-RO" altLang="en-US" sz="1800" dirty="0">
                    <a:solidFill>
                      <a:srgbClr val="FF0000"/>
                    </a:solidFill>
                  </a:rPr>
                  <a:t>La nivel de individ</a:t>
                </a:r>
                <a:r>
                  <a:rPr lang="ro-RO" altLang="en-US" sz="1800" dirty="0"/>
                  <a:t>, este aplicată </a:t>
                </a:r>
                <a:r>
                  <a:rPr lang="ro-RO" altLang="en-US" sz="1800" dirty="0">
                    <a:solidFill>
                      <a:srgbClr val="FF0000"/>
                    </a:solidFill>
                  </a:rPr>
                  <a:t>mutația prin interschimbare</a:t>
                </a:r>
                <a:r>
                  <a:rPr lang="ro-RO" altLang="en-US" sz="1800" dirty="0"/>
                  <a:t>, pentru că </a:t>
                </a:r>
                <a:r>
                  <a:rPr lang="ro-RO" altLang="en-US" sz="1800" dirty="0">
                    <a:solidFill>
                      <a:srgbClr val="FF0000"/>
                    </a:solidFill>
                  </a:rPr>
                  <a:t>problema este cu dependență de ordine. </a:t>
                </a:r>
                <a:endParaRPr lang="ro-RO" sz="1800" dirty="0"/>
              </a:p>
              <a:p>
                <a:pPr>
                  <a:buFont typeface="Wingdings" pitchFamily="2" charset="2"/>
                  <a:buChar char="q"/>
                </a:pPr>
                <a:endParaRPr lang="ro-RO" sz="1800" b="1" dirty="0">
                  <a:solidFill>
                    <a:srgbClr val="FF0000"/>
                  </a:solidFill>
                </a:endParaRPr>
              </a:p>
              <a:p>
                <a:pPr>
                  <a:buFont typeface="Wingdings" pitchFamily="2" charset="2"/>
                  <a:buChar char="q"/>
                </a:pPr>
                <a:endParaRPr lang="ro-RO" sz="18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ro-RO" sz="1800" dirty="0"/>
                  <a:t>RECOMBINAREA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>
                    <a:solidFill>
                      <a:srgbClr val="FF0000"/>
                    </a:solidFill>
                  </a:rPr>
                  <a:t>La nivel de populație</a:t>
                </a:r>
                <a:r>
                  <a:rPr lang="ro-RO" sz="1800" dirty="0"/>
                  <a:t>, este aplicată schema generală pentru </a:t>
                </a:r>
                <a:r>
                  <a:rPr lang="ro-RO" sz="1800" dirty="0">
                    <a:solidFill>
                      <a:srgbClr val="FF0000"/>
                    </a:solidFill>
                  </a:rPr>
                  <a:t>probleme fără constrângeri</a:t>
                </a:r>
                <a:r>
                  <a:rPr lang="ro-RO" sz="1800" dirty="0"/>
                  <a:t>, cu probabilitate de recombinare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 smtClean="0">
                            <a:latin typeface="Cambria Math"/>
                            <a:ea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ro-RO" sz="1800" dirty="0">
                    <a:sym typeface="Wingdings" panose="05000000000000000000" pitchFamily="2" charset="2"/>
                  </a:rPr>
                  <a:t> în jurul valorii 0.8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>
                    <a:sym typeface="Wingdings" panose="05000000000000000000" pitchFamily="2" charset="2"/>
                  </a:rPr>
                  <a:t>Model generațional  se fac </a:t>
                </a:r>
                <a:r>
                  <a:rPr lang="ro-RO" sz="1800" i="1" dirty="0">
                    <a:sym typeface="Wingdings" panose="05000000000000000000" pitchFamily="2" charset="2"/>
                  </a:rPr>
                  <a:t>dim/</a:t>
                </a:r>
                <a:r>
                  <a:rPr lang="ro-RO" sz="1800" dirty="0">
                    <a:sym typeface="Wingdings" panose="05000000000000000000" pitchFamily="2" charset="2"/>
                  </a:rPr>
                  <a:t>2 operații, dimensiunea populației de copii este egală cu </a:t>
                </a:r>
                <a:r>
                  <a:rPr lang="ro-RO" sz="1800" i="1" dirty="0">
                    <a:sym typeface="Wingdings" panose="05000000000000000000" pitchFamily="2" charset="2"/>
                  </a:rPr>
                  <a:t>dim</a:t>
                </a:r>
                <a:r>
                  <a:rPr lang="ro-RO" sz="1800" dirty="0">
                    <a:sym typeface="Wingdings" panose="05000000000000000000" pitchFamily="2" charset="2"/>
                  </a:rPr>
                  <a:t> (este admisă recombinarea asexuată)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ro-RO" altLang="en-US" sz="1800" dirty="0">
                    <a:solidFill>
                      <a:srgbClr val="FF0000"/>
                    </a:solidFill>
                  </a:rPr>
                  <a:t>La nivel de pereche de indivizi</a:t>
                </a:r>
                <a:r>
                  <a:rPr lang="ro-RO" altLang="en-US" sz="1800" dirty="0"/>
                  <a:t>, este aplicată recombinarea OCX, pentru că </a:t>
                </a:r>
                <a:r>
                  <a:rPr lang="ro-RO" altLang="en-US" sz="1800" dirty="0">
                    <a:solidFill>
                      <a:srgbClr val="FF0000"/>
                    </a:solidFill>
                  </a:rPr>
                  <a:t>problema este cu dependență de ordine. 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7848600" cy="4953000"/>
              </a:xfrm>
              <a:blipFill>
                <a:blip r:embed="rId2"/>
                <a:stretch>
                  <a:fillRect l="-621" t="-615" r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367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181100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I</a:t>
            </a: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. Selecția părinților. Selecția supraviețuitorilor</a:t>
            </a: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7848600" cy="4953000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Selecția părinților </a:t>
            </a:r>
          </a:p>
          <a:p>
            <a:pPr algn="just">
              <a:buFont typeface="Wingdings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Model generațional  din dim indivizi în populația curentă selectăm dim părinți</a:t>
            </a:r>
          </a:p>
          <a:p>
            <a:pPr marL="400050" lvl="1" indent="0" algn="ctr">
              <a:buNone/>
            </a:pPr>
            <a:endParaRPr lang="ro-RO" sz="1800" dirty="0"/>
          </a:p>
          <a:p>
            <a:pPr lvl="1">
              <a:buFont typeface="Wingdings" pitchFamily="2" charset="2"/>
              <a:buChar char="q"/>
            </a:pPr>
            <a:r>
              <a:rPr lang="ro-RO" altLang="en-US" sz="1800" dirty="0"/>
              <a:t>Este utilizat mecanismul </a:t>
            </a:r>
            <a:r>
              <a:rPr lang="en-US" altLang="en-US" sz="1800" dirty="0"/>
              <a:t>SUS</a:t>
            </a:r>
            <a:r>
              <a:rPr lang="ro-RO" altLang="en-US" sz="1800" dirty="0"/>
              <a:t> cu distribuția de probabilitate FPS cu sigma-scalare </a:t>
            </a:r>
          </a:p>
          <a:p>
            <a:pPr algn="just">
              <a:buFont typeface="Wingdings" pitchFamily="2" charset="2"/>
              <a:buChar char="q"/>
            </a:pPr>
            <a:endParaRPr lang="ro-RO" sz="1800" b="1" dirty="0">
              <a:solidFill>
                <a:srgbClr val="FF0000"/>
              </a:solidFill>
            </a:endParaRPr>
          </a:p>
          <a:p>
            <a:pPr algn="just">
              <a:buFont typeface="Wingdings" pitchFamily="2" charset="2"/>
              <a:buChar char="q"/>
            </a:pPr>
            <a:r>
              <a:rPr lang="ro-RO" sz="1800" dirty="0"/>
              <a:t>Selecția generației următoare</a:t>
            </a:r>
          </a:p>
          <a:p>
            <a:pPr algn="just">
              <a:buFont typeface="Wingdings" pitchFamily="2" charset="2"/>
              <a:buChar char="q"/>
            </a:pPr>
            <a:endParaRPr lang="ro-RO" sz="1800" dirty="0"/>
          </a:p>
          <a:p>
            <a:pPr lvl="1" algn="just">
              <a:buFont typeface="Wingdings" pitchFamily="2" charset="2"/>
              <a:buChar char="q"/>
            </a:pPr>
            <a:r>
              <a:rPr lang="ro-RO" sz="1800" dirty="0"/>
              <a:t>Este utilizat mecanismul elitist</a:t>
            </a:r>
          </a:p>
          <a:p>
            <a:pPr algn="just">
              <a:buFont typeface="Wingdings" pitchFamily="2" charset="2"/>
              <a:buChar char="q"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17772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181100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 I</a:t>
            </a:r>
            <a:r>
              <a:rPr lang="ro-RO" altLang="en-US" sz="2600" b="1" dirty="0">
                <a:solidFill>
                  <a:schemeClr val="bg2"/>
                </a:solidFill>
              </a:rPr>
              <a:t>X. Condiția de terminare</a:t>
            </a: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457200" y="1219200"/>
            <a:ext cx="7848600" cy="4953000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endParaRPr lang="en-US" sz="1800" dirty="0">
              <a:sym typeface="Wingdings" panose="05000000000000000000" pitchFamily="2" charset="2"/>
            </a:endParaRPr>
          </a:p>
          <a:p>
            <a:pPr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Algoritmul este încheiat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după un număr maxim de iterații, sau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dacă în populația curentă toți indivizii au aceeași calitate, sau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dacă a fost calculat un individ cu fitness maxim (egal cu 1)</a:t>
            </a:r>
          </a:p>
          <a:p>
            <a:pPr algn="just">
              <a:buFont typeface="Wingdings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Soluția calculată  cel mai bun individ din populația finală (datorită utilizării elitismului pentru selecția supraviețuitorilor)</a:t>
            </a:r>
          </a:p>
        </p:txBody>
      </p:sp>
    </p:spTree>
    <p:extLst>
      <p:ext uri="{BB962C8B-B14F-4D97-AF65-F5344CB8AC3E}">
        <p14:creationId xmlns:p14="http://schemas.microsoft.com/office/powerpoint/2010/main" val="1397706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181100"/>
          </a:xfrm>
        </p:spPr>
        <p:txBody>
          <a:bodyPr/>
          <a:lstStyle/>
          <a:p>
            <a:pPr eaLnBrk="1" hangingPunct="1"/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600" b="1" dirty="0">
                <a:solidFill>
                  <a:schemeClr val="bg2"/>
                </a:solidFill>
              </a:rPr>
              <a:t>X. Exemplu de evoluție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76400"/>
            <a:ext cx="4754885" cy="4267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673468"/>
            <a:ext cx="4653285" cy="427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07704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3418</TotalTime>
  <Words>1426</Words>
  <Application>Microsoft Office PowerPoint</Application>
  <PresentationFormat>On-screen Show (4:3)</PresentationFormat>
  <Paragraphs>163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Consolas</vt:lpstr>
      <vt:lpstr>Garamond</vt:lpstr>
      <vt:lpstr>Times New Roman</vt:lpstr>
      <vt:lpstr>Wingdings</vt:lpstr>
      <vt:lpstr>Stream</vt:lpstr>
      <vt:lpstr>Pixel</vt:lpstr>
      <vt:lpstr> Algoritmi genetici (GA).  Problema decodificării unui mesaj  </vt:lpstr>
      <vt:lpstr>                   I. ALGORITMI GENETICI (GA) </vt:lpstr>
      <vt:lpstr> II. Enunțul problemei </vt:lpstr>
      <vt:lpstr> II. Enunțul problemei </vt:lpstr>
      <vt:lpstr> III. Preprocesare </vt:lpstr>
      <vt:lpstr> III. Preprocesare </vt:lpstr>
      <vt:lpstr> III. Preprocesare </vt:lpstr>
      <vt:lpstr> IV. Reprezentarea în spațiul genotipurilor </vt:lpstr>
      <vt:lpstr> IV. Reprezentarea în spațiul genotipurilor </vt:lpstr>
      <vt:lpstr> IV. Reprezentarea în spațiul genotipurilor </vt:lpstr>
      <vt:lpstr> V. Funcția fitness </vt:lpstr>
      <vt:lpstr> VI. Modele de populație. Populația inițială </vt:lpstr>
      <vt:lpstr> VII. Operatori de variație</vt:lpstr>
      <vt:lpstr> VIII. Selecția părinților. Selecția supraviețuitorilor</vt:lpstr>
      <vt:lpstr> IX. Condiția de terminare</vt:lpstr>
      <vt:lpstr> X. Exemplu de evoluție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364</cp:revision>
  <dcterms:created xsi:type="dcterms:W3CDTF">2007-06-04T09:28:42Z</dcterms:created>
  <dcterms:modified xsi:type="dcterms:W3CDTF">2025-05-12T07:34:48Z</dcterms:modified>
</cp:coreProperties>
</file>