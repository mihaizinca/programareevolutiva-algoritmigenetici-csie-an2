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7" r:id="rId3"/>
    <p:sldId id="261" r:id="rId4"/>
    <p:sldId id="268" r:id="rId5"/>
    <p:sldId id="26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6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7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42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3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99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89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31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91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4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79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41A3-0700-47B6-91E1-316FE4373AE1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37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50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541A3-0700-47B6-91E1-316FE4373AE1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27C47-B04B-461A-A460-3A60D8ED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5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76299" y="557349"/>
            <a:ext cx="10010775" cy="5538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o-RO" sz="1800" dirty="0"/>
              <a:t>Enunțul problemei</a:t>
            </a:r>
          </a:p>
          <a:p>
            <a:pPr marL="0" indent="0" algn="just">
              <a:buNone/>
            </a:pPr>
            <a:r>
              <a:rPr lang="ro-RO" sz="1800" dirty="0"/>
              <a:t> 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ro-RO" sz="1800" dirty="0"/>
              <a:t>Pentru aprovizionarea a </a:t>
            </a:r>
            <a:r>
              <a:rPr lang="ro-RO" sz="1800" i="1" dirty="0"/>
              <a:t>n</a:t>
            </a:r>
            <a:r>
              <a:rPr lang="ro-RO" sz="1800" dirty="0"/>
              <a:t> zone defavorizate cu produse de bază, se formează un convoi umanitar, tren având </a:t>
            </a:r>
            <a:r>
              <a:rPr lang="ro-RO" sz="1800" i="1" dirty="0"/>
              <a:t>n</a:t>
            </a:r>
            <a:r>
              <a:rPr lang="ro-RO" sz="1800" dirty="0"/>
              <a:t> vagoane. Trenul va vizita succesiv fiecare zonă unde vor fi descărcate materialele prevăzute pentru acea zonă. Materialele sunt ambalate în </a:t>
            </a:r>
            <a:r>
              <a:rPr lang="ro-RO" sz="1800" i="1" dirty="0"/>
              <a:t>m</a:t>
            </a:r>
            <a:r>
              <a:rPr lang="ro-RO" sz="1800" dirty="0"/>
              <a:t> containere speciale. Pentru fiecare container se cunoaște masa totală. Utilizați un algoritm genetic </a:t>
            </a:r>
            <a:r>
              <a:rPr lang="ro-RO" sz="1800" b="1" dirty="0"/>
              <a:t>pentru a aloca fiecare container într-un vagon</a:t>
            </a:r>
            <a:r>
              <a:rPr lang="ro-RO" sz="1800" dirty="0"/>
              <a:t>, astfel încît vagoanele să fie încărcate cu mase totale cât mai apropiate. Masele containerelor pot fi preluate dintr-un fișier text. Nu se ia în considerare o limită superioară de masă pentru vagoane.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o-RO" sz="1800" dirty="0"/>
              <a:t> </a:t>
            </a:r>
          </a:p>
          <a:p>
            <a:pPr marL="0" indent="0" algn="just">
              <a:buNone/>
            </a:pPr>
            <a:endParaRPr lang="ro-RO" sz="1800" dirty="0"/>
          </a:p>
          <a:p>
            <a:pPr marL="457200" lvl="1" indent="0" algn="just">
              <a:buNone/>
            </a:pPr>
            <a:endParaRPr lang="ro-RO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3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838200" y="1166949"/>
                <a:ext cx="10010775" cy="553865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o-RO" sz="1800" dirty="0"/>
                  <a:t>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Date de intrare: </a:t>
                </a:r>
                <a:r>
                  <a:rPr lang="ro-RO" sz="1800" i="1" dirty="0"/>
                  <a:t>m</a:t>
                </a:r>
                <a:r>
                  <a:rPr lang="ro-RO" sz="1800" dirty="0"/>
                  <a:t>,</a:t>
                </a:r>
                <a:r>
                  <a:rPr lang="ro-RO" sz="1800" i="1" dirty="0"/>
                  <a:t>n</a:t>
                </a:r>
                <a:r>
                  <a:rPr lang="ro-RO" sz="1800" dirty="0"/>
                  <a:t> și vectorul maselor containerelor, </a:t>
                </a:r>
                <a:r>
                  <a:rPr lang="ro-RO" sz="1800" i="1" dirty="0"/>
                  <a:t>mase</a:t>
                </a:r>
              </a:p>
              <a:p>
                <a:pPr marL="0" indent="0" algn="just">
                  <a:buNone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Reprezentare</a:t>
                </a:r>
              </a:p>
              <a:p>
                <a:pPr marL="0" indent="0" algn="just">
                  <a:buNone/>
                </a:pPr>
                <a:endParaRPr lang="ro-RO" sz="19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fiecărui container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o-RO" sz="1800" dirty="0"/>
                  <a:t> i se asociază vagonul în care va fi transportat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ro-RO" sz="18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Genotip </a:t>
                </a:r>
                <a:r>
                  <a:rPr lang="ro-RO" sz="1800" dirty="0">
                    <a:sym typeface="Wingdings" panose="05000000000000000000" pitchFamily="2" charset="2"/>
                  </a:rPr>
                  <a:t> vector cu m elemente în mulțimea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o-RO" sz="18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1,2,…,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</m:d>
                  </m:oMath>
                </a14:m>
                <a:endParaRPr lang="ro-RO" sz="1800" dirty="0">
                  <a:sym typeface="Wingdings" panose="05000000000000000000" pitchFamily="2" charset="2"/>
                </a:endParaRPr>
              </a:p>
              <a:p>
                <a:pPr marL="914400" lvl="2" indent="0" algn="just">
                  <a:buNone/>
                </a:pPr>
                <a:endParaRPr lang="ro-RO" sz="18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Spațiul soluțiilor </a:t>
                </a:r>
                <a:r>
                  <a:rPr lang="ro-RO" sz="18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8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𝑆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ro-RO" sz="180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ro-RO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1,2,…,</m:t>
                            </m:r>
                            <m:r>
                              <a:rPr lang="ro-RO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e>
                        </m:d>
                      </m:e>
                      <m:sup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ro-RO" sz="1800" dirty="0"/>
                  <a:t> </a:t>
                </a:r>
                <a:r>
                  <a:rPr lang="ro-RO" sz="18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8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ro-RO" sz="1800" dirty="0"/>
                  <a:t> numărul elementelor lui S</a:t>
                </a:r>
              </a:p>
              <a:p>
                <a:pPr marL="457200" lvl="1" indent="0" algn="just">
                  <a:buNone/>
                </a:pPr>
                <a:endParaRPr lang="ro-RO" sz="18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Problema este fără constrângeri, de complexitate exponențială în </a:t>
                </a:r>
                <a:r>
                  <a:rPr lang="ro-RO" sz="1800" i="1" dirty="0"/>
                  <a:t>m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2000" dirty="0"/>
              </a:p>
              <a:p>
                <a:pPr marL="457200" lvl="1" indent="0" algn="just">
                  <a:buNone/>
                </a:pPr>
                <a:endParaRPr lang="ro-RO" sz="16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838200" y="1166949"/>
                <a:ext cx="10010775" cy="5538653"/>
              </a:xfrm>
              <a:blipFill>
                <a:blip r:embed="rId2"/>
                <a:stretch>
                  <a:fillRect l="-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9312CB-6A38-F0EE-452D-6EB881AB8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847"/>
            <a:ext cx="10515600" cy="955159"/>
          </a:xfrm>
        </p:spPr>
        <p:txBody>
          <a:bodyPr>
            <a:normAutofit/>
          </a:bodyPr>
          <a:lstStyle/>
          <a:p>
            <a:r>
              <a:rPr lang="ro-RO" sz="3200" dirty="0"/>
              <a:t>Rezolvare GA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9139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933449" y="1301234"/>
                <a:ext cx="9953625" cy="5185290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Funcție fitness: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i="1" dirty="0"/>
                  <a:t>x</a:t>
                </a:r>
                <a:r>
                  <a:rPr lang="ro-RO" sz="1800" dirty="0"/>
                  <a:t> genotip, </a:t>
                </a:r>
                <a:r>
                  <a:rPr lang="ro-RO" sz="1800" i="1" dirty="0"/>
                  <a:t>mase</a:t>
                </a:r>
                <a:r>
                  <a:rPr lang="ro-RO" sz="1800" dirty="0"/>
                  <a:t> vectorul maselor – vectori cu </a:t>
                </a:r>
                <a:r>
                  <a:rPr lang="ro-RO" sz="1800" i="1" dirty="0"/>
                  <a:t>m</a:t>
                </a:r>
                <a:r>
                  <a:rPr lang="ro-RO" sz="1800" dirty="0"/>
                  <a:t> elemente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i="1" dirty="0"/>
                  <a:t>vagoane</a:t>
                </a:r>
                <a:r>
                  <a:rPr lang="ro-RO" sz="1800" dirty="0"/>
                  <a:t> </a:t>
                </a:r>
                <a:r>
                  <a:rPr lang="ro-RO" sz="1800" i="1" dirty="0"/>
                  <a:t>– </a:t>
                </a:r>
                <a:r>
                  <a:rPr lang="ro-RO" sz="1800" dirty="0"/>
                  <a:t>vector cu </a:t>
                </a:r>
                <a:r>
                  <a:rPr lang="ro-RO" sz="1800" i="1" dirty="0"/>
                  <a:t>n</a:t>
                </a:r>
                <a:r>
                  <a:rPr lang="ro-RO" sz="1800" dirty="0"/>
                  <a:t> elemente, </a:t>
                </a:r>
                <a:r>
                  <a:rPr lang="ro-RO" sz="1800" i="1" dirty="0"/>
                  <a:t>vagoane</a:t>
                </a:r>
                <a:r>
                  <a:rPr lang="en-US" sz="1800" dirty="0"/>
                  <a:t>[</a:t>
                </a:r>
                <a:r>
                  <a:rPr lang="en-US" sz="1800" i="1" dirty="0"/>
                  <a:t>j</a:t>
                </a:r>
                <a:r>
                  <a:rPr lang="en-US" sz="1800" dirty="0"/>
                  <a:t>]</a:t>
                </a:r>
                <a:r>
                  <a:rPr lang="ro-RO" sz="1800" dirty="0"/>
                  <a:t>=suma maselor</a:t>
                </a:r>
                <a:r>
                  <a:rPr lang="en-US" sz="1800" dirty="0"/>
                  <a:t> </a:t>
                </a:r>
                <a:r>
                  <a:rPr lang="ro-RO" sz="1800" dirty="0"/>
                  <a:t>containerelor încărcate în </a:t>
                </a:r>
                <a:r>
                  <a:rPr lang="ro-RO" sz="1800" i="1" dirty="0"/>
                  <a:t>j</a:t>
                </a:r>
                <a:r>
                  <a:rPr lang="ro-RO" sz="1800" dirty="0"/>
                  <a:t>, conform individului </a:t>
                </a:r>
                <a:r>
                  <a:rPr lang="ro-RO" sz="1800" i="1" dirty="0"/>
                  <a:t>x</a:t>
                </a:r>
              </a:p>
              <a:p>
                <a:pPr marL="457200" lvl="1" indent="0" algn="just">
                  <a:buNone/>
                </a:pPr>
                <a:endParaRPr lang="ro-RO" sz="1800" i="1" dirty="0"/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𝑣𝑎𝑔𝑜𝑎𝑛𝑒</m:t>
                      </m:r>
                      <m:d>
                        <m:dPr>
                          <m:begChr m:val="["/>
                          <m:endChr m:val="]"/>
                          <m:ctrlPr>
                            <a:rPr lang="ro-R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ro-RO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ro-R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ro-RO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ro-RO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ro-RO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o-RO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ro-RO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ro-RO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ro-RO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ro-RO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ro-RO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𝑚𝑎𝑠𝑒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ro-RO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ro-RO" sz="1800" i="1" dirty="0"/>
              </a:p>
              <a:p>
                <a:pPr marL="457200" lvl="1" indent="0" algn="just">
                  <a:buNone/>
                </a:pPr>
                <a:endParaRPr lang="ro-RO" sz="1800" b="0" i="1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sym typeface="Wingdings" panose="05000000000000000000" pitchFamily="2" charset="2"/>
                  </a:rPr>
                  <a:t>Scop: minimizarea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𝑚𝑎𝑥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𝑣𝑎𝑔𝑜𝑎𝑛𝑒</m:t>
                        </m:r>
                      </m:e>
                    </m:d>
                    <m:r>
                      <a:rPr lang="ro-RO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𝑚𝑖𝑛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𝑣𝑎𝑔𝑜𝑎𝑛𝑒</m:t>
                        </m:r>
                      </m:e>
                    </m:d>
                  </m:oMath>
                </a14:m>
                <a:r>
                  <a:rPr lang="ro-RO" sz="1800" dirty="0">
                    <a:sym typeface="Wingdings" panose="05000000000000000000" pitchFamily="2" charset="2"/>
                  </a:rPr>
                  <a:t> </a:t>
                </a:r>
                <a:r>
                  <a:rPr lang="en-US" sz="1800" dirty="0">
                    <a:sym typeface="Wingdings" panose="05000000000000000000" pitchFamily="2" charset="2"/>
                  </a:rPr>
                  <a:t> </a:t>
                </a:r>
                <a:r>
                  <a:rPr lang="ro-RO" sz="1800" dirty="0">
                    <a:sym typeface="Wingdings" panose="05000000000000000000" pitchFamily="2" charset="2"/>
                  </a:rPr>
                  <a:t>diferența maximă de încărcare SAU minimizarea deviației standard,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𝑠𝑡𝑑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𝑣𝑎𝑔𝑜𝑎𝑛𝑒</m:t>
                        </m:r>
                      </m:e>
                    </m:d>
                  </m:oMath>
                </a14:m>
                <a:r>
                  <a:rPr lang="ro-RO" sz="1800" dirty="0">
                    <a:sym typeface="Wingdings" panose="05000000000000000000" pitchFamily="2" charset="2"/>
                  </a:rPr>
                  <a:t> </a:t>
                </a:r>
                <a:r>
                  <a:rPr lang="en-US" sz="1800" dirty="0">
                    <a:sym typeface="Wingdings" panose="05000000000000000000" pitchFamily="2" charset="2"/>
                  </a:rPr>
                  <a:t> </a:t>
                </a:r>
                <a:r>
                  <a:rPr lang="ro-RO" sz="1800" dirty="0">
                    <a:sym typeface="Wingdings" panose="05000000000000000000" pitchFamily="2" charset="2"/>
                  </a:rPr>
                  <a:t>abaterea</a:t>
                </a:r>
                <a:r>
                  <a:rPr lang="en-US" sz="1800" dirty="0">
                    <a:sym typeface="Wingdings" panose="05000000000000000000" pitchFamily="2" charset="2"/>
                  </a:rPr>
                  <a:t> </a:t>
                </a:r>
                <a:r>
                  <a:rPr lang="ro-RO" sz="1800" dirty="0">
                    <a:sym typeface="Wingdings" panose="05000000000000000000" pitchFamily="2" charset="2"/>
                  </a:rPr>
                  <a:t>față de media de încărcare </a:t>
                </a:r>
              </a:p>
              <a:p>
                <a:pPr marL="457200" lvl="1" indent="0" algn="just">
                  <a:buNone/>
                </a:pPr>
                <a:endParaRPr lang="ro-RO" sz="1800" dirty="0">
                  <a:sym typeface="Wingdings" panose="05000000000000000000" pitchFamily="2" charset="2"/>
                </a:endParaRP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sym typeface="Wingdings" panose="05000000000000000000" pitchFamily="2" charset="2"/>
                  </a:rPr>
                  <a:t>Funcția fitness </a:t>
                </a:r>
                <a:r>
                  <a:rPr lang="en-US" sz="1800" dirty="0">
                    <a:sym typeface="Wingdings" panose="05000000000000000000" pitchFamily="2" charset="2"/>
                  </a:rPr>
                  <a:t> </a:t>
                </a:r>
                <a:r>
                  <a:rPr lang="ro-RO" sz="1800" dirty="0">
                    <a:sym typeface="Wingdings" panose="05000000000000000000" pitchFamily="2" charset="2"/>
                  </a:rPr>
                  <a:t>egalizare încărcare/vagon</a:t>
                </a: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 panose="02040503050406030204" pitchFamily="18" charset="0"/>
                        </a:rPr>
                        <m:t>𝐹𝑖𝑛𝑡𝑒𝑠𝑠</m:t>
                      </m:r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o-RO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ro-RO" sz="18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𝑣𝑎𝑔𝑜𝑎𝑛𝑒</m:t>
                              </m:r>
                            </m:e>
                          </m:d>
                          <m:r>
                            <a:rPr lang="ro-RO" sz="18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𝑚𝑖𝑛</m:t>
                          </m:r>
                          <m:d>
                            <m:dPr>
                              <m:ctrlPr>
                                <a:rPr lang="ro-RO" sz="18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𝑣𝑎𝑔𝑜𝑎𝑛𝑒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o-RO" sz="1800" b="0" dirty="0"/>
              </a:p>
              <a:p>
                <a:pPr marL="457200" lvl="1" indent="0" algn="just">
                  <a:buNone/>
                </a:pPr>
                <a:r>
                  <a:rPr lang="ro-RO" sz="1800" dirty="0">
                    <a:sym typeface="Wingdings" panose="05000000000000000000" pitchFamily="2" charset="2"/>
                  </a:rPr>
                  <a:t>SAU</a:t>
                </a: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 panose="02040503050406030204" pitchFamily="18" charset="0"/>
                        </a:rPr>
                        <m:t>𝐹𝑖𝑛𝑡𝑒𝑠𝑠</m:t>
                      </m:r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ro-RO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𝑠𝑡𝑑</m:t>
                          </m:r>
                          <m:d>
                            <m:d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𝑣𝑎𝑔𝑜𝑎𝑛𝑒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o-RO" sz="1800" dirty="0">
                  <a:sym typeface="Wingdings" panose="05000000000000000000" pitchFamily="2" charset="2"/>
                </a:endParaRPr>
              </a:p>
              <a:p>
                <a:pPr marL="457200" lvl="1" indent="0" algn="just">
                  <a:buNone/>
                </a:pPr>
                <a:endParaRPr lang="ro-RO" sz="18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933449" y="1301234"/>
                <a:ext cx="9953625" cy="5185290"/>
              </a:xfrm>
              <a:blipFill>
                <a:blip r:embed="rId2"/>
                <a:stretch>
                  <a:fillRect l="-367" t="-1058" r="-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D8E362-E01A-CE9B-B536-3966954D2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847"/>
            <a:ext cx="10515600" cy="955159"/>
          </a:xfrm>
        </p:spPr>
        <p:txBody>
          <a:bodyPr>
            <a:normAutofit/>
          </a:bodyPr>
          <a:lstStyle/>
          <a:p>
            <a:r>
              <a:rPr lang="ro-RO" sz="3200" dirty="0"/>
              <a:t>Rezolvare GA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70205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71575" y="1009649"/>
            <a:ext cx="9877425" cy="5305425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/>
              <a:t> Modelul de populație 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endParaRPr lang="ro-RO" sz="1800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1800" dirty="0">
                <a:sym typeface="Wingdings" panose="05000000000000000000" pitchFamily="2" charset="2"/>
              </a:rPr>
              <a:t>genera</a:t>
            </a:r>
            <a:r>
              <a:rPr lang="ro-RO" sz="1800" dirty="0">
                <a:sym typeface="Wingdings" panose="05000000000000000000" pitchFamily="2" charset="2"/>
              </a:rPr>
              <a:t>țional (problema NP-completă, funcția fitness ușor de evaluat)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populații cu dimensiune constantă, Dim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ro-RO" sz="1800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 Generare populație inițială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Aleator uniform, din spațiul soluțiilor</a:t>
            </a:r>
          </a:p>
          <a:p>
            <a:pPr marL="0" indent="0" algn="just">
              <a:buNone/>
            </a:pPr>
            <a:r>
              <a:rPr lang="ro-RO" sz="1800" dirty="0"/>
              <a:t>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/>
              <a:t>Operatori de selecție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 Selecția părinților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ro-RO" sz="1800" dirty="0">
              <a:sym typeface="Wingdings" panose="05000000000000000000" pitchFamily="2" charset="2"/>
            </a:endParaRPr>
          </a:p>
          <a:p>
            <a:pPr lvl="1" algn="just">
              <a:buFont typeface="Wingdings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Model generațional  din dim indivizi în populația curentă selectăm dim părinți</a:t>
            </a:r>
          </a:p>
          <a:p>
            <a:pPr marL="400050" lvl="1" indent="0" algn="ctr">
              <a:buNone/>
            </a:pPr>
            <a:endParaRPr lang="ro-RO" sz="1800" dirty="0"/>
          </a:p>
          <a:p>
            <a:pPr lvl="1">
              <a:buFont typeface="Wingdings" pitchFamily="2" charset="2"/>
              <a:buChar char="q"/>
            </a:pPr>
            <a:r>
              <a:rPr lang="ro-RO" altLang="en-US" sz="1800" dirty="0"/>
              <a:t>Funcția fitness este cu valori strict pozitive </a:t>
            </a:r>
            <a:r>
              <a:rPr lang="ro-RO" altLang="en-US" sz="1800" dirty="0">
                <a:sym typeface="Wingdings" panose="05000000000000000000" pitchFamily="2" charset="2"/>
              </a:rPr>
              <a:t></a:t>
            </a:r>
            <a:r>
              <a:rPr lang="en-US" altLang="en-US" sz="1800" dirty="0">
                <a:sym typeface="Wingdings" panose="05000000000000000000" pitchFamily="2" charset="2"/>
              </a:rPr>
              <a:t> e</a:t>
            </a:r>
            <a:r>
              <a:rPr lang="ro-RO" altLang="en-US" sz="1800" dirty="0"/>
              <a:t>ste utilizat mecanismul </a:t>
            </a:r>
            <a:r>
              <a:rPr lang="en-US" altLang="en-US" sz="1800" dirty="0"/>
              <a:t>SUS</a:t>
            </a:r>
            <a:r>
              <a:rPr lang="ro-RO" altLang="en-US" sz="1800" dirty="0"/>
              <a:t> cu distribuția de probabilitate FPS cu sigma-scalare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ro-RO" sz="1800" b="1" dirty="0">
              <a:solidFill>
                <a:srgbClr val="FF0000"/>
              </a:solidFill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/>
              <a:t>Selecția generației următoare</a:t>
            </a:r>
          </a:p>
          <a:p>
            <a:pPr lvl="1" algn="just">
              <a:buFont typeface="Wingdings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Model generațional  </a:t>
            </a:r>
            <a:r>
              <a:rPr lang="ro-RO" sz="1800" dirty="0"/>
              <a:t>elitism</a:t>
            </a:r>
          </a:p>
          <a:p>
            <a:pPr marL="0" indent="0" algn="just">
              <a:buNone/>
            </a:pPr>
            <a:endParaRPr lang="ro-RO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315E37-B28E-344E-3B6D-7529DBF6B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847"/>
            <a:ext cx="10515600" cy="955159"/>
          </a:xfrm>
        </p:spPr>
        <p:txBody>
          <a:bodyPr>
            <a:normAutofit/>
          </a:bodyPr>
          <a:lstStyle/>
          <a:p>
            <a:r>
              <a:rPr lang="ro-RO" sz="3200" dirty="0"/>
              <a:t>Rezolvare GA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3300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723900" y="1168006"/>
                <a:ext cx="10629899" cy="4927996"/>
              </a:xfrm>
            </p:spPr>
            <p:txBody>
              <a:bodyPr>
                <a:normAutofit lnSpcReduction="10000"/>
              </a:bodyPr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Operatori de variație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Mutația: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 Problemă fără constrângeri </a:t>
                </a:r>
                <a:r>
                  <a:rPr lang="ro-RO" sz="1800" dirty="0">
                    <a:sym typeface="Wingdings" panose="05000000000000000000" pitchFamily="2" charset="2"/>
                  </a:rPr>
                  <a:t></a:t>
                </a:r>
                <a:r>
                  <a:rPr lang="en-US" sz="1800" dirty="0">
                    <a:sym typeface="Wingdings" panose="05000000000000000000" pitchFamily="2" charset="2"/>
                  </a:rPr>
                  <a:t> schema general</a:t>
                </a:r>
                <a:r>
                  <a:rPr lang="ro-RO" sz="1800" dirty="0">
                    <a:sym typeface="Wingdings" panose="05000000000000000000" pitchFamily="2" charset="2"/>
                  </a:rPr>
                  <a:t>ă de mutație la nivel de populație: fără constrângeri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sym typeface="Wingdings" panose="05000000000000000000" pitchFamily="2" charset="2"/>
                  </a:rPr>
                  <a:t> Mutația este la nivel de poziție (genă) </a:t>
                </a:r>
                <a:r>
                  <a:rPr lang="en-US" sz="1800" dirty="0">
                    <a:sym typeface="Wingdings" panose="05000000000000000000" pitchFamily="2" charset="2"/>
                  </a:rPr>
                  <a:t> </a:t>
                </a:r>
                <a:endParaRPr lang="ro-RO" sz="1800" dirty="0">
                  <a:sym typeface="Wingdings" panose="05000000000000000000" pitchFamily="2" charset="2"/>
                </a:endParaRP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sym typeface="Wingdings" panose="05000000000000000000" pitchFamily="2" charset="2"/>
                  </a:rPr>
                  <a:t> Reprezentare pe numere întregi, problemă cu date cardinale  resetare aleatoare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sym typeface="Wingdings" panose="05000000000000000000" pitchFamily="2" charset="2"/>
                  </a:rPr>
                  <a:t> Uzual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𝐷𝑖𝑚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∗</m:t>
                            </m:r>
                            <m:r>
                              <a:rPr lang="ro-RO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𝑚</m:t>
                            </m:r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ro-RO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endParaRPr lang="en-US" sz="1800" dirty="0">
                  <a:sym typeface="Wingdings" panose="05000000000000000000" pitchFamily="2" charset="2"/>
                </a:endParaRP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Crossover:</a:t>
                </a:r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Problemă fără constrângeri </a:t>
                </a:r>
                <a:r>
                  <a:rPr lang="ro-RO" sz="1800" dirty="0">
                    <a:sym typeface="Wingdings" panose="05000000000000000000" pitchFamily="2" charset="2"/>
                  </a:rPr>
                  <a:t> schema generală de crossover la nivel de populație: fără constrângeri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sym typeface="Wingdings" panose="05000000000000000000" pitchFamily="2" charset="2"/>
                  </a:rPr>
                  <a:t>Crossover la nivel de pereche de indivizi</a:t>
                </a:r>
                <a:r>
                  <a:rPr lang="en-US" sz="1800" dirty="0">
                    <a:sym typeface="Wingdings" panose="05000000000000000000" pitchFamily="2" charset="2"/>
                  </a:rPr>
                  <a:t> - </a:t>
                </a:r>
                <a:r>
                  <a:rPr lang="ro-RO" sz="1800" dirty="0">
                    <a:sym typeface="Wingdings" panose="05000000000000000000" pitchFamily="2" charset="2"/>
                  </a:rPr>
                  <a:t>eprezentare prin numere întregi  unipunct/multipunct/</a:t>
                </a:r>
                <a:r>
                  <a:rPr lang="ro-RO" sz="1800" b="1" dirty="0">
                    <a:sym typeface="Wingdings" panose="05000000000000000000" pitchFamily="2" charset="2"/>
                  </a:rPr>
                  <a:t>uniform</a:t>
                </a:r>
                <a:endParaRPr lang="ro-RO" sz="1800" dirty="0">
                  <a:sym typeface="Wingdings" panose="05000000000000000000" pitchFamily="2" charset="2"/>
                </a:endParaRPr>
              </a:p>
              <a:p>
                <a:pPr lvl="1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</m:sub>
                    </m:sSub>
                    <m:r>
                      <a:rPr lang="ro-RO" sz="1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=0.6− 0.8</m:t>
                    </m:r>
                  </m:oMath>
                </a14:m>
                <a:endParaRPr lang="ro-RO" sz="18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Model generaționl </a:t>
                </a:r>
                <a:r>
                  <a:rPr lang="ro-RO" sz="1800" dirty="0">
                    <a:sym typeface="Wingdings" panose="05000000000000000000" pitchFamily="2" charset="2"/>
                  </a:rPr>
                  <a:t> include recombinare asexuată (nr. copii=Dim)</a:t>
                </a:r>
                <a:endParaRPr lang="ro-RO" sz="1800" dirty="0"/>
              </a:p>
              <a:p>
                <a:pPr marL="457200" lvl="1" indent="0" algn="just">
                  <a:buNone/>
                </a:pPr>
                <a:endParaRPr lang="en-US" sz="1800" dirty="0">
                  <a:sym typeface="Wingdings" panose="05000000000000000000" pitchFamily="2" charset="2"/>
                </a:endParaRPr>
              </a:p>
              <a:p>
                <a:pPr marL="914400" lvl="2" indent="0" algn="just">
                  <a:buNone/>
                </a:pPr>
                <a:endParaRPr lang="en-US" sz="1800" dirty="0"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endParaRPr lang="ro-RO" sz="20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723900" y="1168006"/>
                <a:ext cx="10629899" cy="4927996"/>
              </a:xfrm>
              <a:blipFill>
                <a:blip r:embed="rId2"/>
                <a:stretch>
                  <a:fillRect l="-402" t="-1733" r="-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070C77A-EC6E-F266-F1C3-2A851CCAE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847"/>
            <a:ext cx="10515600" cy="955159"/>
          </a:xfrm>
        </p:spPr>
        <p:txBody>
          <a:bodyPr>
            <a:normAutofit/>
          </a:bodyPr>
          <a:lstStyle/>
          <a:p>
            <a:r>
              <a:rPr lang="ro-RO" sz="3200" dirty="0"/>
              <a:t>Rezolvare GA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57735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985974"/>
            <a:ext cx="9915524" cy="5538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o-RO" sz="2000" dirty="0"/>
              <a:t>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sym typeface="Wingdings" panose="05000000000000000000" pitchFamily="2" charset="2"/>
              </a:rPr>
              <a:t>Condi</a:t>
            </a:r>
            <a:r>
              <a:rPr lang="ro-RO" sz="1800" dirty="0">
                <a:sym typeface="Wingdings" panose="05000000000000000000" pitchFamily="2" charset="2"/>
              </a:rPr>
              <a:t>ția de terminare</a:t>
            </a:r>
            <a:endParaRPr lang="en-US" sz="1800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Algoritmul este încheiat </a:t>
            </a:r>
          </a:p>
          <a:p>
            <a:pPr lvl="1" algn="just">
              <a:buFont typeface="Wingdings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după un număr maxim de iterații, sau</a:t>
            </a:r>
          </a:p>
          <a:p>
            <a:pPr lvl="1" algn="just">
              <a:buFont typeface="Wingdings" pitchFamily="2" charset="2"/>
              <a:buChar char="q"/>
            </a:pPr>
            <a:endParaRPr lang="ro-RO" sz="1800" dirty="0">
              <a:sym typeface="Wingdings" panose="05000000000000000000" pitchFamily="2" charset="2"/>
            </a:endParaRPr>
          </a:p>
          <a:p>
            <a:pPr lvl="1" algn="just">
              <a:buFont typeface="Wingdings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dacă în populația curentă toți indivizii au aceeași calitate, sau </a:t>
            </a:r>
          </a:p>
          <a:p>
            <a:pPr lvl="1" algn="just">
              <a:buFont typeface="Wingdings" pitchFamily="2" charset="2"/>
              <a:buChar char="q"/>
            </a:pPr>
            <a:endParaRPr lang="ro-RO" sz="1800" dirty="0">
              <a:sym typeface="Wingdings" panose="05000000000000000000" pitchFamily="2" charset="2"/>
            </a:endParaRPr>
          </a:p>
          <a:p>
            <a:pPr lvl="1" algn="just">
              <a:buFont typeface="Wingdings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dacă pe parcursul ultimelor k generații nu a fost îmbunătățită valoarea maximă a funcției calitate</a:t>
            </a:r>
          </a:p>
          <a:p>
            <a:pPr marL="0" indent="0" algn="just">
              <a:buNone/>
            </a:pPr>
            <a:endParaRPr lang="ro-RO" sz="1800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Soluția calculată  cel mai bun individ din populația finală (datorită utilizării elitismului pentru selecția supraviețuitorilor)</a:t>
            </a:r>
          </a:p>
          <a:p>
            <a:pPr marL="0" indent="0" algn="just">
              <a:buNone/>
            </a:pPr>
            <a:endParaRPr lang="ro-RO" sz="20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8300C1-E3A5-5868-9C71-778B1C362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847"/>
            <a:ext cx="10515600" cy="955159"/>
          </a:xfrm>
        </p:spPr>
        <p:txBody>
          <a:bodyPr>
            <a:normAutofit/>
          </a:bodyPr>
          <a:lstStyle/>
          <a:p>
            <a:r>
              <a:rPr lang="ro-RO" sz="3200" dirty="0"/>
              <a:t>Rezolvare GA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5226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508</Words>
  <Application>Microsoft Office PowerPoint</Application>
  <PresentationFormat>Widescreen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Garamond</vt:lpstr>
      <vt:lpstr>Wingdings</vt:lpstr>
      <vt:lpstr>Office Theme</vt:lpstr>
      <vt:lpstr>PowerPoint Presentation</vt:lpstr>
      <vt:lpstr>Rezolvare GA</vt:lpstr>
      <vt:lpstr>Rezolvare GA</vt:lpstr>
      <vt:lpstr>Rezolvare GA</vt:lpstr>
      <vt:lpstr>Rezolvare GA</vt:lpstr>
      <vt:lpstr>Rezolvare GA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Catalina</dc:creator>
  <cp:lastModifiedBy>Catalina</cp:lastModifiedBy>
  <cp:revision>28</cp:revision>
  <dcterms:created xsi:type="dcterms:W3CDTF">2021-04-21T11:48:12Z</dcterms:created>
  <dcterms:modified xsi:type="dcterms:W3CDTF">2025-05-05T07:21:29Z</dcterms:modified>
</cp:coreProperties>
</file>