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sldIdLst>
    <p:sldId id="256" r:id="rId2"/>
    <p:sldId id="343" r:id="rId3"/>
    <p:sldId id="423" r:id="rId4"/>
    <p:sldId id="412" r:id="rId5"/>
    <p:sldId id="337" r:id="rId6"/>
    <p:sldId id="342" r:id="rId7"/>
    <p:sldId id="424" r:id="rId8"/>
    <p:sldId id="413" r:id="rId9"/>
    <p:sldId id="399" r:id="rId10"/>
    <p:sldId id="418" r:id="rId11"/>
    <p:sldId id="400" r:id="rId12"/>
    <p:sldId id="401" r:id="rId13"/>
    <p:sldId id="411" r:id="rId14"/>
    <p:sldId id="417" r:id="rId15"/>
    <p:sldId id="420" r:id="rId16"/>
    <p:sldId id="402" r:id="rId17"/>
    <p:sldId id="426" r:id="rId18"/>
    <p:sldId id="403" r:id="rId19"/>
    <p:sldId id="331" r:id="rId20"/>
    <p:sldId id="332" r:id="rId21"/>
    <p:sldId id="339" r:id="rId22"/>
    <p:sldId id="344" r:id="rId23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alina" initials="C" lastIdx="1" clrIdx="0">
    <p:extLst>
      <p:ext uri="{19B8F6BF-5375-455C-9EA6-DF929625EA0E}">
        <p15:presenceInfo xmlns:p15="http://schemas.microsoft.com/office/powerpoint/2012/main" userId="Catali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>
              <a:shade val="95000"/>
              <a:satMod val="105000"/>
            </a:scrgb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>
              <a:shade val="95000"/>
              <a:satMod val="105000"/>
            </a:scrgb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416812" y="269185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53112" y="2728157"/>
        <a:ext cx="1071404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70400" y="2963473"/>
              </a:moveTo>
              <a:arcTo wR="1487387" hR="1487387" stAng="4975935" swAng="848130"/>
            </a:path>
          </a:pathLst>
        </a:custGeom>
        <a:noFill/>
        <a:ln w="50800" cap="flat" cmpd="sng" algn="ctr">
          <a:solidFill>
            <a:scrgbClr r="0" g="0" b="0">
              <a:shade val="95000"/>
              <a:satMod val="105000"/>
            </a:scrgb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668283" y="269185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4583" y="2728157"/>
        <a:ext cx="1071404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>
              <a:shade val="95000"/>
              <a:satMod val="105000"/>
            </a:scrgb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>
              <a:shade val="95000"/>
              <a:satMod val="105000"/>
            </a:scrgb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98DAC-C47B-4BA7-833B-DE84C85A6A3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56D7D-BAC1-4324-8E3E-C254312ED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1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56D7D-BAC1-4324-8E3E-C254312ED9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3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3295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26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141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6540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0265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83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6725"/>
            <a:ext cx="7772400" cy="2454275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/>
            </a:br>
            <a:r>
              <a:rPr lang="ro-RO" sz="4000" dirty="0">
                <a:effectLst/>
              </a:rPr>
              <a:t>Aplicaţie. Problema planificării activităţilor</a:t>
            </a:r>
            <a:br>
              <a:rPr lang="en-US" sz="4000" dirty="0"/>
            </a:br>
            <a:br>
              <a:rPr lang="it-IT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2011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16CC0E-8600-D23C-A21A-9B088337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100" b="1" dirty="0"/>
              <a:t>GA – Rezolvarea unei probleme</a:t>
            </a:r>
            <a:endParaRPr lang="en-US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4914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6229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707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086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4850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3636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4779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293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2868491" y="4229100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228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1371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2279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1371600" y="5286373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3436694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228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2006705" y="2000250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Cutie </a:t>
            </a:r>
            <a:r>
              <a:rPr lang="en-US" sz="7200" b="1" dirty="0" err="1"/>
              <a:t>neagr</a:t>
            </a:r>
            <a:r>
              <a:rPr lang="ro-RO" sz="7200" b="1" dirty="0"/>
              <a:t>ă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1371050" y="5286375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228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228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1371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74E03814-254F-5D7E-12EF-0575F8BD08CE}"/>
              </a:ext>
            </a:extLst>
          </p:cNvPr>
          <p:cNvGrpSpPr/>
          <p:nvPr/>
        </p:nvGrpSpPr>
        <p:grpSpPr>
          <a:xfrm>
            <a:off x="3314700" y="2686051"/>
            <a:ext cx="4229100" cy="2857499"/>
            <a:chOff x="1295400" y="2209802"/>
            <a:chExt cx="5638800" cy="3809998"/>
          </a:xfrm>
        </p:grpSpPr>
        <p:cxnSp>
          <p:nvCxnSpPr>
            <p:cNvPr id="3" name="Curved Connector 24">
              <a:extLst>
                <a:ext uri="{FF2B5EF4-FFF2-40B4-BE49-F238E27FC236}">
                  <a16:creationId xmlns:a16="http://schemas.microsoft.com/office/drawing/2014/main" id="{E238F23F-13AB-D518-D2FF-00E906D18D3C}"/>
                </a:ext>
              </a:extLst>
            </p:cNvPr>
            <p:cNvCxnSpPr/>
            <p:nvPr/>
          </p:nvCxnSpPr>
          <p:spPr>
            <a:xfrm rot="5400000" flipH="1" flipV="1">
              <a:off x="1156923" y="2348282"/>
              <a:ext cx="3172555" cy="2895596"/>
            </a:xfrm>
            <a:prstGeom prst="curvedConnector3">
              <a:avLst>
                <a:gd name="adj1" fmla="val 77922"/>
              </a:avLst>
            </a:prstGeom>
            <a:ln w="635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53">
              <a:extLst>
                <a:ext uri="{FF2B5EF4-FFF2-40B4-BE49-F238E27FC236}">
                  <a16:creationId xmlns:a16="http://schemas.microsoft.com/office/drawing/2014/main" id="{03EC939E-06DB-C6FF-7C64-457B2E85D56D}"/>
                </a:ext>
              </a:extLst>
            </p:cNvPr>
            <p:cNvCxnSpPr/>
            <p:nvPr/>
          </p:nvCxnSpPr>
          <p:spPr>
            <a:xfrm>
              <a:off x="1295400" y="5430715"/>
              <a:ext cx="3276600" cy="589085"/>
            </a:xfrm>
            <a:prstGeom prst="curvedConnector3">
              <a:avLst>
                <a:gd name="adj1" fmla="val 78488"/>
              </a:avLst>
            </a:prstGeom>
            <a:ln w="635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54">
              <a:extLst>
                <a:ext uri="{FF2B5EF4-FFF2-40B4-BE49-F238E27FC236}">
                  <a16:creationId xmlns:a16="http://schemas.microsoft.com/office/drawing/2014/main" id="{78305AC3-DD10-2335-0522-37BE9CA6D0D9}"/>
                </a:ext>
              </a:extLst>
            </p:cNvPr>
            <p:cNvCxnSpPr/>
            <p:nvPr/>
          </p:nvCxnSpPr>
          <p:spPr>
            <a:xfrm>
              <a:off x="1295400" y="5430715"/>
              <a:ext cx="5638800" cy="589085"/>
            </a:xfrm>
            <a:prstGeom prst="curvedConnector3">
              <a:avLst>
                <a:gd name="adj1" fmla="val 87331"/>
              </a:avLst>
            </a:prstGeom>
            <a:ln w="635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66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858838"/>
          </a:xfrm>
        </p:spPr>
        <p:txBody>
          <a:bodyPr/>
          <a:lstStyle/>
          <a:p>
            <a:pPr lvl="2"/>
            <a:r>
              <a:rPr lang="ro-RO" sz="2600" b="1" dirty="0">
                <a:solidFill>
                  <a:schemeClr val="bg2"/>
                </a:solidFill>
              </a:rPr>
              <a:t>Problema planificării activităţilor de tip sisteme de producţie bazate pe comandă (JSS)</a:t>
            </a:r>
            <a:endParaRPr lang="en-US" sz="26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460500"/>
                <a:ext cx="8229600" cy="47244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b="1" dirty="0"/>
                  <a:t>Datele problemei JSS (Job Shop Scheduling) </a:t>
                </a: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i="1" dirty="0">
                    <a:solidFill>
                      <a:srgbClr val="FF0000"/>
                    </a:solidFill>
                  </a:rPr>
                  <a:t>J</a:t>
                </a:r>
                <a:r>
                  <a:rPr lang="ro-RO" sz="1800" dirty="0"/>
                  <a:t>, un set de </a:t>
                </a:r>
                <a:r>
                  <a:rPr lang="ro-RO" sz="1800" i="1" dirty="0"/>
                  <a:t>n</a:t>
                </a:r>
                <a:r>
                  <a:rPr lang="ro-RO" sz="1800" dirty="0"/>
                  <a:t> sarcini</a:t>
                </a:r>
                <a:r>
                  <a:rPr lang="ro-RO" sz="18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𝐽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𝐽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𝐽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𝐽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;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i="1" dirty="0">
                    <a:solidFill>
                      <a:srgbClr val="FF0000"/>
                    </a:solidFill>
                  </a:rPr>
                  <a:t>O</a:t>
                </a:r>
                <a:r>
                  <a:rPr lang="ro-RO" sz="1800" dirty="0"/>
                  <a:t>, un set de operaţii; </a:t>
                </a: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fiecare sarcină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1≤</m:t>
                    </m:r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𝑛</m:t>
                    </m:r>
                  </m:oMath>
                </a14:m>
                <a:r>
                  <a:rPr lang="ro-RO" sz="1800" dirty="0"/>
                  <a:t>, este constituită dintr-o secvenţă de </a:t>
                </a:r>
                <a:r>
                  <a:rPr lang="ro-RO" sz="1800" i="1" dirty="0"/>
                  <a:t>m </a:t>
                </a:r>
                <a:r>
                  <a:rPr lang="ro-RO" sz="1800" dirty="0"/>
                  <a:t>activităţi (operaţii), </a:t>
                </a:r>
                <a:r>
                  <a:rPr lang="ro-RO" sz="1800" i="1" dirty="0"/>
                  <a:t>m </a:t>
                </a:r>
                <a:r>
                  <a:rPr lang="ro-RO" sz="1800" dirty="0"/>
                  <a:t>independent de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𝑖</m:t>
                    </m:r>
                  </m:oMath>
                </a14:m>
                <a:r>
                  <a:rPr lang="ro-RO" sz="1800" dirty="0"/>
                  <a:t>:</a:t>
                </a:r>
              </a:p>
              <a:p>
                <a:pPr marL="0" lvl="0" indent="0" algn="just">
                  <a:buNone/>
                </a:pPr>
                <a:r>
                  <a:rPr lang="ro-RO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𝑚</m:t>
                            </m:r>
                          </m:sup>
                        </m:sSubSup>
                      </m:e>
                    </m:d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,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e>
                      <m: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</m:sup>
                    </m:sSubSup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, 1≤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𝑗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ro-RO" sz="1800" dirty="0"/>
                  <a:t>;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ro-RO" sz="1800" dirty="0"/>
                  <a:t>;</a:t>
                </a: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i="1" dirty="0">
                    <a:solidFill>
                      <a:srgbClr val="FF0000"/>
                    </a:solidFill>
                  </a:rPr>
                  <a:t>M</a:t>
                </a:r>
                <a:r>
                  <a:rPr lang="ro-RO" sz="1800" dirty="0"/>
                  <a:t>, o mulţime de </a:t>
                </a:r>
                <a:r>
                  <a:rPr lang="ro-RO" sz="1800" i="1" dirty="0"/>
                  <a:t>m</a:t>
                </a:r>
                <a:r>
                  <a:rPr lang="ro-RO" sz="1800" dirty="0"/>
                  <a:t> maşini care execută operaţii din </a:t>
                </a:r>
                <a:r>
                  <a:rPr lang="ro-RO" sz="1800" i="1" dirty="0"/>
                  <a:t>O</a:t>
                </a:r>
                <a:r>
                  <a:rPr lang="ro-RO" sz="1800" dirty="0"/>
                  <a:t>; activităţile fiecărei sarcini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se execută pe câte o maşină din </a:t>
                </a:r>
                <a:r>
                  <a:rPr lang="ro-RO" sz="1800" i="1" dirty="0"/>
                  <a:t>M</a:t>
                </a:r>
                <a:r>
                  <a:rPr lang="ro-RO" sz="1800" dirty="0"/>
                  <a:t> 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cadrul unei sarcini nu există două operaţii care să fie executate pe aceeaşi maşină 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𝑑𝑢𝑟𝑎𝑡𝑒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×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𝑀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ℝ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dirty="0"/>
                  <a:t>o funcţie care asociază fiecărei operaţii o durata de execuţie;  durata efectuării unei operaţii este independentă de planificare 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Observație: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𝑑𝑢𝑟𝑎𝑡𝑒</m:t>
                    </m:r>
                    <m:r>
                      <a:rPr lang="ro-RO" sz="1800" i="1">
                        <a:latin typeface="Cambria Math"/>
                      </a:rPr>
                      <m:t>:</m:t>
                    </m:r>
                    <m:r>
                      <a:rPr lang="ro-RO" sz="1800" i="1">
                        <a:latin typeface="Cambria Math"/>
                      </a:rPr>
                      <m:t>𝑂</m:t>
                    </m:r>
                    <m:r>
                      <a:rPr lang="ro-RO" sz="1800" i="1">
                        <a:latin typeface="Cambria Math"/>
                      </a:rPr>
                      <m:t>→</m:t>
                    </m:r>
                    <m:r>
                      <a:rPr lang="ro-RO" sz="1800" i="1">
                        <a:latin typeface="Cambria Math"/>
                      </a:rPr>
                      <m:t>ℝ</m:t>
                    </m:r>
                  </m:oMath>
                </a14:m>
                <a:r>
                  <a:rPr lang="ro-RO" sz="1800" dirty="0"/>
                  <a:t>, pentru că o operație este executată pe o singură mașină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457200" lvl="1" indent="0" algn="just">
                  <a:buNone/>
                </a:pPr>
                <a:endParaRPr lang="ro-RO" sz="1800" i="1" dirty="0"/>
              </a:p>
              <a:p>
                <a:pPr marL="914400" lvl="2" indent="0" algn="just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460500"/>
                <a:ext cx="8229600" cy="4724400"/>
              </a:xfrm>
              <a:blipFill>
                <a:blip r:embed="rId2"/>
                <a:stretch>
                  <a:fillRect l="-593" t="-7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26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Problema JSS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211763"/>
          </a:xfrm>
        </p:spPr>
        <p:txBody>
          <a:bodyPr/>
          <a:lstStyle/>
          <a:p>
            <a:pPr marL="0" lvl="0" indent="0" algn="just">
              <a:buNone/>
            </a:pPr>
            <a:r>
              <a:rPr lang="ro-RO" sz="1800" b="1" dirty="0"/>
              <a:t>Ipoteze de lucru:</a:t>
            </a: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ro-RO" sz="1800" dirty="0"/>
              <a:t>în cadrul fiecărei sarcini, activităţile respectă o relaţie de precedenţă din punctul de vedere al execuţiei, astfel încât două sau mai multe activităţi nu pot fi executate simultan </a:t>
            </a:r>
            <a:r>
              <a:rPr lang="ro-RO" sz="1800" dirty="0">
                <a:sym typeface="Wingdings" panose="05000000000000000000" pitchFamily="2" charset="2"/>
              </a:rPr>
              <a:t></a:t>
            </a:r>
            <a:r>
              <a:rPr lang="ro-RO" sz="1800" dirty="0"/>
              <a:t> fiecare sarcină este definită de un </a:t>
            </a:r>
            <a:r>
              <a:rPr lang="ro-RO" sz="1800" i="1" dirty="0"/>
              <a:t>set ordonat de operaţii, ordinea fiind predefinită</a:t>
            </a:r>
            <a:r>
              <a:rPr lang="ro-RO" sz="1800" dirty="0"/>
              <a:t>;</a:t>
            </a:r>
            <a:endParaRPr lang="en-US" sz="1800" dirty="0"/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ro-RO" sz="1800" dirty="0"/>
              <a:t>activităţile nu îşi pot întrerupe execuţia; </a:t>
            </a:r>
            <a:endParaRPr lang="en-US" sz="18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la fiecare moment de timp, pe oricare maşină, poate fi executată o singură operaţie.</a:t>
            </a:r>
            <a:endParaRPr lang="ro-RO" sz="1800" i="1" dirty="0"/>
          </a:p>
          <a:p>
            <a:pPr marL="0" indent="0" algn="just">
              <a:buNone/>
            </a:pPr>
            <a:r>
              <a:rPr lang="ro-RO" sz="1800" i="1" dirty="0"/>
              <a:t>Planificarea unei operaţii o</a:t>
            </a:r>
            <a:r>
              <a:rPr lang="ro-RO" sz="1800" dirty="0"/>
              <a:t> revine la a îi aloca un timp de execuţie (pe maşina corespunzătoare lui </a:t>
            </a:r>
            <a:r>
              <a:rPr lang="ro-RO" sz="1800" i="1" dirty="0"/>
              <a:t>o</a:t>
            </a:r>
            <a:r>
              <a:rPr lang="ro-RO" sz="1800" dirty="0"/>
              <a:t>), un plan fiind o colecţie de astfel de alocări cu proprietatea că fiecare operaţie este inclusă cel mult o dată. </a:t>
            </a:r>
          </a:p>
          <a:p>
            <a:pPr marL="0" indent="0" algn="just">
              <a:buNone/>
            </a:pPr>
            <a:r>
              <a:rPr lang="ro-RO" sz="1800" b="1" dirty="0"/>
              <a:t>Cerință</a:t>
            </a:r>
          </a:p>
          <a:p>
            <a:pPr marL="0" indent="0" algn="just">
              <a:buNone/>
            </a:pPr>
            <a:r>
              <a:rPr lang="ro-RO" sz="1800" dirty="0"/>
              <a:t>Problema este de a găsi un plan cu proprietăţile: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/>
              <a:t>completitudine: planul conţine toate operaţiile mulţimii </a:t>
            </a:r>
            <a:r>
              <a:rPr lang="ro-RO" sz="1800" i="1" dirty="0"/>
              <a:t>O</a:t>
            </a:r>
            <a:r>
              <a:rPr lang="ro-RO" sz="1800" dirty="0"/>
              <a:t>;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/>
              <a:t>corectitudine: sunt satisfăcute toate restricţiile impuse prin ordinea de execuţie;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/>
              <a:t>optimalitate: durata totală a planului este minimă.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53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C934D4F-6A84-4803-A16E-54FBE94B13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794115"/>
                  </p:ext>
                </p:extLst>
              </p:nvPr>
            </p:nvGraphicFramePr>
            <p:xfrm>
              <a:off x="4376420" y="949479"/>
              <a:ext cx="4419600" cy="49590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667">
                      <a:extLst>
                        <a:ext uri="{9D8B030D-6E8A-4147-A177-3AD203B41FA5}">
                          <a16:colId xmlns:a16="http://schemas.microsoft.com/office/drawing/2014/main" val="1720949683"/>
                        </a:ext>
                      </a:extLst>
                    </a:gridCol>
                    <a:gridCol w="3515933">
                      <a:extLst>
                        <a:ext uri="{9D8B030D-6E8A-4147-A177-3AD203B41FA5}">
                          <a16:colId xmlns:a16="http://schemas.microsoft.com/office/drawing/2014/main" val="3751872447"/>
                        </a:ext>
                      </a:extLst>
                    </a:gridCol>
                  </a:tblGrid>
                  <a:tr h="95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Sarcini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Operațiile</a:t>
                          </a:r>
                          <a:r>
                            <a:rPr lang="ro-RO" sz="1600" baseline="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(grupate în sarcini)</a:t>
                          </a:r>
                          <a:endParaRPr lang="ro-RO" sz="1600" noProof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Mașinile</a:t>
                          </a:r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pe care se execută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Durata</a:t>
                          </a:r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fiecărei operații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72405"/>
                      </a:ext>
                    </a:extLst>
                  </a:tr>
                  <a:tr h="729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6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1600" noProof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[1,  2, 3, 4, 5, 6, 7]</a:t>
                          </a:r>
                        </a:p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[2,  1, 4, 6, 5, 3, 7]</a:t>
                          </a:r>
                        </a:p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[4, 11, 6, 5, 7, 2, 3]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24025877"/>
                      </a:ext>
                    </a:extLst>
                  </a:tr>
                  <a:tr h="729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6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o-RO" sz="16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1600" noProof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[8, 9, 10, 11, 12, 13, 14]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[4, 1,  2,  3,  7,  6,  5]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[2, 9,  3, 12,  3,  4,  5]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57209175"/>
                      </a:ext>
                    </a:extLst>
                  </a:tr>
                  <a:tr h="729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6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o-RO" sz="16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1600" noProof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[15, 16, 17, 18, 19, 20, 21]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[ 7,  1,  3,  4,  2,  5,  6]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[ 3,  3,  5,  9,  4,  8,  7]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712941713"/>
                      </a:ext>
                    </a:extLst>
                  </a:tr>
                  <a:tr h="729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6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o-RO" sz="16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1600" noProof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[22, 23, 24, 25, 26, 27, 28]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[ 1,  2,  3,  4,  5,  6,  7]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[ 3,  5,  4,  4,  7,  6,  4]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96031432"/>
                      </a:ext>
                    </a:extLst>
                  </a:tr>
                  <a:tr h="729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sz="16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6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o-RO" sz="16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1600" noProof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[29, 30, 31, 32, 33, 34, 35]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[ 7,  5,  3,  4,  2,  1,  6]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[ 9,  4,  7,  4, 15, 11,  3]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93232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C934D4F-6A84-4803-A16E-54FBE94B13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794115"/>
                  </p:ext>
                </p:extLst>
              </p:nvPr>
            </p:nvGraphicFramePr>
            <p:xfrm>
              <a:off x="4376420" y="949479"/>
              <a:ext cx="4419600" cy="49590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667">
                      <a:extLst>
                        <a:ext uri="{9D8B030D-6E8A-4147-A177-3AD203B41FA5}">
                          <a16:colId xmlns:a16="http://schemas.microsoft.com/office/drawing/2014/main" val="1720949683"/>
                        </a:ext>
                      </a:extLst>
                    </a:gridCol>
                    <a:gridCol w="3515933">
                      <a:extLst>
                        <a:ext uri="{9D8B030D-6E8A-4147-A177-3AD203B41FA5}">
                          <a16:colId xmlns:a16="http://schemas.microsoft.com/office/drawing/2014/main" val="3751872447"/>
                        </a:ext>
                      </a:extLst>
                    </a:gridCol>
                  </a:tblGrid>
                  <a:tr h="95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Sarcini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Operațiile</a:t>
                          </a:r>
                          <a:r>
                            <a:rPr lang="ro-RO" sz="1600" baseline="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 (grupate în sarcini)</a:t>
                          </a:r>
                          <a:endParaRPr lang="ro-RO" sz="1600" noProof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Mașinile</a:t>
                          </a:r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pe care se execută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Durata</a:t>
                          </a:r>
                          <a:r>
                            <a:rPr lang="ro-RO" sz="1600" noProof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fiecărei operații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72405"/>
                      </a:ext>
                    </a:extLst>
                  </a:tr>
                  <a:tr h="800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676" t="-123664" r="-393919" b="-4114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[1,  2, 3, 4, 5, 6, 7]</a:t>
                          </a:r>
                        </a:p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[2,  1, 4, 6, 5, 3, 7]</a:t>
                          </a:r>
                        </a:p>
                        <a:p>
                          <a:pPr algn="ctr"/>
                          <a:r>
                            <a:rPr lang="ro-RO" sz="1600" i="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</a:rPr>
                            <a:t>[4, 11, 6, 5, 7, 2, 3]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24025877"/>
                      </a:ext>
                    </a:extLst>
                  </a:tr>
                  <a:tr h="800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676" t="-221970" r="-393919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[8, 9, 10, 11, 12, 13, 14]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[4, 1,  2,  3,  7,  6,  5]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[2, 9,  3, 12,  3,  4,  5]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57209175"/>
                      </a:ext>
                    </a:extLst>
                  </a:tr>
                  <a:tr h="800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676" t="-324427" r="-393919" b="-210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[15, 16, 17, 18, 19, 20, 21]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[ 7,  1,  3,  4,  2,  5,  6]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[ 3,  3,  5,  9,  4,  8,  7]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712941713"/>
                      </a:ext>
                    </a:extLst>
                  </a:tr>
                  <a:tr h="800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676" t="-421212" r="-393919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[22, 23, 24, 25, 26, 27, 28]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[ 1,  2,  3,  4,  5,  6,  7]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[ 3,  5,  4,  4,  7,  6,  4]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96031432"/>
                      </a:ext>
                    </a:extLst>
                  </a:tr>
                  <a:tr h="800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676" t="-525191" r="-393919" b="-99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[29, 30, 31, 32, 33, 34, 35]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00CC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[ 7,  5,  3,  4,  2,  1,  6]</a:t>
                          </a:r>
                        </a:p>
                        <a:p>
                          <a:pPr algn="ctr"/>
                          <a:r>
                            <a:rPr lang="ro-RO" sz="1600" noProof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[ 9,  4,  7,  4, 15, 11,  3]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932329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40546C-C132-D451-8EF7-6FCE4CBC7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8716"/>
                <a:ext cx="8915400" cy="4972634"/>
              </a:xfrm>
            </p:spPr>
            <p:txBody>
              <a:bodyPr/>
              <a:lstStyle/>
              <a:p>
                <a:pPr marL="0" indent="0" algn="just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lang="ro-RO" sz="1600" b="1" i="1" dirty="0"/>
                  <a:t>Exemplu de date inițiale</a:t>
                </a: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:r>
                  <a:rPr lang="ro-RO" sz="1600" dirty="0"/>
                  <a:t>Pentru </a:t>
                </a:r>
                <a:r>
                  <a:rPr lang="ro-RO" sz="1600" b="1" dirty="0">
                    <a:solidFill>
                      <a:srgbClr val="0000FF"/>
                    </a:solidFill>
                  </a:rPr>
                  <a:t>n=5</a:t>
                </a:r>
                <a:r>
                  <a:rPr lang="ro-RO" sz="1600" dirty="0"/>
                  <a:t> sarcini și </a:t>
                </a:r>
                <a:r>
                  <a:rPr lang="ro-RO" sz="1600" b="1" dirty="0">
                    <a:solidFill>
                      <a:srgbClr val="0000FF"/>
                    </a:solidFill>
                  </a:rPr>
                  <a:t>m=7</a:t>
                </a:r>
                <a:r>
                  <a:rPr lang="ro-RO" sz="1600" dirty="0"/>
                  <a:t> mașini </a:t>
                </a:r>
                <a:endParaRPr lang="ro-RO" sz="16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3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4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bSup>
                      </m:e>
                    </m:d>
                  </m:oMath>
                </a14:m>
                <a:endParaRPr lang="ro-RO" sz="1600" i="1" dirty="0">
                  <a:latin typeface="Cambria Math"/>
                </a:endParaRP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3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4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bSup>
                      </m:e>
                    </m:d>
                    <m:r>
                      <a:rPr lang="ro-RO" sz="1600" i="1">
                        <a:latin typeface="Cambria Math"/>
                      </a:rPr>
                      <m:t>,</m:t>
                    </m:r>
                  </m:oMath>
                </a14:m>
                <a:endParaRPr lang="ro-RO" sz="16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o-RO" sz="1600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ro-RO" sz="16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3</m:t>
                            </m:r>
                          </m:sup>
                        </m:sSubSup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/>
                              </a:rPr>
                              <m:t>4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ro-RO" sz="1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bSup>
                      </m:e>
                    </m:d>
                  </m:oMath>
                </a14:m>
                <a:endParaRPr lang="en-US" sz="1600" dirty="0"/>
              </a:p>
              <a:p>
                <a:pPr lvl="1"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:endParaRPr lang="ro-RO" sz="1600" dirty="0"/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:r>
                  <a:rPr lang="ro-RO" sz="1600" dirty="0"/>
                  <a:t>Operațiile pot fi numerotate secvențial </a:t>
                </a: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</a:rPr>
                          <m:t>1,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2,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3,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4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 5, 6, 7</m:t>
                        </m:r>
                        <m:r>
                          <a:rPr lang="ro-RO" sz="1600" i="1">
                            <a:latin typeface="Cambria Math"/>
                          </a:rPr>
                          <m:t>=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e>
                    </m:d>
                  </m:oMath>
                </a14:m>
                <a:endParaRPr lang="ro-RO" sz="1600" i="1" dirty="0">
                  <a:latin typeface="Cambria Math"/>
                </a:endParaRP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9</m:t>
                        </m:r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10</m:t>
                        </m:r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 11, 1</m:t>
                        </m:r>
                        <m:r>
                          <a:rPr lang="ro-RO" sz="1600" i="1">
                            <a:latin typeface="Cambria Math"/>
                          </a:rPr>
                          <m:t>2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, 13, 14=7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e>
                    </m:d>
                  </m:oMath>
                </a14:m>
                <a:endParaRPr lang="ro-RO" sz="1600" i="1" dirty="0"/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:r>
                  <a:rPr lang="ro-RO" sz="1600" i="1" dirty="0"/>
                  <a:t>…</a:t>
                </a:r>
              </a:p>
              <a:p>
                <a:pPr algn="just">
                  <a:spcBef>
                    <a:spcPts val="450"/>
                  </a:spcBef>
                  <a:spcAft>
                    <a:spcPts val="45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 </m:t>
                        </m:r>
                        <m:r>
                          <a:rPr lang="ro-RO" sz="16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29, 30, 31, 32, 33, 34, 35</m:t>
                        </m:r>
                        <m:r>
                          <a:rPr lang="ro-RO" sz="1600" i="1">
                            <a:latin typeface="Cambria Math"/>
                          </a:rPr>
                          <m:t>=</m:t>
                        </m:r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  <m:t>5</m:t>
                        </m:r>
                      </m:e>
                    </m:d>
                  </m:oMath>
                </a14:m>
                <a:endParaRPr lang="ro-RO" sz="16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40546C-C132-D451-8EF7-6FCE4CBC7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8716"/>
                <a:ext cx="8915400" cy="4972634"/>
              </a:xfrm>
              <a:blipFill>
                <a:blip r:embed="rId3"/>
                <a:stretch>
                  <a:fillRect l="-410" t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8CD211E5-C3C3-D4B9-8CA2-ADD4DD961918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Problema JSS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32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21C20-6518-16B5-341C-95F68BD0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16" y="1447162"/>
            <a:ext cx="8371268" cy="4015226"/>
          </a:xfrm>
        </p:spPr>
        <p:txBody>
          <a:bodyPr/>
          <a:lstStyle/>
          <a:p>
            <a:pPr marL="0" indent="0">
              <a:buNone/>
            </a:pPr>
            <a:r>
              <a:rPr lang="ro-RO" b="1" dirty="0"/>
              <a:t>Rezultat dorit</a:t>
            </a:r>
            <a:endParaRPr lang="en-US" b="1" dirty="0"/>
          </a:p>
        </p:txBody>
      </p:sp>
      <p:sp>
        <p:nvSpPr>
          <p:cNvPr id="31" name="Content Placeholder 6"/>
          <p:cNvSpPr txBox="1">
            <a:spLocks/>
          </p:cNvSpPr>
          <p:nvPr/>
        </p:nvSpPr>
        <p:spPr bwMode="auto">
          <a:xfrm>
            <a:off x="1066800" y="1921549"/>
            <a:ext cx="6832949" cy="3561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8" tIns="68580" rIns="68580" bIns="3429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9297" indent="0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ro-RO" sz="1600" b="1" dirty="0">
                <a:latin typeface="Arial" panose="020B0604020202020204" pitchFamily="34" charset="0"/>
                <a:cs typeface="Arial" panose="020B0604020202020204" pitchFamily="34" charset="0"/>
              </a:rPr>
              <a:t>Graficul </a:t>
            </a:r>
            <a:r>
              <a:rPr lang="ro-RO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Gantt</a:t>
            </a:r>
            <a:endParaRPr lang="ro-RO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endParaRPr lang="ro-RO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r>
              <a:rPr lang="ro-RO" sz="135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9CCFC3-BCDD-4D48-A843-8DD6593AE7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6" t="6297" r="9052" b="786"/>
          <a:stretch/>
        </p:blipFill>
        <p:spPr>
          <a:xfrm>
            <a:off x="783956" y="2209800"/>
            <a:ext cx="7572568" cy="4080196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E0E9BE-E330-FF16-91C2-3BA37E8F6D0F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568004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Problema JSS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70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i="1" dirty="0"/>
                  <a:t>Corespondenţa fenotip-genotip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Ipoteză: în fiecare sarcină ordinea efectuării operaţiilor este de la cea etichetată cu valoarea minima, crescător până la ultima operaţie.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unui genotip: </a:t>
                </a:r>
                <a:r>
                  <a:rPr lang="ro-RO" sz="1800" dirty="0">
                    <a:solidFill>
                      <a:srgbClr val="FF0000"/>
                    </a:solidFill>
                  </a:rPr>
                  <a:t>rezultatul concatenării a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m </a:t>
                </a:r>
                <a:r>
                  <a:rPr lang="ro-RO" sz="1800" dirty="0">
                    <a:solidFill>
                      <a:srgbClr val="FF0000"/>
                    </a:solidFill>
                  </a:rPr>
                  <a:t>permutări cu câte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n</a:t>
                </a:r>
                <a:r>
                  <a:rPr lang="ro-RO" sz="1800" dirty="0">
                    <a:solidFill>
                      <a:srgbClr val="FF0000"/>
                    </a:solidFill>
                  </a:rPr>
                  <a:t> elemente</a:t>
                </a:r>
                <a:r>
                  <a:rPr lang="ro-RO" sz="1800" dirty="0"/>
                  <a:t>, câte o permutare cu </a:t>
                </a:r>
                <a:r>
                  <a:rPr lang="ro-RO" sz="1800" i="1" dirty="0"/>
                  <a:t>n</a:t>
                </a:r>
                <a:r>
                  <a:rPr lang="ro-RO" sz="1800" dirty="0"/>
                  <a:t> elemente pentru fiecare mașină </a:t>
                </a:r>
                <a:r>
                  <a:rPr lang="ro-RO" sz="1800" dirty="0">
                    <a:sym typeface="Wingdings" panose="05000000000000000000" pitchFamily="2" charset="2"/>
                  </a:rPr>
                  <a:t> </a:t>
                </a:r>
                <a:r>
                  <a:rPr lang="ro-RO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fiecare permutare constituie ordinea de analizare a operațiilor din cele </a:t>
                </a:r>
                <a:r>
                  <a:rPr lang="ro-RO" sz="1800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</a:t>
                </a:r>
                <a:r>
                  <a:rPr lang="ro-RO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sarcini</a:t>
                </a:r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fiecare mașină </a:t>
                </a:r>
                <a:r>
                  <a:rPr lang="ro-RO" sz="1800" i="1" dirty="0"/>
                  <a:t>j</a:t>
                </a:r>
                <a:r>
                  <a:rPr lang="ro-RO" sz="1800" dirty="0"/>
                  <a:t>, permutarea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corespunde ordinii 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de analizare a operaţiilor în scopul planificării lor</a:t>
                </a:r>
                <a:r>
                  <a:rPr lang="ro-RO" sz="1800" dirty="0"/>
                  <a:t> şi are corespondent într-un plan pe mașina </a:t>
                </a:r>
                <a:r>
                  <a:rPr lang="ro-RO" sz="1800" i="1" dirty="0"/>
                  <a:t>j</a:t>
                </a:r>
                <a:r>
                  <a:rPr lang="ro-RO" sz="1800" dirty="0"/>
                  <a:t> (secvență din fenotip) care constă în programarea fiecărei operaţii conform unei analize effectuate pentru verificarea tuturor constrângerilor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638800"/>
              </a:xfrm>
              <a:blipFill>
                <a:blip r:embed="rId2"/>
                <a:stretch>
                  <a:fillRect l="-593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7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4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i="1" dirty="0"/>
                  <a:t>Corespondenţa fenotip-genotip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fiecare mașină </a:t>
                </a:r>
                <a:r>
                  <a:rPr lang="ro-RO" sz="1800" i="1" dirty="0"/>
                  <a:t>j, </a:t>
                </a:r>
                <a14:m>
                  <m:oMath xmlns:m="http://schemas.openxmlformats.org/officeDocument/2006/math">
                    <m:r>
                      <a:rPr lang="ro-RO" sz="1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o-RO" sz="1800" dirty="0"/>
                  <a:t>, fie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permutarea - secvență din genotip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asocierea unui plan,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activitățile sunt considerate in ordinea sarcinilor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Algoritmul generic: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     Pentru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1800" i="1">
                        <a:latin typeface="Cambria Math"/>
                      </a:rPr>
                      <m:t>=1,…,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	Pentru fiecare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ro-RO" sz="1800" dirty="0"/>
              </a:p>
              <a:p>
                <a:pPr lvl="3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𝑜𝑐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𝑜𝑝𝑒𝑟𝑎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ț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𝑖𝑎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𝑐𝑜𝑟𝑒𝑠𝑝𝑢𝑛𝑧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ă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𝑡𝑜𝑎𝑟𝑒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ro-RO" sz="1800" dirty="0"/>
                  <a:t>;</a:t>
                </a:r>
              </a:p>
              <a:p>
                <a:pPr lvl="3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determină maşina pe care este executată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𝑜𝑐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𝑜𝑐</m:t>
                        </m:r>
                      </m:sub>
                    </m:sSub>
                  </m:oMath>
                </a14:m>
                <a:r>
                  <a:rPr lang="ro-RO" sz="1800" dirty="0"/>
                  <a:t>;</a:t>
                </a:r>
              </a:p>
              <a:p>
                <a:pPr lvl="3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asignează timpul de start minim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𝑜𝑐</m:t>
                        </m:r>
                      </m:sub>
                    </m:sSub>
                  </m:oMath>
                </a14:m>
                <a:r>
                  <a:rPr lang="ro-RO" sz="1800" dirty="0"/>
                  <a:t>, ţinând cont de ocuparea maşinii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𝑜𝑐</m:t>
                        </m:r>
                      </m:sub>
                    </m:sSub>
                  </m:oMath>
                </a14:m>
                <a:r>
                  <a:rPr lang="ro-RO" sz="1800" dirty="0"/>
                  <a:t> şi relaţiile de precedenţă pe care trebuie să le respecte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𝑜𝑐</m:t>
                    </m:r>
                  </m:oMath>
                </a14:m>
                <a:r>
                  <a:rPr lang="ro-RO" sz="1800" dirty="0"/>
                  <a:t> relativ la operaţiile din cadrul sarcinii din care face parte şi care au fost deja planificate.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  <a:blipFill>
                <a:blip r:embed="rId2"/>
                <a:stretch>
                  <a:fillRect l="-593" t="-703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7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4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i="1" dirty="0"/>
                  <a:t>Variantă de rezolvare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i="1" dirty="0"/>
                  <a:t>Asocierea genotip (vector rezultat prin concatenare de m permutări) </a:t>
                </a:r>
              </a:p>
              <a:p>
                <a:pPr marL="0" indent="0">
                  <a:buNone/>
                </a:pPr>
                <a:r>
                  <a:rPr lang="ro-RO" sz="1800" i="1" dirty="0">
                    <a:sym typeface="Wingdings" panose="05000000000000000000" pitchFamily="2" charset="2"/>
                  </a:rPr>
                  <a:t>   </a:t>
                </a:r>
                <a:r>
                  <a:rPr lang="ro-RO" sz="1800" i="1" dirty="0"/>
                  <a:t> plan fezabil(fenotip)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Variantă de rezolvare: pentru fiecare mașină </a:t>
                </a:r>
                <a:r>
                  <a:rPr lang="ro-RO" sz="1800" i="1" dirty="0"/>
                  <a:t>j, </a:t>
                </a:r>
                <a14:m>
                  <m:oMath xmlns:m="http://schemas.openxmlformats.org/officeDocument/2006/math">
                    <m:r>
                      <a:rPr lang="ro-RO" sz="1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o-RO" sz="1800" dirty="0"/>
                  <a:t>, fie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secvența corespunzătoare din genotip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Presupunem că pentru </a:t>
                </a:r>
                <a14:m>
                  <m:oMath xmlns:m="http://schemas.openxmlformats.org/officeDocument/2006/math">
                    <m:r>
                      <a:rPr lang="ro-RO" sz="1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ro-RO" sz="1800" i="1" dirty="0"/>
              </a:p>
              <a:p>
                <a:pPr marL="0" indent="0" algn="just">
                  <a:buNone/>
                </a:pPr>
                <a:r>
                  <a:rPr lang="ro-RO" sz="18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𝑜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𝑚</m:t>
                            </m:r>
                          </m:sup>
                        </m:sSubSup>
                      </m:e>
                    </m:d>
                    <m:r>
                      <a:rPr lang="ro-RO" sz="1800" i="1">
                        <a:latin typeface="Cambria Math"/>
                      </a:rPr>
                      <m:t>↔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+1,…,</m:t>
                        </m:r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 marL="0" indent="0" algn="just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şi aceasta este şi ordinea de efectuare a operaţiilor </a:t>
                </a:r>
                <a:r>
                  <a:rPr lang="ro-RO" sz="1800" dirty="0"/>
                  <a:t>(relația de precedenţă). 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Fiecare operaţie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, 1≤</m:t>
                    </m:r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, 1≤</m:t>
                    </m:r>
                    <m:r>
                      <a:rPr lang="ro-RO" sz="1800" i="1">
                        <a:latin typeface="Cambria Math"/>
                      </a:rPr>
                      <m:t>𝑗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</m:oMath>
                </a14:m>
                <a:r>
                  <a:rPr lang="ro-RO" sz="1800" dirty="0"/>
                  <a:t> este codificată prin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∗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  <m:r>
                      <a:rPr lang="ro-RO" sz="1800" i="1">
                        <a:latin typeface="Cambria Math"/>
                      </a:rPr>
                      <m:t>+</m:t>
                    </m:r>
                    <m:r>
                      <a:rPr lang="ro-RO" sz="1800" i="1">
                        <a:latin typeface="Cambria Math"/>
                      </a:rPr>
                      <m:t>𝑗</m:t>
                    </m:r>
                  </m:oMath>
                </a14:m>
                <a:r>
                  <a:rPr lang="ro-RO" sz="1800" dirty="0"/>
                  <a:t>.</a:t>
                </a:r>
              </a:p>
              <a:p>
                <a:pPr marL="0" indent="0" algn="just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4953000"/>
              </a:xfrm>
              <a:blipFill>
                <a:blip r:embed="rId2"/>
                <a:stretch>
                  <a:fillRect l="-593" t="-739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1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4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9436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Fiecărei permutări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asociată mașinii </a:t>
                </a:r>
                <a:r>
                  <a:rPr lang="ro-RO" sz="1800" i="1" dirty="0"/>
                  <a:t>j,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o-RO" sz="1800" dirty="0"/>
                  <a:t>, secvență din genotip, îi corespunde mulțimea operațiilor care se execute pe </a:t>
                </a:r>
                <a:r>
                  <a:rPr lang="ro-RO" sz="1800" i="1" dirty="0"/>
                  <a:t>j</a:t>
                </a:r>
                <a:r>
                  <a:rPr lang="ro-RO" sz="1800" dirty="0"/>
                  <a:t> și o matrice (secvență din fenotip), </a:t>
                </a:r>
                <a:r>
                  <a:rPr lang="ro-RO" sz="1800" i="1" dirty="0"/>
                  <a:t>plan_masina(j)</a:t>
                </a:r>
                <a:r>
                  <a:rPr lang="ro-RO" sz="1800" dirty="0"/>
                  <a:t>,  care specific planificarea pe mașina </a:t>
                </a:r>
                <a:r>
                  <a:rPr lang="ro-RO" sz="1800" i="1" dirty="0"/>
                  <a:t>j, </a:t>
                </a:r>
                <a:r>
                  <a:rPr lang="ro-RO" sz="1800" dirty="0"/>
                  <a:t>cu linii </a:t>
                </a:r>
              </a:p>
              <a:p>
                <a:pPr marL="0" indent="0" algn="ctr">
                  <a:buNone/>
                </a:pPr>
                <a:endParaRPr lang="ro-RO" sz="1800" dirty="0"/>
              </a:p>
              <a:p>
                <a:pPr marL="0" indent="0" algn="ctr">
                  <a:buNone/>
                </a:pPr>
                <a:r>
                  <a:rPr lang="ro-RO" sz="1800" dirty="0"/>
                  <a:t>(operația executată, timp început, timp sfârșit)</a:t>
                </a: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plan</a:t>
                </a:r>
                <a:r>
                  <a:rPr lang="ro-RO" sz="1800" dirty="0"/>
                  <a:t> - vector cu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∗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</m:oMath>
                </a14:m>
                <a:r>
                  <a:rPr lang="ro-RO" sz="1800" dirty="0"/>
                  <a:t>  valori, pentru orice activitate i, plan(i) este momentul de început al execuției lui i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Este utilizat un vector binar pentru marcarea execuției fiecărei operații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Iniţial, planifică toate operaţiile de la momentul 0 şi marchează fiecare activitate ca neexecutată (0). 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943600"/>
              </a:xfrm>
              <a:blipFill>
                <a:blip r:embed="rId2"/>
                <a:stretch>
                  <a:fillRect l="-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0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99084"/>
            <a:ext cx="8839200" cy="1196976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Algoritm - stabilirea asocierii genotip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ro-RO" sz="2800" b="1" dirty="0">
                <a:solidFill>
                  <a:schemeClr val="bg2"/>
                </a:solidFill>
              </a:rPr>
              <a:t>fenotip</a:t>
            </a:r>
            <a:br>
              <a:rPr lang="ro-RO" sz="2800" b="1" dirty="0"/>
            </a:br>
            <a:endParaRPr lang="ro-RO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i="1" dirty="0"/>
                  <a:t>Cât timp nu au fost planificate toate activităţile</a:t>
                </a:r>
              </a:p>
              <a:p>
                <a:pPr marL="400050" lvl="1" indent="0">
                  <a:buNone/>
                </a:pPr>
                <a:r>
                  <a:rPr lang="ro-RO" sz="1400" dirty="0"/>
                  <a:t> </a:t>
                </a:r>
                <a:r>
                  <a:rPr lang="ro-RO" sz="1800" i="1" dirty="0"/>
                  <a:t>Pentru  i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=1,…,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o-RO" sz="1800" i="1" dirty="0"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:r>
                  <a:rPr lang="ro-RO" sz="1800" i="1" dirty="0"/>
                  <a:t>	Pentru  j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=1,…,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o-RO" sz="1800" i="1" dirty="0"/>
              </a:p>
              <a:p>
                <a:pPr marL="400050" lvl="1" indent="0">
                  <a:buNone/>
                </a:pPr>
                <a:r>
                  <a:rPr lang="ro-RO" sz="1800" i="1" dirty="0"/>
                  <a:t>		execută Pas1-Pas5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marL="400050" lvl="1" indent="0">
                  <a:buNone/>
                </a:pPr>
                <a:r>
                  <a:rPr lang="ro-RO" sz="1800" dirty="0"/>
                  <a:t>Pas 1. </a:t>
                </a:r>
                <a:r>
                  <a:rPr lang="ro-RO" sz="1800" dirty="0">
                    <a:solidFill>
                      <a:srgbClr val="FF0000"/>
                    </a:solidFill>
                  </a:rPr>
                  <a:t>Determină sarcina, lista predecesorilor și lista succesorilor: </a:t>
                </a:r>
              </a:p>
              <a:p>
                <a:pPr marL="400050" lvl="1" indent="0">
                  <a:buNone/>
                </a:pPr>
                <a:r>
                  <a:rPr lang="ro-RO" sz="1800" dirty="0"/>
                  <a:t>Fie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𝑜𝑝𝑒𝑟𝑎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ț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𝑖𝑎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𝑐𝑜𝑟𝑒𝑠𝑝𝑢𝑛𝑧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ă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𝑡𝑜𝑎𝑟𝑒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𝑙𝑢𝑖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o-RO" sz="1800" dirty="0"/>
                  <a:t> neplanificată; calculează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𝑝𝑟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dirty="0"/>
                  <a:t>lista operațiilor care preced </a:t>
                </a:r>
                <a:r>
                  <a:rPr lang="ro-RO" sz="1800" i="1" dirty="0"/>
                  <a:t>o</a:t>
                </a:r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𝑠𝑢𝑐𝑐</m:t>
                    </m:r>
                  </m:oMath>
                </a14:m>
                <a:r>
                  <a:rPr lang="ro-RO" sz="1800" dirty="0"/>
                  <a:t> lista operațiilor care succed </a:t>
                </a:r>
                <a:r>
                  <a:rPr lang="ro-RO" sz="1800" i="1" dirty="0"/>
                  <a:t>o</a:t>
                </a:r>
                <a:r>
                  <a:rPr lang="ro-RO" sz="1800" dirty="0"/>
                  <a:t> astfel:</a:t>
                </a:r>
              </a:p>
              <a:p>
                <a:pPr lvl="1"/>
                <a:r>
                  <a:rPr lang="ro-RO" sz="1800" dirty="0"/>
                  <a:t>calculează c, r (sarcina și al câtelea element este): 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𝑐</m:t>
                    </m:r>
                    <m:r>
                      <a:rPr lang="ro-RO" sz="1800" i="1">
                        <a:latin typeface="Cambria Math"/>
                      </a:rPr>
                      <m:t>∗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  <m:r>
                      <a:rPr lang="ro-RO" sz="1800" i="1">
                        <a:latin typeface="Cambria Math"/>
                      </a:rPr>
                      <m:t>+</m:t>
                    </m:r>
                    <m:r>
                      <a:rPr lang="ro-RO" sz="1800" i="1">
                        <a:latin typeface="Cambria Math"/>
                      </a:rPr>
                      <m:t>𝑟</m:t>
                    </m:r>
                  </m:oMath>
                </a14:m>
                <a:endParaRPr lang="ro-RO" sz="1800" dirty="0"/>
              </a:p>
              <a:p>
                <a:pPr lvl="1"/>
                <a:r>
                  <a:rPr lang="ro-RO" sz="1800" dirty="0"/>
                  <a:t>dacă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𝑟</m:t>
                    </m:r>
                    <m:r>
                      <a:rPr lang="ro-RO" sz="1800" i="1">
                        <a:latin typeface="Cambria Math"/>
                      </a:rPr>
                      <m:t>≠0 , </m:t>
                    </m:r>
                    <m:r>
                      <a:rPr lang="ro-RO" sz="1800" i="1">
                        <a:latin typeface="Cambria Math"/>
                      </a:rPr>
                      <m:t>𝑜</m:t>
                    </m:r>
                  </m:oMath>
                </a14:m>
                <a:r>
                  <a:rPr lang="ro-RO" sz="1800" dirty="0"/>
                  <a:t> face parte din sarcina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ro-RO" sz="1800" dirty="0"/>
                  <a:t> şi este pe poziţia </a:t>
                </a:r>
                <a:r>
                  <a:rPr lang="ro-RO" sz="1800" i="1" dirty="0"/>
                  <a:t>r</a:t>
                </a:r>
                <a:r>
                  <a:rPr lang="ro-RO" sz="1800" dirty="0"/>
                  <a:t> în aceasta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    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𝑝𝑟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+1,…,</m:t>
                        </m:r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+</m:t>
                        </m:r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ro-RO" sz="18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ro-RO" sz="1800" i="1">
                        <a:latin typeface="Cambria Math"/>
                      </a:rPr>
                      <m:t>𝑠𝑢𝑐𝑐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+</m:t>
                        </m:r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  <m:r>
                          <a:rPr lang="ro-RO" sz="1800" i="1">
                            <a:latin typeface="Cambria Math"/>
                          </a:rPr>
                          <m:t>+1,…,</m:t>
                        </m:r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+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ro-RO" sz="1800" dirty="0"/>
              </a:p>
              <a:p>
                <a:pPr marL="457200" lvl="1" indent="0">
                  <a:buNone/>
                </a:pPr>
                <a:r>
                  <a:rPr lang="ro-RO" sz="1800" dirty="0"/>
                  <a:t>     dacă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𝑟</m:t>
                    </m:r>
                    <m:r>
                      <a:rPr lang="ro-RO" sz="1800" i="1">
                        <a:latin typeface="Cambria Math"/>
                      </a:rPr>
                      <m:t>=1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𝑝𝑟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ro-RO" sz="1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: primul element nu are predecesor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altfel </a:t>
                </a:r>
                <a:r>
                  <a:rPr lang="ro-RO" sz="1800" i="1" dirty="0"/>
                  <a:t>o</a:t>
                </a:r>
                <a:r>
                  <a:rPr lang="ro-RO" sz="1800" dirty="0"/>
                  <a:t> este ultimul element al sarcinii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ro-RO" sz="1800" dirty="0"/>
                  <a:t> şi 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    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𝑝𝑟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𝑐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b="0" i="1" smtClean="0">
                            <a:latin typeface="Cambria Math"/>
                          </a:rPr>
                          <m:t>+1</m:t>
                        </m:r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𝑐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</a:rPr>
                          <m:t>∗</m:t>
                        </m:r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  <m:r>
                          <a:rPr lang="ro-RO" sz="1800" b="0" i="1" smtClean="0">
                            <a:latin typeface="Cambria Math"/>
                          </a:rPr>
                          <m:t>+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𝑚</m:t>
                        </m:r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ro-RO" sz="1800" dirty="0"/>
              </a:p>
              <a:p>
                <a:pPr marL="457200" lvl="1" indent="0">
                  <a:buNone/>
                </a:pPr>
                <a:r>
                  <a:rPr lang="ro-RO" sz="1800" dirty="0"/>
                  <a:t>    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𝑠𝑢𝑐𝑐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867400"/>
              </a:xfrm>
              <a:blipFill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50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</p:spPr>
            <p:txBody>
              <a:bodyPr/>
              <a:lstStyle/>
              <a:p>
                <a:pPr marL="400050" lvl="1" indent="0" algn="just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Pas2 – Pas5: Planificarea operației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𝑜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</m:e>
                    </m:d>
                  </m:oMath>
                </a14:m>
                <a:r>
                  <a:rPr lang="ro-RO" sz="1800" dirty="0"/>
                  <a:t> - timpul de start</a:t>
                </a:r>
              </a:p>
              <a:p>
                <a:pPr marL="40005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dirty="0"/>
                  <a:t>Pas2.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Analiza operațiilor predecesor: 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pentru fiecare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𝑜𝑝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𝑝𝑟</m:t>
                    </m:r>
                  </m:oMath>
                </a14:m>
                <a:endParaRPr lang="ro-RO" sz="1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ro-RO" sz="1800" dirty="0">
                    <a:solidFill>
                      <a:srgbClr val="FF0000"/>
                    </a:solidFill>
                  </a:rPr>
                  <a:t>dacă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>
                    <a:solidFill>
                      <a:srgbClr val="FF0000"/>
                    </a:solidFill>
                  </a:rPr>
                  <a:t> a fost executată, timpul de început al execuţiei operaţiei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</a:t>
                </a:r>
                <a:r>
                  <a:rPr lang="ro-RO" sz="1800" dirty="0">
                    <a:solidFill>
                      <a:srgbClr val="FF0000"/>
                    </a:solidFill>
                  </a:rPr>
                  <a:t> trebuie sa fie setat după timpul de sfârşit al lui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/>
                  <a:t>: dacă o este planificată înainte ca op să se fi încheiat, adică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&lt;</m:t>
                    </m:r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𝑜𝑝</m:t>
                        </m:r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sz="1800" i="1">
                        <a:latin typeface="Cambria Math"/>
                      </a:rPr>
                      <m:t>𝑑𝑢𝑟𝑎𝑡𝑒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𝑜𝑝</m:t>
                        </m:r>
                      </m:e>
                    </m:d>
                  </m:oMath>
                </a14:m>
                <a:r>
                  <a:rPr lang="ro-RO" sz="1800" dirty="0"/>
                  <a:t>, este resetat timpul de început cu timpul de sfârşit al lui </a:t>
                </a:r>
                <a:r>
                  <a:rPr lang="ro-RO" sz="1800" i="1" dirty="0"/>
                  <a:t>op</a:t>
                </a:r>
                <a:r>
                  <a:rPr lang="ro-RO" sz="1800" dirty="0"/>
                  <a:t>: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𝑜𝑝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+</m:t>
                    </m:r>
                    <m:r>
                      <a:rPr lang="ro-RO" sz="1800" i="1">
                        <a:latin typeface="Cambria Math"/>
                      </a:rPr>
                      <m:t>𝑑𝑢𝑟𝑎𝑡𝑒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𝑜𝑝</m:t>
                        </m:r>
                      </m:e>
                    </m:d>
                  </m:oMath>
                </a14:m>
                <a:r>
                  <a:rPr lang="ro-RO" sz="1800" dirty="0"/>
                  <a:t>);</a:t>
                </a:r>
              </a:p>
              <a:p>
                <a:pPr marL="45720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dirty="0"/>
                  <a:t>Pas3.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Analiza disponibilității mașinii 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fie plan</a:t>
                </a:r>
                <a:r>
                  <a:rPr lang="ro-RO" sz="1800" i="1" dirty="0"/>
                  <a:t>(o</a:t>
                </a:r>
                <a:r>
                  <a:rPr lang="ro-RO" sz="1800" dirty="0"/>
                  <a:t>) timpul de start calculat până la acest moment; </a:t>
                </a:r>
                <a:r>
                  <a:rPr lang="ro-RO" sz="1800" dirty="0">
                    <a:solidFill>
                      <a:srgbClr val="FF0000"/>
                    </a:solidFill>
                  </a:rPr>
                  <a:t>dacă maşina pe care trebuie să se execute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 o</a:t>
                </a:r>
                <a:r>
                  <a:rPr lang="ro-RO" sz="1800" dirty="0">
                    <a:solidFill>
                      <a:srgbClr val="FF0000"/>
                    </a:solidFill>
                  </a:rPr>
                  <a:t> nu este liberă, adică există un interval planificat pentru o altă activitate care se intersectează cu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𝑝𝑙𝑎𝑛</m:t>
                        </m:r>
                        <m:d>
                          <m:d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</m:d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𝑝𝑙𝑎𝑛</m:t>
                        </m:r>
                        <m:d>
                          <m:d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</m:d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𝑑𝑢𝑟𝑎𝑡𝑒</m:t>
                        </m:r>
                        <m:d>
                          <m:d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𝑜</m:t>
                            </m:r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, atunci planifică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 o</a:t>
                </a:r>
                <a:r>
                  <a:rPr lang="ro-RO" sz="1800" dirty="0">
                    <a:solidFill>
                      <a:srgbClr val="FF0000"/>
                    </a:solidFill>
                  </a:rPr>
                  <a:t> după acel interval</a:t>
                </a:r>
                <a:r>
                  <a:rPr lang="ro-RO" sz="1800" dirty="0"/>
                  <a:t>; operaţia este repetată până când, pe maşina corepunzătoare, nu există programări conflictuale;</a:t>
                </a:r>
              </a:p>
              <a:p>
                <a:pPr marL="0" indent="0">
                  <a:buNone/>
                </a:pPr>
                <a:endParaRPr lang="ro-RO" sz="1800" i="1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  <a:blipFill>
                <a:blip r:embed="rId2"/>
                <a:stretch>
                  <a:fillRect t="-703" r="-593" b="-6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AA36BE8-D1FA-48AE-A273-1465EC7B7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68922"/>
            <a:ext cx="8839200" cy="1196976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Algoritm - stabilirea asocierii genotip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ro-RO" sz="2800" b="1" dirty="0">
                <a:solidFill>
                  <a:schemeClr val="bg2"/>
                </a:solidFill>
              </a:rPr>
              <a:t>fenotip</a:t>
            </a:r>
            <a:br>
              <a:rPr lang="ro-RO" sz="2800" b="1" dirty="0"/>
            </a:br>
            <a:endParaRPr lang="ro-RO" altLang="en-US" sz="2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288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Algoritm - stabilirea asocierii genotip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ro-RO" sz="2800" b="1" dirty="0">
                <a:solidFill>
                  <a:schemeClr val="bg2"/>
                </a:solidFill>
              </a:rPr>
              <a:t>fenotip</a:t>
            </a:r>
            <a:br>
              <a:rPr lang="ro-RO" sz="2800" b="1" dirty="0"/>
            </a:br>
            <a:endParaRPr lang="ro-RO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</p:spPr>
            <p:txBody>
              <a:bodyPr/>
              <a:lstStyle/>
              <a:p>
                <a:pPr marL="40005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en-US" sz="1800" dirty="0"/>
                  <a:t>Pas 4. </a:t>
                </a:r>
                <a:r>
                  <a:rPr lang="ro-RO" sz="1800" dirty="0"/>
                  <a:t>marchează </a:t>
                </a:r>
                <a:r>
                  <a:rPr lang="ro-RO" sz="1800" i="1" dirty="0"/>
                  <a:t>o</a:t>
                </a:r>
                <a:r>
                  <a:rPr lang="ro-RO" sz="1800" dirty="0"/>
                  <a:t> ca operaţie programată;</a:t>
                </a:r>
              </a:p>
              <a:p>
                <a:pPr marL="400050" lvl="1" indent="0" algn="just">
                  <a:buNone/>
                </a:pPr>
                <a:endParaRPr lang="en-US" sz="1800" dirty="0"/>
              </a:p>
              <a:p>
                <a:pPr marL="400050" lvl="1" indent="0" algn="just">
                  <a:buNone/>
                </a:pPr>
                <a:r>
                  <a:rPr lang="en-US" sz="1800" dirty="0"/>
                  <a:t>Pas5.</a:t>
                </a:r>
                <a:r>
                  <a:rPr lang="ro-RO" sz="1800" dirty="0"/>
                  <a:t>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Analiza operațiilor succesor – anularea programării succesorilor dacă sunt încălcate restricțiile de planificare</a:t>
                </a:r>
                <a:r>
                  <a:rPr lang="en-US" sz="1800" dirty="0"/>
                  <a:t> </a:t>
                </a: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dirty="0"/>
                  <a:t>pentru fiecare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𝑜𝑝</m:t>
                    </m:r>
                    <m:r>
                      <a:rPr lang="ro-RO" sz="1800" i="1">
                        <a:latin typeface="Cambria Math"/>
                      </a:rPr>
                      <m:t>∈</m:t>
                    </m:r>
                    <m:r>
                      <a:rPr lang="ro-RO" sz="1800" i="1">
                        <a:latin typeface="Cambria Math"/>
                      </a:rPr>
                      <m:t>𝑠𝑢𝑐𝑐</m:t>
                    </m:r>
                  </m:oMath>
                </a14:m>
                <a:endParaRPr lang="en-US" sz="1800" dirty="0"/>
              </a:p>
              <a:p>
                <a:pPr lvl="1" algn="just"/>
                <a:r>
                  <a:rPr lang="ro-RO" sz="1800" dirty="0">
                    <a:solidFill>
                      <a:srgbClr val="FF0000"/>
                    </a:solidFill>
                  </a:rPr>
                  <a:t>dacă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>
                    <a:solidFill>
                      <a:srgbClr val="FF0000"/>
                    </a:solidFill>
                  </a:rPr>
                  <a:t> a fost executată, şi timpul de început al execuţiei operaţiei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>
                    <a:solidFill>
                      <a:srgbClr val="FF0000"/>
                    </a:solidFill>
                  </a:rPr>
                  <a:t> este sub timpul de sfârşit al lui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</a:t>
                </a:r>
                <a:r>
                  <a:rPr lang="ro-RO" sz="1800" dirty="0"/>
                  <a:t> </a:t>
                </a:r>
              </a:p>
              <a:p>
                <a:pPr marL="457200" lvl="1" indent="0" algn="just">
                  <a:buNone/>
                </a:pPr>
                <a:r>
                  <a:rPr lang="ro-RO" sz="1800" dirty="0"/>
                  <a:t>     programare eronată -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&lt;</m:t>
                    </m:r>
                    <m:r>
                      <a:rPr lang="ro-RO" sz="1800" i="1">
                        <a:latin typeface="Cambria Math"/>
                      </a:rPr>
                      <m:t>𝑝𝑙𝑎𝑛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𝑜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a:rPr lang="ro-RO" sz="1800" b="0" i="1" smtClean="0">
                        <a:latin typeface="Cambria Math"/>
                      </a:rPr>
                      <m:t>𝑑𝑢𝑟𝑎𝑡𝑒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𝑜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dirty="0"/>
                  <a:t>)</a:t>
                </a:r>
              </a:p>
              <a:p>
                <a:pPr marL="457200" lvl="1" indent="0" algn="just">
                  <a:buNone/>
                </a:pPr>
                <a:r>
                  <a:rPr lang="ro-RO" sz="1800" dirty="0"/>
                  <a:t>    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atunci renunţă la planificarea lui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/>
                  <a:t> </a:t>
                </a:r>
              </a:p>
              <a:p>
                <a:pPr marL="457200" lvl="1" indent="0" algn="just">
                  <a:buNone/>
                </a:pPr>
                <a:r>
                  <a:rPr lang="ro-RO" sz="1800" dirty="0"/>
                  <a:t>    este scoasă programarea de pe maşina care o execută </a:t>
                </a:r>
              </a:p>
              <a:p>
                <a:pPr marL="457200" lvl="1" indent="0" algn="just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     şi marchează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op</a:t>
                </a:r>
                <a:r>
                  <a:rPr lang="ro-RO" sz="1800" dirty="0">
                    <a:solidFill>
                      <a:srgbClr val="FF0000"/>
                    </a:solidFill>
                  </a:rPr>
                  <a:t> ca neplanificat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ro-RO" sz="1800" i="1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  <a:blipFill rotWithShape="1">
                <a:blip r:embed="rId2"/>
                <a:stretch>
                  <a:fillRect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47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600" b="1" dirty="0">
                <a:solidFill>
                  <a:schemeClr val="bg2"/>
                </a:solidFill>
              </a:rPr>
              <a:t>Exemplu. Codificarea genotip-fenotip</a:t>
            </a:r>
            <a:endParaRPr lang="ro-RO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7150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Precedenţele: în fiecare sarcină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 1≤</m:t>
                    </m:r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≤5</m:t>
                    </m:r>
                  </m:oMath>
                </a14:m>
                <a:r>
                  <a:rPr lang="ro-RO" sz="1800" dirty="0"/>
                  <a:t> ordinea efectuării operaţiilor este de la cea etichetată cu valoarea minima, crescător până la ultima operaţie.</a:t>
                </a:r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marL="40005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Genotip</a:t>
                </a:r>
                <a:r>
                  <a:rPr lang="ro-RO" sz="1800" dirty="0"/>
                  <a:t>: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[</a:t>
                </a:r>
                <a:r>
                  <a:rPr lang="ro-RO" sz="1800" dirty="0">
                    <a:solidFill>
                      <a:srgbClr val="FF0000"/>
                    </a:solidFill>
                  </a:rPr>
                  <a:t>5 2 4 3 1  </a:t>
                </a:r>
                <a:r>
                  <a:rPr lang="ro-RO" sz="1800" dirty="0">
                    <a:solidFill>
                      <a:srgbClr val="00B050"/>
                    </a:solidFill>
                  </a:rPr>
                  <a:t>4 3 5 1 2  </a:t>
                </a:r>
                <a:r>
                  <a:rPr lang="ro-RO" sz="1800" dirty="0">
                    <a:solidFill>
                      <a:schemeClr val="accent1">
                        <a:lumMod val="75000"/>
                      </a:schemeClr>
                    </a:solidFill>
                  </a:rPr>
                  <a:t>3 4 1 2 5  </a:t>
                </a:r>
                <a:r>
                  <a:rPr lang="ro-RO" sz="1800" dirty="0"/>
                  <a:t>2 4 1 5 3  </a:t>
                </a:r>
                <a:r>
                  <a:rPr lang="ro-RO" sz="1800" dirty="0">
                    <a:solidFill>
                      <a:srgbClr val="FFC000"/>
                    </a:solidFill>
                  </a:rPr>
                  <a:t>3 5 1 2 4  </a:t>
                </a:r>
                <a:r>
                  <a:rPr lang="ro-RO" sz="1800" dirty="0">
                    <a:solidFill>
                      <a:srgbClr val="7030A0"/>
                    </a:solidFill>
                  </a:rPr>
                  <a:t>2 3 4 5 1  </a:t>
                </a:r>
                <a:r>
                  <a:rPr lang="ro-RO" sz="1800" dirty="0">
                    <a:solidFill>
                      <a:srgbClr val="66FF33"/>
                    </a:solidFill>
                  </a:rPr>
                  <a:t>2 4 5 3 1</a:t>
                </a:r>
                <a:r>
                  <a:rPr lang="ro-RO" sz="1800" dirty="0"/>
                  <a:t>]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 </a:t>
                </a:r>
                <a:r>
                  <a:rPr lang="ro-RO" sz="1800" dirty="0">
                    <a:solidFill>
                      <a:srgbClr val="FF0000"/>
                    </a:solidFill>
                  </a:rPr>
                  <a:t>Mașina1</a:t>
                </a:r>
                <a:r>
                  <a:rPr lang="ro-RO" sz="1800" dirty="0"/>
                  <a:t>   </a:t>
                </a:r>
                <a:r>
                  <a:rPr lang="ro-RO" sz="1800" dirty="0">
                    <a:solidFill>
                      <a:srgbClr val="00B050"/>
                    </a:solidFill>
                  </a:rPr>
                  <a:t>Mașina2  </a:t>
                </a:r>
                <a:r>
                  <a:rPr lang="ro-RO" sz="18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Mașina3</a:t>
                </a:r>
                <a:r>
                  <a:rPr lang="ro-RO" sz="1800" dirty="0">
                    <a:solidFill>
                      <a:srgbClr val="00B050"/>
                    </a:solidFill>
                  </a:rPr>
                  <a:t>   </a:t>
                </a:r>
                <a:r>
                  <a:rPr lang="ro-RO" sz="1800" dirty="0"/>
                  <a:t>Mașina4  </a:t>
                </a:r>
                <a:r>
                  <a:rPr lang="ro-RO" sz="1800" dirty="0">
                    <a:solidFill>
                      <a:srgbClr val="FFC000"/>
                    </a:solidFill>
                  </a:rPr>
                  <a:t>Mașina5  </a:t>
                </a:r>
                <a:r>
                  <a:rPr lang="ro-RO" sz="1800" dirty="0">
                    <a:solidFill>
                      <a:srgbClr val="7030A0"/>
                    </a:solidFill>
                  </a:rPr>
                  <a:t>Mașina6   </a:t>
                </a:r>
                <a:r>
                  <a:rPr lang="ro-RO" sz="1800" dirty="0">
                    <a:solidFill>
                      <a:srgbClr val="66FF33"/>
                    </a:solidFill>
                  </a:rPr>
                  <a:t>Mașina7</a:t>
                </a:r>
              </a:p>
              <a:p>
                <a:pPr marL="40005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dirty="0"/>
                  <a:t>Sunt analizate, în ordine, operațiile:</a:t>
                </a:r>
              </a:p>
              <a:p>
                <a:pPr marL="0" indent="0" algn="just">
                  <a:buNone/>
                </a:pPr>
                <a:r>
                  <a:rPr lang="ro-RO" sz="1600" dirty="0">
                    <a:solidFill>
                      <a:srgbClr val="FF0000"/>
                    </a:solidFill>
                    <a:latin typeface="Arial Narrow" panose="020B0606020202030204" pitchFamily="34" charset="0"/>
                  </a:rPr>
                  <a:t>          </a:t>
                </a:r>
                <a:r>
                  <a:rPr lang="ro-RO" sz="1500" dirty="0">
                    <a:solidFill>
                      <a:srgbClr val="FF0000"/>
                    </a:solidFill>
                    <a:latin typeface="Arial Narrow" panose="020B0606020202030204" pitchFamily="34" charset="0"/>
                  </a:rPr>
                  <a:t>34 9 22 16 2  </a:t>
                </a:r>
                <a:r>
                  <a:rPr lang="ro-RO" sz="1500" dirty="0">
                    <a:solidFill>
                      <a:srgbClr val="00B050"/>
                    </a:solidFill>
                    <a:latin typeface="Arial Narrow" panose="020B0606020202030204" pitchFamily="34" charset="0"/>
                  </a:rPr>
                  <a:t>23 19 33 1 10</a:t>
                </a:r>
                <a:r>
                  <a:rPr lang="ro-RO" sz="1500" dirty="0">
                    <a:latin typeface="Arial Narrow" panose="020B0606020202030204" pitchFamily="34" charset="0"/>
                  </a:rPr>
                  <a:t>  </a:t>
                </a:r>
                <a:r>
                  <a:rPr lang="ro-RO" sz="15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Arial Narrow" panose="020B0606020202030204" pitchFamily="34" charset="0"/>
                  </a:rPr>
                  <a:t>17 24 6 11 31  </a:t>
                </a:r>
                <a:r>
                  <a:rPr lang="ro-RO" sz="1500" dirty="0">
                    <a:latin typeface="Arial Narrow" panose="020B0606020202030204" pitchFamily="34" charset="0"/>
                  </a:rPr>
                  <a:t>8 25 3 32 18  </a:t>
                </a:r>
                <a:r>
                  <a:rPr lang="ro-RO" sz="1500" dirty="0">
                    <a:solidFill>
                      <a:srgbClr val="FFC000"/>
                    </a:solidFill>
                    <a:latin typeface="Arial Narrow" panose="020B0606020202030204" pitchFamily="34" charset="0"/>
                  </a:rPr>
                  <a:t>20 30 5 14 26  </a:t>
                </a:r>
                <a:r>
                  <a:rPr lang="ro-RO" sz="15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13 21 27 35 4</a:t>
                </a:r>
                <a:r>
                  <a:rPr lang="ro-RO" sz="1500" dirty="0">
                    <a:solidFill>
                      <a:srgbClr val="FFC000"/>
                    </a:solidFill>
                    <a:latin typeface="Arial Narrow" panose="020B0606020202030204" pitchFamily="34" charset="0"/>
                  </a:rPr>
                  <a:t>  </a:t>
                </a:r>
                <a:r>
                  <a:rPr lang="ro-RO" sz="1500" dirty="0">
                    <a:solidFill>
                      <a:srgbClr val="66FF33"/>
                    </a:solidFill>
                    <a:latin typeface="Arial Narrow" panose="020B0606020202030204" pitchFamily="34" charset="0"/>
                  </a:rPr>
                  <a:t>12 28 29 15 7 </a:t>
                </a:r>
              </a:p>
              <a:p>
                <a:pPr marL="400050" lvl="1" indent="0" algn="just">
                  <a:buNone/>
                </a:pPr>
                <a:endParaRPr lang="ro-RO" sz="1500" dirty="0"/>
              </a:p>
              <a:p>
                <a:pPr marL="400050" lvl="1" indent="0" algn="just">
                  <a:buNone/>
                </a:pPr>
                <a:r>
                  <a:rPr lang="ro-RO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Fenotip</a:t>
                </a:r>
                <a:r>
                  <a:rPr lang="ro-RO" sz="1800" dirty="0"/>
                  <a:t>: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plan= [ 0  20  31  37  42  49  56   0  11  20  25  37  42  57   9  31  37  42</a:t>
                </a:r>
              </a:p>
              <a:p>
                <a:pPr marL="400050" lvl="1" indent="0" algn="just">
                  <a:buNone/>
                </a:pPr>
                <a:r>
                  <a:rPr lang="ro-RO" sz="1800" dirty="0"/>
                  <a:t> 51  62  70   0   4  21  25  29  46  52  0   9  13  20  27  42  53]</a:t>
                </a:r>
              </a:p>
              <a:p>
                <a:pPr marL="400050" lvl="1" indent="0" algn="just">
                  <a:buNone/>
                </a:pPr>
                <a:endParaRPr lang="ro-RO" sz="1800" dirty="0"/>
              </a:p>
              <a:p>
                <a:pPr marL="400050" lvl="1" indent="0" algn="just">
                  <a:buNone/>
                </a:pPr>
                <a:r>
                  <a:rPr lang="ro-RO" sz="1800" dirty="0">
                    <a:solidFill>
                      <a:srgbClr val="66FF33"/>
                    </a:solidFill>
                  </a:rPr>
                  <a:t>cost= 77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lvl="0" indent="0">
                  <a:buNone/>
                </a:pPr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715000"/>
              </a:xfrm>
              <a:blipFill>
                <a:blip r:embed="rId2"/>
                <a:stretch>
                  <a:fillRect l="-74" r="-593" b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142933"/>
              </p:ext>
            </p:extLst>
          </p:nvPr>
        </p:nvGraphicFramePr>
        <p:xfrm>
          <a:off x="-3" y="2171700"/>
          <a:ext cx="9144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1561212719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69088840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420416230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27061167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64475122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32063885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4292178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rgbClr val="FF0000"/>
                          </a:solidFill>
                        </a:rPr>
                        <a:t>Mașina1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B050"/>
                          </a:solidFill>
                        </a:rPr>
                        <a:t>Mașina2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Mașina3</a:t>
                      </a:r>
                      <a:endParaRPr lang="en-US" sz="16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chemeClr val="tx1"/>
                          </a:solidFill>
                        </a:rPr>
                        <a:t>Mașina4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FFC000"/>
                          </a:solidFill>
                        </a:rPr>
                        <a:t>Mașina5</a:t>
                      </a:r>
                      <a:endParaRPr lang="en-US" sz="16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7030A0"/>
                          </a:solidFill>
                        </a:rPr>
                        <a:t>Mașina6</a:t>
                      </a:r>
                      <a:endParaRPr lang="en-US" sz="160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66FF33"/>
                          </a:solidFill>
                        </a:rPr>
                        <a:t>Mașina7</a:t>
                      </a:r>
                      <a:endParaRPr lang="en-US" sz="1600" dirty="0">
                        <a:solidFill>
                          <a:srgbClr val="66FF33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32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2, 9, 16, 22, 34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</a:rPr>
                        <a:t>1, 10, 19, 23, 33</a:t>
                      </a:r>
                      <a:endParaRPr lang="en-US" sz="1400" dirty="0">
                        <a:solidFill>
                          <a:srgbClr val="00B05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Arial Narrow" panose="020B0606020202030204" pitchFamily="34" charset="0"/>
                        </a:rPr>
                        <a:t>6, 11, 17, 24, 31</a:t>
                      </a:r>
                      <a:endParaRPr lang="en-US" sz="14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3, 8, 18, 25, 32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FFC000"/>
                          </a:solidFill>
                          <a:latin typeface="Arial Narrow" panose="020B0606020202030204" pitchFamily="34" charset="0"/>
                        </a:rPr>
                        <a:t>5, 14, 20, 26, 30</a:t>
                      </a:r>
                      <a:endParaRPr lang="en-US" sz="1400" dirty="0">
                        <a:solidFill>
                          <a:srgbClr val="FFC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7030A0"/>
                          </a:solidFill>
                          <a:latin typeface="Arial Narrow" panose="020B0606020202030204" pitchFamily="34" charset="0"/>
                        </a:rPr>
                        <a:t>4, 13, 21, 27, 35</a:t>
                      </a:r>
                      <a:endParaRPr lang="en-US" sz="1400" dirty="0">
                        <a:solidFill>
                          <a:srgbClr val="7030A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66FF33"/>
                          </a:solidFill>
                          <a:latin typeface="Arial Narrow" panose="020B0606020202030204" pitchFamily="34" charset="0"/>
                        </a:rPr>
                        <a:t>7, 12, 15, 28, 29   </a:t>
                      </a:r>
                      <a:endParaRPr lang="en-US" sz="1400" dirty="0">
                        <a:solidFill>
                          <a:srgbClr val="66FF33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005036"/>
                  </a:ext>
                </a:extLst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 bwMode="auto">
          <a:xfrm flipH="1">
            <a:off x="1828800" y="4742179"/>
            <a:ext cx="838200" cy="68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Straight Arrow Connector 5"/>
          <p:cNvCxnSpPr/>
          <p:nvPr/>
        </p:nvCxnSpPr>
        <p:spPr bwMode="auto">
          <a:xfrm>
            <a:off x="1828800" y="4742179"/>
            <a:ext cx="304800" cy="68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2514600" y="4742179"/>
            <a:ext cx="1905000" cy="68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H="1">
            <a:off x="2895600" y="4742179"/>
            <a:ext cx="4114800" cy="7442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3276600" y="4742179"/>
            <a:ext cx="2209800" cy="7442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3505200" y="4742179"/>
            <a:ext cx="152400" cy="7442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4038600" y="4742179"/>
            <a:ext cx="3886200" cy="7442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4356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600" b="1" dirty="0">
                <a:solidFill>
                  <a:schemeClr val="bg2"/>
                </a:solidFill>
              </a:rPr>
              <a:t>Exemplu. Codificarea genotip-fenotip</a:t>
            </a:r>
            <a:endParaRPr lang="ro-RO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8229600" cy="5287963"/>
          </a:xfrm>
        </p:spPr>
        <p:txBody>
          <a:bodyPr/>
          <a:lstStyle/>
          <a:p>
            <a:pPr marL="0" indent="0">
              <a:buNone/>
            </a:pPr>
            <a:r>
              <a:rPr lang="ro-RO" sz="1800" dirty="0"/>
              <a:t>Programarea operaţiilor pe maşini (câte 5 operaţii pe fiecare maşină)</a:t>
            </a: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96439"/>
              </p:ext>
            </p:extLst>
          </p:nvPr>
        </p:nvGraphicFramePr>
        <p:xfrm>
          <a:off x="342900" y="1426873"/>
          <a:ext cx="8430492" cy="2417762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205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910"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1 </a:t>
                      </a: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2</a:t>
                      </a: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3</a:t>
                      </a: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4</a:t>
                      </a: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852">
                <a:tc>
                  <a:txBody>
                    <a:bodyPr/>
                    <a:lstStyle/>
                    <a:p>
                      <a:pPr algn="ctr"/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3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20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31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34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34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53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4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23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9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10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20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23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33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27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42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19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51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31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13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24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21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25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25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37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17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37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42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6</a:t>
                      </a:r>
                      <a:r>
                        <a:rPr lang="ro-RO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49</a:t>
                      </a:r>
                      <a:r>
                        <a:rPr lang="ro-RO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2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32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20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24</a:t>
                      </a:r>
                    </a:p>
                    <a:p>
                      <a:pPr algn="ctr"/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25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25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29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31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37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18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42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02561"/>
              </p:ext>
            </p:extLst>
          </p:nvPr>
        </p:nvGraphicFramePr>
        <p:xfrm>
          <a:off x="1219200" y="4107870"/>
          <a:ext cx="6334994" cy="2417762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205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910"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</a:t>
                      </a:r>
                      <a:r>
                        <a:rPr lang="en-US" sz="1700" dirty="0">
                          <a:effectLst/>
                        </a:rPr>
                        <a:t>5</a:t>
                      </a:r>
                      <a:endParaRPr lang="ro-RO" sz="1700" dirty="0">
                        <a:effectLst/>
                      </a:endParaRP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</a:t>
                      </a:r>
                      <a:r>
                        <a:rPr lang="en-US" sz="1700" dirty="0">
                          <a:effectLst/>
                        </a:rPr>
                        <a:t>6</a:t>
                      </a:r>
                      <a:endParaRPr lang="ro-RO" sz="1700" dirty="0">
                        <a:effectLst/>
                      </a:endParaRP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700" dirty="0">
                          <a:effectLst/>
                        </a:rPr>
                        <a:t>Maşina </a:t>
                      </a:r>
                      <a:r>
                        <a:rPr lang="en-US" sz="1700" dirty="0">
                          <a:effectLst/>
                        </a:rPr>
                        <a:t>7</a:t>
                      </a:r>
                      <a:endParaRPr lang="ro-RO" sz="1700" dirty="0">
                        <a:effectLst/>
                      </a:endParaRPr>
                    </a:p>
                    <a:p>
                      <a:pPr marL="72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Op</a:t>
                      </a:r>
                      <a:r>
                        <a:rPr lang="ro-RO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erație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700" dirty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Start</a:t>
                      </a:r>
                      <a:r>
                        <a:rPr lang="ro-RO" sz="17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ro-RO" sz="17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Stop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852">
                <a:tc>
                  <a:txBody>
                    <a:bodyPr/>
                    <a:lstStyle/>
                    <a:p>
                      <a:pPr algn="ctr"/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13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36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49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62</a:t>
                      </a:r>
                    </a:p>
                    <a:p>
                      <a:pPr algn="ctr"/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o-RO" sz="18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70</a:t>
                      </a:r>
                      <a:endParaRPr lang="en-US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37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42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13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42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46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27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46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52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35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53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56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21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70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rgbClr val="66FF66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29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9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15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9</a:t>
                      </a:r>
                      <a:r>
                        <a:rPr lang="ro-RO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10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37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40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28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52</a:t>
                      </a:r>
                      <a:r>
                        <a:rPr lang="ro-RO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56</a:t>
                      </a:r>
                    </a:p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7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o-RO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56</a:t>
                      </a:r>
                      <a:r>
                        <a:rPr lang="ro-RO" sz="1800" b="1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18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 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18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79248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i="1" dirty="0"/>
              </a:p>
              <a:p>
                <a:pPr marL="0" indent="0">
                  <a:buNone/>
                </a:pPr>
                <a:r>
                  <a:rPr lang="ro-RO" sz="1800" i="1" dirty="0"/>
                  <a:t>Problema – cu dependență de ordine, la nivel de subsecvențe permutări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marL="0" indent="0">
                  <a:buNone/>
                </a:pPr>
                <a:r>
                  <a:rPr lang="ro-RO" sz="1800" i="1" dirty="0"/>
                  <a:t>Modelul de populație – populații cu dimensiune constantă, modelul generațional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marL="0" indent="0">
                  <a:buNone/>
                </a:pPr>
                <a:r>
                  <a:rPr lang="ro-RO" sz="1800" i="1" dirty="0"/>
                  <a:t>Funcţia de evaluare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Funcţia de evaluare aplicată unui genotip furnizează durata de execuţie a planului corespunzător în spaţiul fenotipurilor. Scopul este de a </a:t>
                </a:r>
                <a:r>
                  <a:rPr lang="ro-RO" sz="1800" dirty="0">
                    <a:solidFill>
                      <a:srgbClr val="FF0000"/>
                    </a:solidFill>
                  </a:rPr>
                  <a:t>minimiza funcţia de evaluare.</a:t>
                </a:r>
              </a:p>
              <a:p>
                <a:pPr marL="0" indent="0" algn="just">
                  <a:buNone/>
                </a:pPr>
                <a:endParaRPr lang="ro-RO" sz="1800" dirty="0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implementarea GA este maximizată funcţia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1800" i="1">
                            <a:latin typeface="Cambria Math"/>
                          </a:rPr>
                          <m:t>𝑐𝑜𝑠𝑡</m:t>
                        </m:r>
                        <m:d>
                          <m:dPr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b="0" i="1" smtClean="0">
                                <a:latin typeface="Cambria Math"/>
                              </a:rPr>
                              <m:t>𝑝</m:t>
                            </m:r>
                          </m:e>
                        </m:d>
                      </m:den>
                    </m:f>
                  </m:oMath>
                </a14:m>
                <a:r>
                  <a:rPr lang="ro-RO" sz="1800" dirty="0"/>
                  <a:t>, unde </a:t>
                </a:r>
                <a:r>
                  <a:rPr lang="ro-RO" sz="1800" i="1" dirty="0"/>
                  <a:t>cost</a:t>
                </a:r>
                <a:r>
                  <a:rPr lang="ro-RO" sz="1800" dirty="0"/>
                  <a:t> este durata de execuţie calculată pentru un plan </a:t>
                </a:r>
                <a:r>
                  <a:rPr lang="ro-RO" sz="1800" i="1" dirty="0"/>
                  <a:t>x</a:t>
                </a:r>
                <a:r>
                  <a:rPr lang="ro-RO" sz="1800" dirty="0"/>
                  <a:t> asociat genotipului </a:t>
                </a:r>
                <a:r>
                  <a:rPr lang="ro-RO" sz="1800" i="1" dirty="0"/>
                  <a:t>p</a:t>
                </a:r>
                <a:r>
                  <a:rPr lang="ro-RO" sz="1800" dirty="0"/>
                  <a:t>. </a:t>
                </a:r>
                <a:endParaRPr lang="ro-RO" sz="18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7924800" cy="5211763"/>
              </a:xfrm>
              <a:blipFill>
                <a:blip r:embed="rId2"/>
                <a:stretch>
                  <a:fillRect l="-615" r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74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343900" cy="5211763"/>
              </a:xfrm>
            </p:spPr>
            <p:txBody>
              <a:bodyPr/>
              <a:lstStyle/>
              <a:p>
                <a:pPr marL="0" indent="0" algn="just">
                  <a:buNone/>
                </a:pPr>
                <a:endParaRPr lang="ro-RO" sz="1800" i="1" dirty="0"/>
              </a:p>
              <a:p>
                <a:pPr marL="0" indent="0" algn="just">
                  <a:buNone/>
                </a:pPr>
                <a:r>
                  <a:rPr lang="ro-RO" sz="1800" i="1" dirty="0"/>
                  <a:t>Operatorii de variaţie – problemă de ordine</a:t>
                </a:r>
              </a:p>
              <a:p>
                <a:pPr marL="0" indent="0" algn="just">
                  <a:buNone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Alegerea operatorilor de variaţie este realizată astfel încât progeniturile să rămână în spaţiul genotipurilor.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Mutaţia la nivel de cromozom: selectează aleator o permutare din cele </a:t>
                </a:r>
                <a:r>
                  <a:rPr lang="ro-RO" sz="1800" i="1" dirty="0"/>
                  <a:t>m </a:t>
                </a:r>
                <a:r>
                  <a:rPr lang="ro-RO" sz="1800" dirty="0"/>
                  <a:t>ale cromozomului și aplică operatorul de inserare (alternativ, poate fi utilizat operatorul interschimbare)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Operaţia de recombinare la nivel de pereche de indivizi (x,y): selectează aleator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d>
                      <m:dPr>
                        <m:begChr m:val="{"/>
                        <m:endChr m:val="}"/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1800" dirty="0"/>
                  <a:t> și recombină (permutare j din x, permutare j din y) prin OCX sau CX (poate fi aplicat si PMX, dar nu este tipic).</a:t>
                </a:r>
              </a:p>
              <a:p>
                <a:pPr marL="0" indent="0" algn="just">
                  <a:buNone/>
                </a:pPr>
                <a:endParaRPr lang="en-US" sz="1800" i="1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343900" cy="5211763"/>
              </a:xfrm>
              <a:blipFill>
                <a:blip r:embed="rId2"/>
                <a:stretch>
                  <a:fillRect l="-584" r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1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211763"/>
          </a:xfrm>
        </p:spPr>
        <p:txBody>
          <a:bodyPr/>
          <a:lstStyle/>
          <a:p>
            <a:pPr marL="0" indent="0">
              <a:buNone/>
            </a:pPr>
            <a:r>
              <a:rPr lang="ro-RO" sz="1800" i="1" dirty="0"/>
              <a:t>Mecanismul de selecţie</a:t>
            </a:r>
          </a:p>
          <a:p>
            <a:pPr marL="0" indent="0">
              <a:buNone/>
            </a:pPr>
            <a:endParaRPr lang="ro-RO" sz="18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Operatorii de selecţie sunt independenţi de reprezentarea cromozomială, deci pot fi utilizaţi oricare dintre cei prezentaţi.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 Operatorul de selecţie a părinţilor este de tip ruletă cu distribuţia de probabilitate de selecţie FPS cu sigma-scalare.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Mecanismul de supravieţuire: generaţia următoare este construită prin elitism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1800" dirty="0"/>
          </a:p>
          <a:p>
            <a:pPr marL="0" indent="0" algn="just">
              <a:buNone/>
            </a:pPr>
            <a:r>
              <a:rPr lang="ro-RO" sz="1800" i="1" dirty="0"/>
              <a:t>Populaţia iniţială şi condiţia terminală</a:t>
            </a:r>
          </a:p>
          <a:p>
            <a:pPr marL="0" indent="0" algn="just">
              <a:buNone/>
            </a:pPr>
            <a:endParaRPr lang="ro-RO" sz="1800" i="1" dirty="0"/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Generarea populaţiei iniţiale - aleator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Condiţia de continuare este de tip prag: de exemplu, dacă nu a fost atins un număr de iteraţii și în populație există măcar doi indivizi cu calități diferite între ele. </a:t>
            </a:r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6E38C3-109E-6668-2F57-45AC7A259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400" b="1" dirty="0">
                <a:solidFill>
                  <a:schemeClr val="bg2"/>
                </a:solidFill>
              </a:rPr>
              <a:t>Abordare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01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77FA641-0544-7A7C-5C33-4E0797095EDB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533400" y="990600"/>
            <a:ext cx="8610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8" tIns="68580" rIns="68580" bIns="3429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9297" indent="0">
              <a:spcBef>
                <a:spcPts val="450"/>
              </a:spcBef>
              <a:spcAft>
                <a:spcPts val="450"/>
              </a:spcAft>
              <a:buNone/>
            </a:pPr>
            <a:r>
              <a:rPr lang="ro-RO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Rezultat posibil</a:t>
            </a:r>
            <a:endParaRPr lang="ro-RO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Cel mai bun cromozom calculat</a:t>
            </a:r>
          </a:p>
          <a:p>
            <a:pPr lvl="1"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o-RO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5 2 1 3 4 </a:t>
            </a:r>
            <a:r>
              <a:rPr lang="ro-RO" sz="1600" dirty="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2 1 3 4 5 </a:t>
            </a:r>
            <a:r>
              <a:rPr lang="ro-RO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2 5 1 3 4 </a:t>
            </a:r>
            <a:r>
              <a:rPr lang="ro-RO" sz="1600" dirty="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4 2 1 5 3 </a:t>
            </a:r>
            <a:r>
              <a:rPr lang="ro-RO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2 3 5 1 4</a:t>
            </a: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1600" dirty="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3 4 2 1 5 </a:t>
            </a:r>
            <a:r>
              <a:rPr lang="ro-RO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4 2 3 1 5</a:t>
            </a: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Cost: </a:t>
            </a:r>
            <a:r>
              <a:rPr lang="ro-RO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57.0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600" dirty="0">
                <a:latin typeface="Arial" panose="020B0604020202020204" pitchFamily="34" charset="0"/>
                <a:cs typeface="Arial" panose="020B0604020202020204" pitchFamily="34" charset="0"/>
              </a:rPr>
              <a:t>Timp început pentru fiecare activitate: </a:t>
            </a:r>
          </a:p>
          <a:p>
            <a:pPr marL="89297" indent="0">
              <a:buNone/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480F9CB-6318-40B1-A3D6-3280F2123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87950"/>
              </p:ext>
            </p:extLst>
          </p:nvPr>
        </p:nvGraphicFramePr>
        <p:xfrm>
          <a:off x="1413390" y="3048000"/>
          <a:ext cx="6317220" cy="241935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21148">
                  <a:extLst>
                    <a:ext uri="{9D8B030D-6E8A-4147-A177-3AD203B41FA5}">
                      <a16:colId xmlns:a16="http://schemas.microsoft.com/office/drawing/2014/main" val="60951007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771971000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3575547940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3976059216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3858299379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784483232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1508624195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3465864233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1065508140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2004748269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1645597283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2470379562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3759785599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594152449"/>
                    </a:ext>
                  </a:extLst>
                </a:gridCol>
                <a:gridCol w="421148">
                  <a:extLst>
                    <a:ext uri="{9D8B030D-6E8A-4147-A177-3AD203B41FA5}">
                      <a16:colId xmlns:a16="http://schemas.microsoft.com/office/drawing/2014/main" val="72975054"/>
                    </a:ext>
                  </a:extLst>
                </a:gridCol>
              </a:tblGrid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rowSpan="8"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46869149"/>
                  </a:ext>
                </a:extLst>
              </a:tr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96394039"/>
                  </a:ext>
                </a:extLst>
              </a:tr>
              <a:tr h="176799">
                <a:tc gridSpan="7">
                  <a:txBody>
                    <a:bodyPr/>
                    <a:lstStyle/>
                    <a:p>
                      <a:pPr algn="ctr"/>
                      <a:endParaRPr lang="en-US" sz="500" dirty="0">
                        <a:noFill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en-US" sz="500" dirty="0">
                        <a:noFill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noFill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48346"/>
                  </a:ext>
                </a:extLst>
              </a:tr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57027814"/>
                  </a:ext>
                </a:extLst>
              </a:tr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60664004"/>
                  </a:ext>
                </a:extLst>
              </a:tr>
              <a:tr h="176799">
                <a:tc gridSpan="7">
                  <a:txBody>
                    <a:bodyPr/>
                    <a:lstStyle/>
                    <a:p>
                      <a:pPr algn="ctr"/>
                      <a:endParaRPr lang="en-US" sz="5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gridSpan="7">
                  <a:txBody>
                    <a:bodyPr/>
                    <a:lstStyle/>
                    <a:p>
                      <a:pPr algn="ctr"/>
                      <a:endParaRPr lang="en-US" sz="5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605333"/>
                  </a:ext>
                </a:extLst>
              </a:tr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gridSpan="7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01283"/>
                  </a:ext>
                </a:extLst>
              </a:tr>
              <a:tr h="344292"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  <a:endParaRPr lang="en-US" sz="14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gridSpan="7"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9238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4918D30-04C1-26EE-F2F0-B5247360FD48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Exemplu de rezultat</a:t>
            </a:r>
            <a:endParaRPr lang="ro-RO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9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7B1679-2E2E-4ECB-BE4B-26B3CBB6D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791485"/>
              </p:ext>
            </p:extLst>
          </p:nvPr>
        </p:nvGraphicFramePr>
        <p:xfrm>
          <a:off x="1081086" y="1828800"/>
          <a:ext cx="6981828" cy="200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57">
                  <a:extLst>
                    <a:ext uri="{9D8B030D-6E8A-4147-A177-3AD203B41FA5}">
                      <a16:colId xmlns:a16="http://schemas.microsoft.com/office/drawing/2014/main" val="3751872447"/>
                    </a:ext>
                  </a:extLst>
                </a:gridCol>
                <a:gridCol w="1745457">
                  <a:extLst>
                    <a:ext uri="{9D8B030D-6E8A-4147-A177-3AD203B41FA5}">
                      <a16:colId xmlns:a16="http://schemas.microsoft.com/office/drawing/2014/main" val="3347400266"/>
                    </a:ext>
                  </a:extLst>
                </a:gridCol>
                <a:gridCol w="1745457">
                  <a:extLst>
                    <a:ext uri="{9D8B030D-6E8A-4147-A177-3AD203B41FA5}">
                      <a16:colId xmlns:a16="http://schemas.microsoft.com/office/drawing/2014/main" val="86349883"/>
                    </a:ext>
                  </a:extLst>
                </a:gridCol>
                <a:gridCol w="1745457">
                  <a:extLst>
                    <a:ext uri="{9D8B030D-6E8A-4147-A177-3AD203B41FA5}">
                      <a16:colId xmlns:a16="http://schemas.microsoft.com/office/drawing/2014/main" val="3013859219"/>
                    </a:ext>
                  </a:extLst>
                </a:gridCol>
              </a:tblGrid>
              <a:tr h="608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noProof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noProof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noProof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noProof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72405"/>
                  </a:ext>
                </a:extLst>
              </a:tr>
              <a:tr h="1395283">
                <a:tc>
                  <a:txBody>
                    <a:bodyPr/>
                    <a:lstStyle/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22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0   3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16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3   6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9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11  20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20  31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34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43  54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0   4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23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4   9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10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20  23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19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23  27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33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28  43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17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6  11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24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11  15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31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16  23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11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23  35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6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49  51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8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4   6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18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11  20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25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20  24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32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24  28 </a:t>
                      </a:r>
                    </a:p>
                    <a:p>
                      <a:pPr algn="ctr"/>
                      <a:r>
                        <a:rPr lang="ro-RO" sz="1600" i="0" noProof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 </a:t>
                      </a:r>
                      <a:r>
                        <a:rPr lang="ro-RO" sz="1600" i="0" noProof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31  37 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240258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E3E87A-9B2E-4489-BFCC-77190E02C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353268"/>
              </p:ext>
            </p:extLst>
          </p:nvPr>
        </p:nvGraphicFramePr>
        <p:xfrm>
          <a:off x="1600201" y="4137659"/>
          <a:ext cx="5522121" cy="200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707">
                  <a:extLst>
                    <a:ext uri="{9D8B030D-6E8A-4147-A177-3AD203B41FA5}">
                      <a16:colId xmlns:a16="http://schemas.microsoft.com/office/drawing/2014/main" val="3751872447"/>
                    </a:ext>
                  </a:extLst>
                </a:gridCol>
                <a:gridCol w="1840707">
                  <a:extLst>
                    <a:ext uri="{9D8B030D-6E8A-4147-A177-3AD203B41FA5}">
                      <a16:colId xmlns:a16="http://schemas.microsoft.com/office/drawing/2014/main" val="3347400266"/>
                    </a:ext>
                  </a:extLst>
                </a:gridCol>
                <a:gridCol w="1840707">
                  <a:extLst>
                    <a:ext uri="{9D8B030D-6E8A-4147-A177-3AD203B41FA5}">
                      <a16:colId xmlns:a16="http://schemas.microsoft.com/office/drawing/2014/main" val="86349883"/>
                    </a:ext>
                  </a:extLst>
                </a:gridCol>
              </a:tblGrid>
              <a:tr h="608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  <a:endParaRPr lang="en-US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  <a:endParaRPr lang="en-US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Mașina 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 </a:t>
                      </a:r>
                      <a:r>
                        <a:rPr lang="ro-RO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Stop</a:t>
                      </a:r>
                      <a:endParaRPr lang="en-US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72405"/>
                  </a:ext>
                </a:extLst>
              </a:tr>
              <a:tr h="1395283">
                <a:tc>
                  <a:txBody>
                    <a:bodyPr/>
                    <a:lstStyle/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30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12  16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26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24  31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20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31  39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5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42  49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14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49  54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27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31  37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37  42   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13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42  46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21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46  53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35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54  </a:t>
                      </a:r>
                      <a:r>
                        <a:rPr lang="ro-RO" sz="1600" b="1" i="0" dirty="0">
                          <a:solidFill>
                            <a:srgbClr val="00CC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57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15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0   3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29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 3  12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12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35  38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28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38  42    </a:t>
                      </a:r>
                    </a:p>
                    <a:p>
                      <a:pPr algn="ctr"/>
                      <a:r>
                        <a:rPr lang="ro-RO" sz="1600" i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7 </a:t>
                      </a:r>
                      <a:r>
                        <a:rPr lang="ro-RO" sz="1600" i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ambria Math" panose="02040503050406030204" pitchFamily="18" charset="0"/>
                        </a:rPr>
                        <a:t> 51  54 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24025877"/>
                  </a:ext>
                </a:extLst>
              </a:tr>
            </a:tbl>
          </a:graphicData>
        </a:graphic>
      </p:graphicFrame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FFEDE66-B310-F3E3-EC84-DE2858EA9A9A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609600" y="1260255"/>
            <a:ext cx="8371284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8" tIns="68580" rIns="68580" bIns="3429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Programare operații pe mașini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endParaRPr lang="ro-RO" sz="13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A8CDFA-9FD7-2072-95B8-7D43EF3725C8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Exemplu de </a:t>
            </a:r>
            <a:r>
              <a:rPr lang="ro-RO" sz="2400" b="1" kern="0" dirty="0">
                <a:solidFill>
                  <a:schemeClr val="bg2"/>
                </a:solidFill>
              </a:rPr>
              <a:t>rezultat</a:t>
            </a:r>
            <a:endParaRPr lang="ro-RO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69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5D9B3-2109-405E-B5D6-C1C5C46E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0" y="1428853"/>
            <a:ext cx="6068482" cy="4551362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575584A-BFAB-3A5C-7592-1BEFDD7D5024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762000" y="1163638"/>
            <a:ext cx="8382000" cy="455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8" tIns="68580" rIns="68580" bIns="3429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Evoluția costului celui mai bun individ din fiecare generație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endParaRPr lang="ro-RO" sz="13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6263EA6-9AFA-8320-0C87-3DF20FAF4C88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Exemplu de </a:t>
            </a:r>
            <a:r>
              <a:rPr lang="ro-RO" sz="2400" b="1" kern="0" dirty="0">
                <a:solidFill>
                  <a:schemeClr val="bg2"/>
                </a:solidFill>
              </a:rPr>
              <a:t>rezultat</a:t>
            </a:r>
            <a:endParaRPr lang="ro-RO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97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21C20-6518-16B5-341C-95F68BD0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610600" cy="4933950"/>
          </a:xfrm>
        </p:spPr>
        <p:txBody>
          <a:bodyPr/>
          <a:lstStyle/>
          <a:p>
            <a:r>
              <a:rPr lang="ro-RO" dirty="0"/>
              <a:t>Rezultatul obținut</a:t>
            </a:r>
            <a:endParaRPr lang="en-US" dirty="0"/>
          </a:p>
        </p:txBody>
      </p:sp>
      <p:sp>
        <p:nvSpPr>
          <p:cNvPr id="31" name="Content Placeholder 6"/>
          <p:cNvSpPr txBox="1">
            <a:spLocks/>
          </p:cNvSpPr>
          <p:nvPr/>
        </p:nvSpPr>
        <p:spPr bwMode="auto">
          <a:xfrm>
            <a:off x="1155526" y="1676401"/>
            <a:ext cx="6832949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8" tIns="68580" rIns="68580" bIns="3429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9297" indent="0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ro-RO" sz="1600" b="1" dirty="0">
                <a:latin typeface="Arial" panose="020B0604020202020204" pitchFamily="34" charset="0"/>
                <a:cs typeface="Arial" panose="020B0604020202020204" pitchFamily="34" charset="0"/>
              </a:rPr>
              <a:t>Graficul </a:t>
            </a:r>
            <a:r>
              <a:rPr lang="ro-RO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Gantt</a:t>
            </a:r>
            <a:endParaRPr lang="ro-RO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endParaRPr lang="ro-RO" sz="13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endParaRPr lang="ro-RO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5085" lvl="2" indent="-257175">
              <a:spcBef>
                <a:spcPts val="450"/>
              </a:spcBef>
              <a:spcAft>
                <a:spcPts val="450"/>
              </a:spcAft>
            </a:pPr>
            <a:r>
              <a:rPr lang="ro-RO" sz="135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9CCFC3-BCDD-4D48-A843-8DD6593AE7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6" t="6297" r="9052" b="786"/>
          <a:stretch/>
        </p:blipFill>
        <p:spPr>
          <a:xfrm>
            <a:off x="431768" y="2153604"/>
            <a:ext cx="7919634" cy="426720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F389F45-7A90-D3CD-CEB3-72B8754C7FEE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Exemplu de rezultat</a:t>
            </a:r>
            <a:endParaRPr lang="ro-RO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217372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4760</TotalTime>
  <Words>2524</Words>
  <Application>Microsoft Office PowerPoint</Application>
  <PresentationFormat>On-screen Show (4:3)</PresentationFormat>
  <Paragraphs>421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Black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Pixel</vt:lpstr>
      <vt:lpstr> Aplicaţie. Problema planificării activităţilor  </vt:lpstr>
      <vt:lpstr>GA – Rezolvarea unei probleme</vt:lpstr>
      <vt:lpstr>Problema planificării activităţilor de tip sisteme de producţie bazate pe comandă (JSS)</vt:lpstr>
      <vt:lpstr>Problema JSS</vt:lpstr>
      <vt:lpstr>PowerPoint Presentation</vt:lpstr>
      <vt:lpstr>PowerPoint Presentation</vt:lpstr>
      <vt:lpstr>Abordare GA</vt:lpstr>
      <vt:lpstr>Abordare GA</vt:lpstr>
      <vt:lpstr>Abordare GA</vt:lpstr>
      <vt:lpstr>Abordare GA</vt:lpstr>
      <vt:lpstr>Algoritm - stabilirea asocierii genotip fenotip </vt:lpstr>
      <vt:lpstr>Algoritm - stabilirea asocierii genotip fenotip </vt:lpstr>
      <vt:lpstr>Algoritm - stabilirea asocierii genotip fenotip </vt:lpstr>
      <vt:lpstr>Exemplu. Codificarea genotip-fenotip</vt:lpstr>
      <vt:lpstr>Exemplu. Codificarea genotip-fenotip</vt:lpstr>
      <vt:lpstr>Abordare GA</vt:lpstr>
      <vt:lpstr>Abordare GA</vt:lpstr>
      <vt:lpstr>Abordare GA</vt:lpstr>
      <vt:lpstr>PowerPoint Presentation</vt:lpstr>
      <vt:lpstr>PowerPoint Presentation</vt:lpstr>
      <vt:lpstr>PowerPoint Presentation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490</cp:revision>
  <dcterms:created xsi:type="dcterms:W3CDTF">2007-06-04T09:28:42Z</dcterms:created>
  <dcterms:modified xsi:type="dcterms:W3CDTF">2025-04-16T08:53:31Z</dcterms:modified>
</cp:coreProperties>
</file>