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1" r:id="rId4"/>
    <p:sldId id="264" r:id="rId5"/>
    <p:sldId id="265" r:id="rId6"/>
    <p:sldId id="2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14" autoAdjust="0"/>
    <p:restoredTop sz="94660"/>
  </p:normalViewPr>
  <p:slideViewPr>
    <p:cSldViewPr snapToGrid="0">
      <p:cViewPr varScale="1">
        <p:scale>
          <a:sx n="63" d="100"/>
          <a:sy n="63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55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12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7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69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50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50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93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19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1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70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9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D5A98-9CDF-4A1C-BA6D-D8A45E1E1D91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83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PROBLEMA COMIS VOIAJORULUI - TSP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EE4E92-9AD6-48F8-A366-D3FB78C89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418" y="1439185"/>
            <a:ext cx="3812063" cy="29579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85092" y="1348509"/>
                <a:ext cx="5569526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o-RO" sz="2000" dirty="0"/>
                  <a:t>Fie </a:t>
                </a:r>
                <a:r>
                  <a:rPr lang="ro-RO" sz="2000" i="1" dirty="0"/>
                  <a:t>n</a:t>
                </a:r>
                <a:r>
                  <a:rPr lang="ro-RO" sz="2000" dirty="0"/>
                  <a:t> orașe interconectate două câte două și </a:t>
                </a:r>
                <a:r>
                  <a:rPr lang="en-US" sz="2000" dirty="0"/>
                  <a:t>C</a:t>
                </a:r>
                <a:r>
                  <a:rPr lang="ro-RO" sz="2000" dirty="0"/>
                  <a:t> matricea costurilor de deplasare între orașe:</a:t>
                </a:r>
                <a:endParaRPr lang="en-US" sz="2000" dirty="0"/>
              </a:p>
              <a:p>
                <a:pPr algn="just"/>
                <a14:m>
                  <m:oMath xmlns:m="http://schemas.openxmlformats.org/officeDocument/2006/math">
                    <m:r>
                      <a:rPr lang="ro-RO" sz="20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ro-RO" sz="2000" dirty="0"/>
                  <a:t> reprezintă costul tranziției directe de la orașul </a:t>
                </a:r>
                <a:r>
                  <a:rPr lang="ro-RO" sz="2000" i="1" dirty="0"/>
                  <a:t>i</a:t>
                </a:r>
                <a:r>
                  <a:rPr lang="ro-RO" sz="2000" dirty="0"/>
                  <a:t> la orașul </a:t>
                </a:r>
                <a:r>
                  <a:rPr lang="ro-RO" sz="2000" i="1" dirty="0"/>
                  <a:t>j</a:t>
                </a:r>
                <a:r>
                  <a:rPr lang="ro-RO" sz="2000" dirty="0"/>
                  <a:t>. </a:t>
                </a:r>
                <a:endParaRPr lang="en-US" sz="2000" dirty="0"/>
              </a:p>
              <a:p>
                <a:pPr algn="just"/>
                <a:r>
                  <a:rPr lang="ro-RO" sz="2000" dirty="0"/>
                  <a:t>Un comis-voiajor trebuie să facă livrări în toate cele n orașe, plecând dintr-un oraș </a:t>
                </a:r>
                <a:r>
                  <a:rPr lang="ro-RO" sz="2000" i="1" dirty="0"/>
                  <a:t>i</a:t>
                </a:r>
                <a:r>
                  <a:rPr lang="ro-RO" sz="2000" dirty="0"/>
                  <a:t> oarecare dar fixat și reîntorcându-se în </a:t>
                </a:r>
                <a:r>
                  <a:rPr lang="ro-RO" sz="2000" i="1" dirty="0"/>
                  <a:t>i</a:t>
                </a:r>
                <a:r>
                  <a:rPr lang="ro-RO" sz="2000" dirty="0"/>
                  <a:t>. </a:t>
                </a:r>
                <a:r>
                  <a:rPr lang="ro-RO" sz="2000" b="1" dirty="0"/>
                  <a:t>Problema este de a găsi o ordine de parcurgere a orașelor astfel încât costul transportului să fie minim.</a:t>
                </a:r>
                <a:endParaRPr lang="en-US" sz="2000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92" y="1348509"/>
                <a:ext cx="5569526" cy="3139321"/>
              </a:xfrm>
              <a:prstGeom prst="rect">
                <a:avLst/>
              </a:prstGeom>
              <a:blipFill>
                <a:blip r:embed="rId3"/>
                <a:stretch>
                  <a:fillRect l="-1205" t="-971" r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10E194F-A59F-4EC9-BEB4-09984323B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731" y="1892648"/>
            <a:ext cx="3402330" cy="259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797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683490"/>
                <a:ext cx="10515600" cy="5726545"/>
              </a:xfrm>
            </p:spPr>
            <p:txBody>
              <a:bodyPr>
                <a:normAutofit fontScale="85000" lnSpcReduction="20000"/>
              </a:bodyPr>
              <a:lstStyle/>
              <a:p>
                <a:pPr marL="571500" indent="-571500">
                  <a:buAutoNum type="romanUcPeriod"/>
                </a:pPr>
                <a:r>
                  <a:rPr lang="en-US" sz="2400" b="1" dirty="0"/>
                  <a:t>Reprezentarea </a:t>
                </a:r>
                <a:r>
                  <a:rPr lang="en-US" sz="2400" dirty="0"/>
                  <a:t>– n </a:t>
                </a:r>
                <a:r>
                  <a:rPr lang="en-US" sz="2400" dirty="0" err="1"/>
                  <a:t>adrese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ro-RO" sz="2400" dirty="0"/>
                  <a:t>- p</a:t>
                </a:r>
                <a:r>
                  <a:rPr lang="en-US" sz="2400" dirty="0" err="1"/>
                  <a:t>rin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permut</a:t>
                </a:r>
                <a:r>
                  <a:rPr lang="ro-RO" sz="2400" dirty="0"/>
                  <a:t>ă</a:t>
                </a:r>
                <a:r>
                  <a:rPr lang="en-US" sz="2400" dirty="0" err="1"/>
                  <a:t>ri</a:t>
                </a:r>
                <a:r>
                  <a:rPr lang="en-US" sz="2400" dirty="0"/>
                  <a:t> – spatial </a:t>
                </a:r>
                <a:r>
                  <a:rPr lang="en-US" sz="2400" dirty="0" err="1"/>
                  <a:t>solu</a:t>
                </a:r>
                <a:r>
                  <a:rPr lang="ro-RO" sz="2400" dirty="0"/>
                  <a:t>ț</a:t>
                </a:r>
                <a:r>
                  <a:rPr lang="en-US" sz="2400" dirty="0" err="1"/>
                  <a:t>iilor</a:t>
                </a:r>
                <a:r>
                  <a:rPr lang="ro-RO" sz="2400" dirty="0"/>
                  <a:t> 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ro-RO" sz="2400" dirty="0"/>
                  <a:t>- </a:t>
                </a:r>
                <a14:m>
                  <m:oMath xmlns:m="http://schemas.openxmlformats.org/officeDocument/2006/math">
                    <m:r>
                      <a:rPr lang="ro-RO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o-RO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o-RO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ro-RO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– </a:t>
                </a:r>
                <a:r>
                  <a:rPr lang="en-US" sz="2400" dirty="0" err="1"/>
                  <a:t>orice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permutare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este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candidat</a:t>
                </a:r>
                <a:r>
                  <a:rPr lang="en-US" sz="2400" dirty="0"/>
                  <a:t> la </a:t>
                </a:r>
                <a:r>
                  <a:rPr lang="en-US" sz="2400" dirty="0" err="1"/>
                  <a:t>solu</a:t>
                </a:r>
                <a:r>
                  <a:rPr lang="ro-RO" sz="2400" dirty="0"/>
                  <a:t>ț</a:t>
                </a:r>
                <a:r>
                  <a:rPr lang="en-US" sz="2400" dirty="0" err="1"/>
                  <a:t>ie</a:t>
                </a:r>
                <a:endParaRPr lang="en-US" sz="2400" dirty="0"/>
              </a:p>
              <a:p>
                <a:pPr>
                  <a:buFontTx/>
                  <a:buChar char="-"/>
                </a:pPr>
                <a:r>
                  <a:rPr lang="ro-RO" sz="2400" dirty="0"/>
                  <a:t>p</a:t>
                </a:r>
                <a:r>
                  <a:rPr lang="en-US" sz="2400" dirty="0" err="1"/>
                  <a:t>roblema</a:t>
                </a:r>
                <a:r>
                  <a:rPr lang="en-US" sz="2400" dirty="0"/>
                  <a:t> </a:t>
                </a:r>
                <a:r>
                  <a:rPr lang="ro-RO" sz="2400" dirty="0"/>
                  <a:t>este </a:t>
                </a:r>
                <a:r>
                  <a:rPr lang="en-US" sz="2400" dirty="0"/>
                  <a:t>f</a:t>
                </a:r>
                <a:r>
                  <a:rPr lang="ro-RO" sz="2400" dirty="0"/>
                  <a:t>ă</a:t>
                </a:r>
                <a:r>
                  <a:rPr lang="en-US" sz="2400" dirty="0"/>
                  <a:t>r</a:t>
                </a:r>
                <a:r>
                  <a:rPr lang="ro-RO" sz="2400" dirty="0"/>
                  <a:t>ă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constr</a:t>
                </a:r>
                <a:r>
                  <a:rPr lang="ro-RO" sz="2400" dirty="0"/>
                  <a:t>â</a:t>
                </a:r>
                <a:r>
                  <a:rPr lang="en-US" sz="2400" dirty="0" err="1"/>
                  <a:t>ngeri</a:t>
                </a:r>
                <a:endParaRPr lang="ro-RO" sz="2400" dirty="0"/>
              </a:p>
              <a:p>
                <a:pPr>
                  <a:buFontTx/>
                  <a:buChar char="-"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/>
                  <a:t>II. </a:t>
                </a:r>
                <a:r>
                  <a:rPr lang="en-US" sz="2400" b="1" dirty="0" err="1"/>
                  <a:t>Func</a:t>
                </a:r>
                <a:r>
                  <a:rPr lang="ro-RO" sz="2400" b="1" dirty="0"/>
                  <a:t>ț</a:t>
                </a:r>
                <a:r>
                  <a:rPr lang="en-US" sz="2400" b="1" dirty="0" err="1"/>
                  <a:t>ia</a:t>
                </a:r>
                <a:r>
                  <a:rPr lang="en-US" sz="2400" b="1" dirty="0"/>
                  <a:t> fitness</a:t>
                </a:r>
              </a:p>
              <a:p>
                <a:pPr marL="0" indent="0">
                  <a:buNone/>
                </a:pPr>
                <a:r>
                  <a:rPr lang="en-US" sz="2400" dirty="0"/>
                  <a:t>C- </a:t>
                </a:r>
                <a:r>
                  <a:rPr lang="ro-RO" sz="2400" dirty="0"/>
                  <a:t>matrice </a:t>
                </a:r>
                <a:r>
                  <a:rPr lang="en-US" sz="2400" dirty="0" err="1"/>
                  <a:t>nxn</a:t>
                </a:r>
                <a:r>
                  <a:rPr lang="ro-RO" sz="2400" dirty="0"/>
                  <a:t>:</a:t>
                </a:r>
                <a:r>
                  <a:rPr lang="en-US" sz="2400" dirty="0"/>
                  <a:t> C(</a:t>
                </a:r>
                <a:r>
                  <a:rPr lang="en-US" sz="2400" dirty="0" err="1"/>
                  <a:t>i,j</a:t>
                </a:r>
                <a:r>
                  <a:rPr lang="en-US" sz="2400" dirty="0"/>
                  <a:t>) – </a:t>
                </a:r>
                <a:r>
                  <a:rPr lang="en-US" sz="2400" dirty="0" err="1"/>
                  <a:t>costul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</a:t>
                </a:r>
                <a:r>
                  <a:rPr lang="en-US" sz="2400" dirty="0" err="1">
                    <a:sym typeface="Wingdings" panose="05000000000000000000" pitchFamily="2" charset="2"/>
                  </a:rPr>
                  <a:t>j</a:t>
                </a:r>
                <a:r>
                  <a:rPr lang="en-US" sz="2400" dirty="0">
                    <a:sym typeface="Wingdings" panose="05000000000000000000" pitchFamily="2" charset="2"/>
                  </a:rPr>
                  <a:t> (direct); </a:t>
                </a:r>
                <a:r>
                  <a:rPr lang="en-US" sz="2400" dirty="0" err="1">
                    <a:sym typeface="Wingdings" panose="05000000000000000000" pitchFamily="2" charset="2"/>
                  </a:rPr>
                  <a:t>dac</a:t>
                </a:r>
                <a:r>
                  <a:rPr lang="ro-RO" sz="2400" dirty="0">
                    <a:sym typeface="Wingdings" panose="05000000000000000000" pitchFamily="2" charset="2"/>
                  </a:rPr>
                  <a:t>ă</a:t>
                </a:r>
                <a:r>
                  <a:rPr lang="en-US" sz="2400" dirty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>
                    <a:sym typeface="Wingdings" panose="05000000000000000000" pitchFamily="2" charset="2"/>
                  </a:rPr>
                  <a:t>i</a:t>
                </a:r>
                <a:r>
                  <a:rPr lang="en-US" sz="2400" dirty="0">
                    <a:sym typeface="Wingdings" panose="05000000000000000000" pitchFamily="2" charset="2"/>
                  </a:rPr>
                  <a:t>=j, </a:t>
                </a:r>
                <a:r>
                  <a:rPr lang="en-US" sz="2400" dirty="0" err="1">
                    <a:sym typeface="Wingdings" panose="05000000000000000000" pitchFamily="2" charset="2"/>
                  </a:rPr>
                  <a:t>atunci</a:t>
                </a:r>
                <a:r>
                  <a:rPr lang="en-US" sz="2400" dirty="0">
                    <a:sym typeface="Wingdings" panose="05000000000000000000" pitchFamily="2" charset="2"/>
                  </a:rPr>
                  <a:t> </a:t>
                </a:r>
                <a:r>
                  <a:rPr lang="en-US" sz="2400" dirty="0" err="1">
                    <a:sym typeface="Wingdings" panose="05000000000000000000" pitchFamily="2" charset="2"/>
                  </a:rPr>
                  <a:t>costul</a:t>
                </a:r>
                <a:r>
                  <a:rPr lang="en-US" sz="2400" dirty="0">
                    <a:sym typeface="Wingdings" panose="05000000000000000000" pitchFamily="2" charset="2"/>
                  </a:rPr>
                  <a:t> e </a:t>
                </a:r>
                <a:r>
                  <a:rPr lang="en-US" sz="2400" dirty="0" err="1">
                    <a:sym typeface="Wingdings" panose="05000000000000000000" pitchFamily="2" charset="2"/>
                  </a:rPr>
                  <a:t>nul</a:t>
                </a:r>
                <a:endParaRPr lang="ro-RO" sz="2400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1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en-US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ro-RO" sz="2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2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ro-RO" sz="21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ro-RO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ro-RO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o-RO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ro-RO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ro-RO" sz="2100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𝐹𝑖𝑡𝑛𝑒𝑠𝑠</m:t>
                      </m:r>
                      <m:d>
                        <m:dPr>
                          <m:ctrlPr>
                            <a:rPr lang="ro-RO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ro-RO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o-RO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o-RO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𝐶𝑜𝑠𝑡</m:t>
                          </m:r>
                          <m:d>
                            <m:dPr>
                              <m:ctrlPr>
                                <a:rPr lang="ro-RO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ro-RO" sz="2400" dirty="0"/>
              </a:p>
              <a:p>
                <a:pPr marL="0" indent="0">
                  <a:buNone/>
                </a:pPr>
                <a:r>
                  <a:rPr lang="en-US" sz="2400" b="1" dirty="0"/>
                  <a:t>III. </a:t>
                </a:r>
                <a:r>
                  <a:rPr lang="en-US" sz="2400" b="1" dirty="0" err="1"/>
                  <a:t>Modelul</a:t>
                </a:r>
                <a:r>
                  <a:rPr lang="en-US" sz="2400" b="1" dirty="0"/>
                  <a:t> de </a:t>
                </a:r>
                <a:r>
                  <a:rPr lang="en-US" sz="2400" b="1" dirty="0" err="1"/>
                  <a:t>popula</a:t>
                </a:r>
                <a:r>
                  <a:rPr lang="ro-RO" sz="2400" b="1" dirty="0"/>
                  <a:t>ț</a:t>
                </a:r>
                <a:r>
                  <a:rPr lang="en-US" sz="2400" b="1" dirty="0" err="1"/>
                  <a:t>ie</a:t>
                </a:r>
                <a:endParaRPr lang="en-US" sz="2400" b="1" dirty="0"/>
              </a:p>
              <a:p>
                <a:pPr>
                  <a:buFontTx/>
                  <a:buChar char="-"/>
                </a:pPr>
                <a:r>
                  <a:rPr lang="en-US" sz="2400" dirty="0" err="1"/>
                  <a:t>Popula</a:t>
                </a:r>
                <a:r>
                  <a:rPr lang="ro-RO" sz="2400" dirty="0"/>
                  <a:t>ț</a:t>
                </a:r>
                <a:r>
                  <a:rPr lang="en-US" sz="2400" dirty="0"/>
                  <a:t>ii cu </a:t>
                </a:r>
                <a:r>
                  <a:rPr lang="en-US" sz="2400" dirty="0" err="1"/>
                  <a:t>dimensiuni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constante</a:t>
                </a:r>
                <a:r>
                  <a:rPr lang="en-US" sz="2400" dirty="0"/>
                  <a:t> </a:t>
                </a:r>
                <a:r>
                  <a:rPr lang="ro-RO" sz="2400" dirty="0"/>
                  <a:t>î</a:t>
                </a:r>
                <a:r>
                  <a:rPr lang="en-US" sz="2400" dirty="0"/>
                  <a:t>n </a:t>
                </a:r>
                <a:r>
                  <a:rPr lang="en-US" sz="2400" dirty="0" err="1"/>
                  <a:t>timp</a:t>
                </a:r>
                <a:r>
                  <a:rPr lang="en-US" sz="2400" dirty="0"/>
                  <a:t> - </a:t>
                </a:r>
                <a:r>
                  <a:rPr lang="ro-RO" sz="2400" dirty="0"/>
                  <a:t>d</a:t>
                </a:r>
                <a:r>
                  <a:rPr lang="en-US" sz="2400" dirty="0" err="1"/>
                  <a:t>im</a:t>
                </a:r>
                <a:endParaRPr lang="en-US" sz="2400" dirty="0"/>
              </a:p>
              <a:p>
                <a:pPr>
                  <a:buFontTx/>
                  <a:buChar char="-"/>
                </a:pPr>
                <a:r>
                  <a:rPr lang="en-US" sz="2400" dirty="0" err="1"/>
                  <a:t>Modelul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bazat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pe</a:t>
                </a:r>
                <a:r>
                  <a:rPr lang="en-US" sz="2400" dirty="0"/>
                  <a:t> genera</a:t>
                </a:r>
                <a:r>
                  <a:rPr lang="ro-RO" sz="2400" dirty="0"/>
                  <a:t>ț</a:t>
                </a:r>
                <a:r>
                  <a:rPr lang="en-US" sz="2400" dirty="0"/>
                  <a:t>ii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/>
                  <a:t>IV. </a:t>
                </a:r>
                <a:r>
                  <a:rPr lang="en-US" sz="2400" b="1" dirty="0" err="1"/>
                  <a:t>Popula</a:t>
                </a:r>
                <a:r>
                  <a:rPr lang="ro-RO" sz="2400" b="1" dirty="0"/>
                  <a:t>ț</a:t>
                </a:r>
                <a:r>
                  <a:rPr lang="en-US" sz="2400" b="1" dirty="0" err="1"/>
                  <a:t>ia</a:t>
                </a:r>
                <a:r>
                  <a:rPr lang="en-US" sz="2400" b="1" dirty="0"/>
                  <a:t> la </a:t>
                </a:r>
                <a:r>
                  <a:rPr lang="en-US" sz="2400" b="1" dirty="0" err="1"/>
                  <a:t>momentul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ini</a:t>
                </a:r>
                <a:r>
                  <a:rPr lang="ro-RO" sz="2400" b="1" dirty="0"/>
                  <a:t>ț</a:t>
                </a:r>
                <a:r>
                  <a:rPr lang="en-US" sz="2400" b="1" dirty="0" err="1"/>
                  <a:t>ial</a:t>
                </a:r>
                <a:r>
                  <a:rPr lang="en-US" sz="2400" b="1" dirty="0"/>
                  <a:t> </a:t>
                </a:r>
                <a:r>
                  <a:rPr lang="en-US" sz="2400" dirty="0"/>
                  <a:t>– </a:t>
                </a:r>
                <a:r>
                  <a:rPr lang="en-US" sz="2400" dirty="0" err="1"/>
                  <a:t>aleator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a.i</a:t>
                </a:r>
                <a:r>
                  <a:rPr lang="en-US" sz="2400" dirty="0"/>
                  <a:t>. </a:t>
                </a:r>
                <a:r>
                  <a:rPr lang="en-US" sz="2400" dirty="0" err="1"/>
                  <a:t>fiecare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individ</a:t>
                </a:r>
                <a:r>
                  <a:rPr lang="en-US" sz="2400" dirty="0"/>
                  <a:t> s</a:t>
                </a:r>
                <a:r>
                  <a:rPr lang="ro-RO" sz="2400" dirty="0"/>
                  <a:t>ă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aibe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aceea</a:t>
                </a:r>
                <a:r>
                  <a:rPr lang="ro-RO" sz="2400" dirty="0"/>
                  <a:t>ș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</a:t>
                </a:r>
                <a:r>
                  <a:rPr lang="ro-RO" sz="2400" dirty="0"/>
                  <a:t>ș</a:t>
                </a:r>
                <a:r>
                  <a:rPr lang="en-US" sz="2400" dirty="0" err="1"/>
                  <a:t>ans</a:t>
                </a:r>
                <a:r>
                  <a:rPr lang="ro-RO" sz="2400" dirty="0"/>
                  <a:t>ă</a:t>
                </a:r>
                <a:r>
                  <a:rPr lang="en-US" sz="2400" dirty="0"/>
                  <a:t> de a fi </a:t>
                </a:r>
                <a:r>
                  <a:rPr lang="en-US" sz="2400" dirty="0" err="1"/>
                  <a:t>generat</a:t>
                </a:r>
                <a:endParaRPr lang="en-US" sz="2400" dirty="0"/>
              </a:p>
              <a:p>
                <a:pPr>
                  <a:buFontTx/>
                  <a:buChar char="-"/>
                </a:pPr>
                <a:endParaRPr lang="en-US" sz="26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83490"/>
                <a:ext cx="10515600" cy="5726545"/>
              </a:xfrm>
              <a:blipFill>
                <a:blip r:embed="rId2"/>
                <a:stretch>
                  <a:fillRect l="-638" t="-2128" b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PROBLEMA COMIS VOIAJORULUI - TSP</a:t>
            </a:r>
          </a:p>
        </p:txBody>
      </p:sp>
      <p:sp>
        <p:nvSpPr>
          <p:cNvPr id="5" name="Line Callout 1 4"/>
          <p:cNvSpPr/>
          <p:nvPr/>
        </p:nvSpPr>
        <p:spPr>
          <a:xfrm>
            <a:off x="8358909" y="2004291"/>
            <a:ext cx="2004291" cy="544945"/>
          </a:xfrm>
          <a:prstGeom prst="borderCallout1">
            <a:avLst>
              <a:gd name="adj1" fmla="val 18750"/>
              <a:gd name="adj2" fmla="val -8333"/>
              <a:gd name="adj3" fmla="val 220975"/>
              <a:gd name="adj4" fmla="val -29724"/>
            </a:avLst>
          </a:prstGeom>
          <a:solidFill>
            <a:schemeClr val="bg2">
              <a:lumMod val="1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2000" dirty="0">
                <a:sym typeface="Wingdings" panose="05000000000000000000" pitchFamily="2" charset="2"/>
              </a:rPr>
              <a:t>funcție de minim</a:t>
            </a:r>
          </a:p>
          <a:p>
            <a:pPr algn="ctr"/>
            <a:endParaRPr lang="en-US" dirty="0"/>
          </a:p>
        </p:txBody>
      </p:sp>
      <p:sp>
        <p:nvSpPr>
          <p:cNvPr id="6" name="Line Callout 1 5"/>
          <p:cNvSpPr/>
          <p:nvPr/>
        </p:nvSpPr>
        <p:spPr>
          <a:xfrm>
            <a:off x="8224982" y="4091710"/>
            <a:ext cx="2036618" cy="872836"/>
          </a:xfrm>
          <a:prstGeom prst="borderCallout1">
            <a:avLst>
              <a:gd name="adj1" fmla="val 18750"/>
              <a:gd name="adj2" fmla="val -8333"/>
              <a:gd name="adj3" fmla="val -3247"/>
              <a:gd name="adj4" fmla="val -3809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2000" dirty="0">
                <a:sym typeface="Wingdings" panose="05000000000000000000" pitchFamily="2" charset="2"/>
              </a:rPr>
              <a:t>Funcția fitness</a:t>
            </a:r>
          </a:p>
          <a:p>
            <a:pPr algn="ctr"/>
            <a:r>
              <a:rPr lang="ro-RO" sz="2000" dirty="0">
                <a:sym typeface="Wingdings" panose="05000000000000000000" pitchFamily="2" charset="2"/>
              </a:rPr>
              <a:t>(de maxim)</a:t>
            </a:r>
          </a:p>
          <a:p>
            <a:pPr algn="ctr"/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155395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418" y="1012342"/>
            <a:ext cx="10515600" cy="4843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V. </a:t>
            </a:r>
            <a:r>
              <a:rPr lang="en-US" sz="2000" b="1" dirty="0" err="1"/>
              <a:t>Muta</a:t>
            </a:r>
            <a:r>
              <a:rPr lang="ro-RO" sz="2000" b="1" dirty="0"/>
              <a:t>ț</a:t>
            </a:r>
            <a:r>
              <a:rPr lang="en-US" sz="2000" b="1" dirty="0" err="1"/>
              <a:t>ia</a:t>
            </a:r>
            <a:endParaRPr lang="ro-RO" sz="2000" b="1" dirty="0"/>
          </a:p>
          <a:p>
            <a:pPr marL="0" indent="0">
              <a:buNone/>
            </a:pPr>
            <a:endParaRPr lang="en-US" sz="2000" b="1" dirty="0"/>
          </a:p>
          <a:p>
            <a:pPr>
              <a:buFontTx/>
              <a:buChar char="-"/>
            </a:pPr>
            <a:r>
              <a:rPr lang="en-US" sz="2000" dirty="0"/>
              <a:t>Cu </a:t>
            </a:r>
            <a:r>
              <a:rPr lang="en-US" sz="2000" dirty="0" err="1"/>
              <a:t>probabilitate</a:t>
            </a:r>
            <a:r>
              <a:rPr lang="en-US" sz="2000" dirty="0"/>
              <a:t> mic</a:t>
            </a:r>
            <a:r>
              <a:rPr lang="ro-RO" sz="2000" dirty="0"/>
              <a:t>ă</a:t>
            </a:r>
            <a:r>
              <a:rPr lang="en-US" sz="2000" dirty="0"/>
              <a:t>; pm = </a:t>
            </a:r>
            <a:r>
              <a:rPr lang="en-US" sz="2000" dirty="0" err="1"/>
              <a:t>probabilitatea</a:t>
            </a:r>
            <a:r>
              <a:rPr lang="en-US" sz="2000" dirty="0"/>
              <a:t> de </a:t>
            </a:r>
            <a:r>
              <a:rPr lang="en-US" sz="2000" dirty="0" err="1"/>
              <a:t>muta</a:t>
            </a:r>
            <a:r>
              <a:rPr lang="ro-RO" sz="2000" dirty="0"/>
              <a:t>ț</a:t>
            </a:r>
            <a:r>
              <a:rPr lang="en-US" sz="2000" dirty="0" err="1"/>
              <a:t>ie</a:t>
            </a:r>
            <a:endParaRPr lang="en-US" sz="2000" dirty="0"/>
          </a:p>
          <a:p>
            <a:pPr>
              <a:buFontTx/>
              <a:buChar char="-"/>
            </a:pPr>
            <a:r>
              <a:rPr lang="en-US" sz="2000" dirty="0" err="1">
                <a:sym typeface="Wingdings" panose="05000000000000000000" pitchFamily="2" charset="2"/>
              </a:rPr>
              <a:t>Problema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ro-RO" sz="2000" dirty="0">
                <a:sym typeface="Wingdings" panose="05000000000000000000" pitchFamily="2" charset="2"/>
              </a:rPr>
              <a:t>este </a:t>
            </a:r>
            <a:r>
              <a:rPr lang="en-US" sz="2000" dirty="0">
                <a:sym typeface="Wingdings" panose="05000000000000000000" pitchFamily="2" charset="2"/>
              </a:rPr>
              <a:t>cu </a:t>
            </a:r>
            <a:r>
              <a:rPr lang="en-US" sz="2000" dirty="0" err="1">
                <a:sym typeface="Wingdings" panose="05000000000000000000" pitchFamily="2" charset="2"/>
              </a:rPr>
              <a:t>reprezent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 err="1">
                <a:sym typeface="Wingdings" panose="05000000000000000000" pitchFamily="2" charset="2"/>
              </a:rPr>
              <a:t>ri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prin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permut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 err="1">
                <a:sym typeface="Wingdings" panose="05000000000000000000" pitchFamily="2" charset="2"/>
              </a:rPr>
              <a:t>ri</a:t>
            </a:r>
            <a:r>
              <a:rPr lang="en-US" sz="2000" dirty="0">
                <a:sym typeface="Wingdings" panose="05000000000000000000" pitchFamily="2" charset="2"/>
              </a:rPr>
              <a:t>  </a:t>
            </a:r>
            <a:r>
              <a:rPr lang="en-US" sz="2000" dirty="0" err="1">
                <a:sym typeface="Wingdings" panose="05000000000000000000" pitchFamily="2" charset="2"/>
              </a:rPr>
              <a:t>muta</a:t>
            </a:r>
            <a:r>
              <a:rPr lang="ro-RO" sz="2000" dirty="0">
                <a:sym typeface="Wingdings" panose="05000000000000000000" pitchFamily="2" charset="2"/>
              </a:rPr>
              <a:t>ț</a:t>
            </a:r>
            <a:r>
              <a:rPr lang="en-US" sz="2000" dirty="0" err="1">
                <a:sym typeface="Wingdings" panose="05000000000000000000" pitchFamily="2" charset="2"/>
              </a:rPr>
              <a:t>ia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este</a:t>
            </a:r>
            <a:r>
              <a:rPr lang="en-US" sz="2000" dirty="0">
                <a:sym typeface="Wingdings" panose="05000000000000000000" pitchFamily="2" charset="2"/>
              </a:rPr>
              <a:t> la </a:t>
            </a:r>
            <a:r>
              <a:rPr lang="en-US" sz="2000" dirty="0" err="1">
                <a:sym typeface="Wingdings" panose="05000000000000000000" pitchFamily="2" charset="2"/>
              </a:rPr>
              <a:t>nivel</a:t>
            </a:r>
            <a:r>
              <a:rPr lang="en-US" sz="2000" dirty="0">
                <a:sym typeface="Wingdings" panose="05000000000000000000" pitchFamily="2" charset="2"/>
              </a:rPr>
              <a:t> de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individ</a:t>
            </a:r>
            <a:endParaRPr lang="en-US" sz="20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endParaRPr lang="ro-RO" sz="20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Pm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=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k/Dim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ro-RO" sz="2000" dirty="0">
                <a:sym typeface="Wingdings" panose="05000000000000000000" pitchFamily="2" charset="2"/>
              </a:rPr>
              <a:t>î</a:t>
            </a:r>
            <a:r>
              <a:rPr lang="en-US" sz="2000" dirty="0">
                <a:sym typeface="Wingdings" panose="05000000000000000000" pitchFamily="2" charset="2"/>
              </a:rPr>
              <a:t>n </a:t>
            </a:r>
            <a:r>
              <a:rPr lang="en-US" sz="2000" dirty="0" err="1">
                <a:sym typeface="Wingdings" panose="05000000000000000000" pitchFamily="2" charset="2"/>
              </a:rPr>
              <a:t>medie</a:t>
            </a:r>
            <a:r>
              <a:rPr lang="en-US" sz="2000" dirty="0">
                <a:sym typeface="Wingdings" panose="05000000000000000000" pitchFamily="2" charset="2"/>
              </a:rPr>
              <a:t>, </a:t>
            </a:r>
            <a:r>
              <a:rPr lang="en-US" sz="2000" dirty="0" err="1">
                <a:sym typeface="Wingdings" panose="05000000000000000000" pitchFamily="2" charset="2"/>
              </a:rPr>
              <a:t>num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 err="1">
                <a:sym typeface="Wingdings" panose="05000000000000000000" pitchFamily="2" charset="2"/>
              </a:rPr>
              <a:t>rul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indivizilor</a:t>
            </a:r>
            <a:r>
              <a:rPr lang="en-US" sz="2000" dirty="0">
                <a:sym typeface="Wingdings" panose="05000000000000000000" pitchFamily="2" charset="2"/>
              </a:rPr>
              <a:t> care </a:t>
            </a:r>
            <a:r>
              <a:rPr lang="en-US" sz="2000" dirty="0" err="1">
                <a:sym typeface="Wingdings" panose="05000000000000000000" pitchFamily="2" charset="2"/>
              </a:rPr>
              <a:t>sufer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muta</a:t>
            </a:r>
            <a:r>
              <a:rPr lang="ro-RO" sz="2000" dirty="0">
                <a:sym typeface="Wingdings" panose="05000000000000000000" pitchFamily="2" charset="2"/>
              </a:rPr>
              <a:t>ț</a:t>
            </a:r>
            <a:r>
              <a:rPr lang="en-US" sz="2000" dirty="0" err="1">
                <a:sym typeface="Wingdings" panose="05000000000000000000" pitchFamily="2" charset="2"/>
              </a:rPr>
              <a:t>ie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este</a:t>
            </a:r>
            <a:r>
              <a:rPr lang="en-US" sz="2000" dirty="0">
                <a:sym typeface="Wingdings" panose="05000000000000000000" pitchFamily="2" charset="2"/>
              </a:rPr>
              <a:t> k</a:t>
            </a:r>
          </a:p>
          <a:p>
            <a:pPr>
              <a:buFontTx/>
              <a:buChar char="-"/>
            </a:pPr>
            <a:endParaRPr lang="ro-RO" sz="20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sz="2000" dirty="0">
                <a:sym typeface="Wingdings" panose="05000000000000000000" pitchFamily="2" charset="2"/>
              </a:rPr>
              <a:t>La </a:t>
            </a:r>
            <a:r>
              <a:rPr lang="en-US" sz="2000" dirty="0" err="1">
                <a:sym typeface="Wingdings" panose="05000000000000000000" pitchFamily="2" charset="2"/>
              </a:rPr>
              <a:t>nivelul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popula</a:t>
            </a:r>
            <a:r>
              <a:rPr lang="ro-RO" sz="2000" dirty="0">
                <a:sym typeface="Wingdings" panose="05000000000000000000" pitchFamily="2" charset="2"/>
              </a:rPr>
              <a:t>ț</a:t>
            </a:r>
            <a:r>
              <a:rPr lang="en-US" sz="2000" dirty="0" err="1">
                <a:sym typeface="Wingdings" panose="05000000000000000000" pitchFamily="2" charset="2"/>
              </a:rPr>
              <a:t>iei</a:t>
            </a:r>
            <a:r>
              <a:rPr lang="en-US" sz="2000" dirty="0">
                <a:sym typeface="Wingdings" panose="05000000000000000000" pitchFamily="2" charset="2"/>
              </a:rPr>
              <a:t> – 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schema general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ă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de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muta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ț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ie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pentru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probleme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f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ă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r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ă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constr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â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ngeri</a:t>
            </a:r>
            <a:r>
              <a:rPr lang="en-US" sz="2000" dirty="0">
                <a:sym typeface="Wingdings" panose="05000000000000000000" pitchFamily="2" charset="2"/>
              </a:rPr>
              <a:t>, </a:t>
            </a:r>
            <a:r>
              <a:rPr lang="ro-RO" sz="2000" dirty="0">
                <a:sym typeface="Wingdings" panose="05000000000000000000" pitchFamily="2" charset="2"/>
              </a:rPr>
              <a:t>reprezentarea prin </a:t>
            </a:r>
            <a:r>
              <a:rPr lang="en-US" sz="2000" dirty="0" err="1">
                <a:sym typeface="Wingdings" panose="05000000000000000000" pitchFamily="2" charset="2"/>
              </a:rPr>
              <a:t>permut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 err="1">
                <a:sym typeface="Wingdings" panose="05000000000000000000" pitchFamily="2" charset="2"/>
              </a:rPr>
              <a:t>ri</a:t>
            </a:r>
            <a:endParaRPr lang="en-US" sz="20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sz="2000" dirty="0">
                <a:sym typeface="Wingdings" panose="05000000000000000000" pitchFamily="2" charset="2"/>
              </a:rPr>
              <a:t>La </a:t>
            </a:r>
            <a:r>
              <a:rPr lang="en-US" sz="2000" dirty="0" err="1">
                <a:sym typeface="Wingdings" panose="05000000000000000000" pitchFamily="2" charset="2"/>
              </a:rPr>
              <a:t>nivel</a:t>
            </a:r>
            <a:r>
              <a:rPr lang="en-US" sz="2000" dirty="0">
                <a:sym typeface="Wingdings" panose="05000000000000000000" pitchFamily="2" charset="2"/>
              </a:rPr>
              <a:t> de </a:t>
            </a:r>
            <a:r>
              <a:rPr lang="en-US" sz="2000" dirty="0" err="1">
                <a:sym typeface="Wingdings" panose="05000000000000000000" pitchFamily="2" charset="2"/>
              </a:rPr>
              <a:t>individ</a:t>
            </a:r>
            <a:endParaRPr lang="en-US" sz="2000" dirty="0">
              <a:sym typeface="Wingdings" panose="05000000000000000000" pitchFamily="2" charset="2"/>
            </a:endParaRPr>
          </a:p>
          <a:p>
            <a:pPr lvl="1"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Problema este </a:t>
            </a:r>
            <a:r>
              <a:rPr lang="ro-RO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c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u </a:t>
            </a:r>
            <a:r>
              <a:rPr lang="en-US" sz="2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dependen</a:t>
            </a:r>
            <a:r>
              <a:rPr lang="ro-RO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ță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adiacen</a:t>
            </a:r>
            <a:r>
              <a:rPr lang="ro-RO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ță 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–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muta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ț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ia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prin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inversiune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PROBLEMA COMIS VOIAJORULUI - TSP</a:t>
            </a:r>
          </a:p>
        </p:txBody>
      </p:sp>
    </p:spTree>
    <p:extLst>
      <p:ext uri="{BB962C8B-B14F-4D97-AF65-F5344CB8AC3E}">
        <p14:creationId xmlns:p14="http://schemas.microsoft.com/office/powerpoint/2010/main" val="3936933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963" y="868219"/>
            <a:ext cx="10515600" cy="554889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VI. </a:t>
            </a:r>
            <a:r>
              <a:rPr lang="en-US" sz="2000" b="1" dirty="0" err="1"/>
              <a:t>Recombinarea</a:t>
            </a:r>
            <a:endParaRPr lang="en-US" sz="2000" b="1" dirty="0"/>
          </a:p>
          <a:p>
            <a:pPr>
              <a:buFontTx/>
              <a:buChar char="-"/>
            </a:pPr>
            <a:endParaRPr lang="ro-RO" altLang="en-US" sz="2000" dirty="0"/>
          </a:p>
          <a:p>
            <a:pPr>
              <a:buFontTx/>
              <a:buChar char="-"/>
            </a:pPr>
            <a:r>
              <a:rPr lang="en-US" altLang="en-US" sz="2000" dirty="0"/>
              <a:t>Cu </a:t>
            </a:r>
            <a:r>
              <a:rPr lang="en-US" altLang="en-US" sz="2000" dirty="0" err="1"/>
              <a:t>probabilitate</a:t>
            </a:r>
            <a:r>
              <a:rPr lang="en-US" altLang="en-US" sz="2000" dirty="0"/>
              <a:t> </a:t>
            </a:r>
            <a:r>
              <a:rPr lang="ro-RO" altLang="en-US" sz="2000" dirty="0"/>
              <a:t>mare</a:t>
            </a:r>
            <a:r>
              <a:rPr lang="en-US" altLang="en-US" sz="2000" dirty="0"/>
              <a:t>;</a:t>
            </a:r>
            <a:r>
              <a:rPr lang="ro-RO" altLang="en-US" sz="2000" dirty="0"/>
              <a:t> p</a:t>
            </a:r>
            <a:r>
              <a:rPr lang="en-US" altLang="en-US" sz="2000" dirty="0"/>
              <a:t>c </a:t>
            </a:r>
            <a:r>
              <a:rPr lang="ro-RO" altLang="en-US" sz="2000" dirty="0"/>
              <a:t>=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probabilitatea</a:t>
            </a:r>
            <a:r>
              <a:rPr lang="en-US" altLang="en-US" sz="2000" dirty="0"/>
              <a:t> de crossover </a:t>
            </a:r>
            <a:r>
              <a:rPr lang="ro-RO" altLang="en-US" sz="2000" dirty="0"/>
              <a:t>(</a:t>
            </a:r>
            <a:r>
              <a:rPr lang="en-US" altLang="en-US" sz="2000" dirty="0"/>
              <a:t> 0.6,0.7…</a:t>
            </a:r>
            <a:r>
              <a:rPr lang="ro-RO" altLang="en-US" sz="2000" dirty="0"/>
              <a:t>)</a:t>
            </a:r>
          </a:p>
          <a:p>
            <a:pPr>
              <a:buFontTx/>
              <a:buChar char="-"/>
            </a:pPr>
            <a:r>
              <a:rPr lang="ro-RO" altLang="en-US" sz="2000" dirty="0"/>
              <a:t>Modelul generațional </a:t>
            </a:r>
            <a:r>
              <a:rPr lang="en-US" altLang="en-US" sz="2000" dirty="0">
                <a:sym typeface="Wingdings" panose="05000000000000000000" pitchFamily="2" charset="2"/>
              </a:rPr>
              <a:t> </a:t>
            </a:r>
            <a:r>
              <a:rPr lang="ro-RO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trebuie asigurată generarea a </a:t>
            </a:r>
            <a:r>
              <a:rPr lang="en-US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dim </a:t>
            </a:r>
            <a:r>
              <a:rPr lang="en-US" alt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copii</a:t>
            </a:r>
            <a:endParaRPr lang="ro-RO" altLang="en-US" sz="20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altLang="en-US" sz="2000" dirty="0"/>
              <a:t>dim p</a:t>
            </a:r>
            <a:r>
              <a:rPr lang="ro-RO" altLang="en-US" sz="2000" dirty="0"/>
              <a:t>ă</a:t>
            </a:r>
            <a:r>
              <a:rPr lang="en-US" altLang="en-US" sz="2000" dirty="0" err="1"/>
              <a:t>rin</a:t>
            </a:r>
            <a:r>
              <a:rPr lang="ro-RO" altLang="en-US" sz="2000" dirty="0"/>
              <a:t>ț</a:t>
            </a:r>
            <a:r>
              <a:rPr lang="en-US" altLang="en-US" sz="2000" dirty="0" err="1"/>
              <a:t>i</a:t>
            </a:r>
            <a:r>
              <a:rPr lang="en-US" altLang="en-US" sz="2000" dirty="0" err="1">
                <a:sym typeface="Wingdings" panose="05000000000000000000" pitchFamily="2" charset="2"/>
              </a:rPr>
              <a:t>dim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ym typeface="Wingdings" panose="05000000000000000000" pitchFamily="2" charset="2"/>
              </a:rPr>
              <a:t>copii</a:t>
            </a:r>
            <a:r>
              <a:rPr lang="en-US" altLang="en-US" sz="2000" dirty="0">
                <a:sym typeface="Wingdings" panose="05000000000000000000" pitchFamily="2" charset="2"/>
              </a:rPr>
              <a:t> (cu </a:t>
            </a:r>
            <a:r>
              <a:rPr lang="en-US" altLang="en-US" sz="2000" dirty="0" err="1">
                <a:sym typeface="Wingdings" panose="05000000000000000000" pitchFamily="2" charset="2"/>
              </a:rPr>
              <a:t>probabilitatea</a:t>
            </a:r>
            <a:r>
              <a:rPr lang="en-US" altLang="en-US" sz="2000" dirty="0">
                <a:sym typeface="Wingdings" panose="05000000000000000000" pitchFamily="2" charset="2"/>
              </a:rPr>
              <a:t> pc </a:t>
            </a:r>
            <a:r>
              <a:rPr lang="ro-RO" altLang="en-US" sz="2000" dirty="0">
                <a:sym typeface="Wingdings" panose="05000000000000000000" pitchFamily="2" charset="2"/>
              </a:rPr>
              <a:t>indivizii rezultați </a:t>
            </a:r>
            <a:r>
              <a:rPr lang="en-US" altLang="en-US" sz="2000" dirty="0" err="1">
                <a:sym typeface="Wingdings" panose="05000000000000000000" pitchFamily="2" charset="2"/>
              </a:rPr>
              <a:t>sunt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ym typeface="Wingdings" panose="05000000000000000000" pitchFamily="2" charset="2"/>
              </a:rPr>
              <a:t>noi</a:t>
            </a:r>
            <a:r>
              <a:rPr lang="en-US" altLang="en-US" sz="2000" dirty="0">
                <a:sym typeface="Wingdings" panose="05000000000000000000" pitchFamily="2" charset="2"/>
              </a:rPr>
              <a:t>, </a:t>
            </a:r>
            <a:r>
              <a:rPr lang="en-US" altLang="en-US" sz="2000" dirty="0" err="1">
                <a:sym typeface="Wingdings" panose="05000000000000000000" pitchFamily="2" charset="2"/>
              </a:rPr>
              <a:t>restul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ro-RO" altLang="en-US" sz="2000" dirty="0">
                <a:sym typeface="Wingdings" panose="05000000000000000000" pitchFamily="2" charset="2"/>
              </a:rPr>
              <a:t>sunt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ro-RO" altLang="en-US" sz="2000" dirty="0">
                <a:sym typeface="Wingdings" panose="05000000000000000000" pitchFamily="2" charset="2"/>
              </a:rPr>
              <a:t>chiar din populația de părinți, prin recombinare asexuată</a:t>
            </a:r>
            <a:r>
              <a:rPr lang="en-US" altLang="en-US" sz="2000" dirty="0"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endParaRPr lang="ro-RO" altLang="en-US" sz="20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S</a:t>
            </a:r>
            <a:r>
              <a:rPr lang="en-US" altLang="en-US" sz="2000" dirty="0" err="1">
                <a:sym typeface="Wingdings" panose="05000000000000000000" pitchFamily="2" charset="2"/>
              </a:rPr>
              <a:t>chema</a:t>
            </a:r>
            <a:r>
              <a:rPr lang="en-US" altLang="en-US" sz="2000" dirty="0">
                <a:sym typeface="Wingdings" panose="05000000000000000000" pitchFamily="2" charset="2"/>
              </a:rPr>
              <a:t> general</a:t>
            </a:r>
            <a:r>
              <a:rPr lang="ro-RO" altLang="en-US" sz="2000" dirty="0">
                <a:sym typeface="Wingdings" panose="05000000000000000000" pitchFamily="2" charset="2"/>
              </a:rPr>
              <a:t>ă</a:t>
            </a:r>
            <a:r>
              <a:rPr lang="en-US" altLang="en-US" sz="2000" dirty="0">
                <a:sym typeface="Wingdings" panose="05000000000000000000" pitchFamily="2" charset="2"/>
              </a:rPr>
              <a:t> la </a:t>
            </a:r>
            <a:r>
              <a:rPr lang="en-US" altLang="en-US" sz="2000" dirty="0" err="1">
                <a:sym typeface="Wingdings" panose="05000000000000000000" pitchFamily="2" charset="2"/>
              </a:rPr>
              <a:t>nivel</a:t>
            </a:r>
            <a:r>
              <a:rPr lang="en-US" altLang="en-US" sz="2000" dirty="0">
                <a:sym typeface="Wingdings" panose="05000000000000000000" pitchFamily="2" charset="2"/>
              </a:rPr>
              <a:t> de </a:t>
            </a:r>
            <a:r>
              <a:rPr lang="en-US" altLang="en-US" sz="2000" dirty="0" err="1">
                <a:sym typeface="Wingdings" panose="05000000000000000000" pitchFamily="2" charset="2"/>
              </a:rPr>
              <a:t>populatie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ro-RO" altLang="en-US" sz="2000" dirty="0"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ym typeface="Wingdings" panose="05000000000000000000" pitchFamily="2" charset="2"/>
              </a:rPr>
              <a:t>pentru</a:t>
            </a:r>
            <a:r>
              <a:rPr lang="en-US" altLang="en-US" sz="2000" dirty="0">
                <a:sym typeface="Wingdings" panose="05000000000000000000" pitchFamily="2" charset="2"/>
              </a:rPr>
              <a:t> problem</a:t>
            </a:r>
            <a:r>
              <a:rPr lang="ro-RO" altLang="en-US" sz="2000" dirty="0">
                <a:sym typeface="Wingdings" panose="05000000000000000000" pitchFamily="2" charset="2"/>
              </a:rPr>
              <a:t>e</a:t>
            </a:r>
            <a:r>
              <a:rPr lang="en-US" altLang="en-US" sz="2000" dirty="0">
                <a:sym typeface="Wingdings" panose="05000000000000000000" pitchFamily="2" charset="2"/>
              </a:rPr>
              <a:t> f</a:t>
            </a:r>
            <a:r>
              <a:rPr lang="ro-RO" altLang="en-US" sz="2000" dirty="0">
                <a:sym typeface="Wingdings" panose="05000000000000000000" pitchFamily="2" charset="2"/>
              </a:rPr>
              <a:t>ă</a:t>
            </a:r>
            <a:r>
              <a:rPr lang="en-US" altLang="en-US" sz="2000" dirty="0">
                <a:sym typeface="Wingdings" panose="05000000000000000000" pitchFamily="2" charset="2"/>
              </a:rPr>
              <a:t>r</a:t>
            </a:r>
            <a:r>
              <a:rPr lang="ro-RO" altLang="en-US" sz="2000" dirty="0">
                <a:sym typeface="Wingdings" panose="05000000000000000000" pitchFamily="2" charset="2"/>
              </a:rPr>
              <a:t>ă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ym typeface="Wingdings" panose="05000000000000000000" pitchFamily="2" charset="2"/>
              </a:rPr>
              <a:t>constr</a:t>
            </a:r>
            <a:r>
              <a:rPr lang="ro-RO" altLang="en-US" sz="2000" dirty="0">
                <a:sym typeface="Wingdings" panose="05000000000000000000" pitchFamily="2" charset="2"/>
              </a:rPr>
              <a:t>â</a:t>
            </a:r>
            <a:r>
              <a:rPr lang="en-US" altLang="en-US" sz="2000" dirty="0" err="1">
                <a:sym typeface="Wingdings" panose="05000000000000000000" pitchFamily="2" charset="2"/>
              </a:rPr>
              <a:t>ngeri</a:t>
            </a:r>
            <a:endParaRPr lang="en-US" altLang="en-US" sz="20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altLang="en-US" sz="2000" dirty="0" err="1">
                <a:sym typeface="Wingdings" panose="05000000000000000000" pitchFamily="2" charset="2"/>
              </a:rPr>
              <a:t>Operatorul</a:t>
            </a:r>
            <a:r>
              <a:rPr lang="en-US" altLang="en-US" sz="2000" dirty="0">
                <a:sym typeface="Wingdings" panose="05000000000000000000" pitchFamily="2" charset="2"/>
              </a:rPr>
              <a:t> particular </a:t>
            </a:r>
            <a:r>
              <a:rPr lang="en-US" altLang="en-US" sz="2000" dirty="0" err="1">
                <a:sym typeface="Wingdings" panose="05000000000000000000" pitchFamily="2" charset="2"/>
              </a:rPr>
              <a:t>utilizat</a:t>
            </a:r>
            <a:r>
              <a:rPr lang="ro-RO" altLang="en-US" sz="2000" dirty="0">
                <a:sym typeface="Wingdings" panose="05000000000000000000" pitchFamily="2" charset="2"/>
              </a:rPr>
              <a:t>, ales pentru </a:t>
            </a:r>
            <a:r>
              <a:rPr lang="ro-RO" altLang="en-US" sz="2000" b="1" dirty="0">
                <a:sym typeface="Wingdings" panose="05000000000000000000" pitchFamily="2" charset="2"/>
              </a:rPr>
              <a:t>probleme </a:t>
            </a:r>
            <a:r>
              <a:rPr lang="en-US" altLang="en-US" sz="2000" b="1" dirty="0">
                <a:sym typeface="Wingdings" panose="05000000000000000000" pitchFamily="2" charset="2"/>
              </a:rPr>
              <a:t>cu </a:t>
            </a:r>
            <a:r>
              <a:rPr lang="en-US" altLang="en-US" sz="2000" b="1" dirty="0" err="1">
                <a:sym typeface="Wingdings" panose="05000000000000000000" pitchFamily="2" charset="2"/>
              </a:rPr>
              <a:t>dependen</a:t>
            </a:r>
            <a:r>
              <a:rPr lang="ro-RO" altLang="en-US" sz="2000" b="1" dirty="0">
                <a:sym typeface="Wingdings" panose="05000000000000000000" pitchFamily="2" charset="2"/>
              </a:rPr>
              <a:t>ță de adiacență</a:t>
            </a:r>
            <a:r>
              <a:rPr lang="en-US" altLang="en-US" sz="2000" dirty="0">
                <a:sym typeface="Wingdings" panose="05000000000000000000" pitchFamily="2" charset="2"/>
              </a:rPr>
              <a:t> – </a:t>
            </a:r>
            <a:r>
              <a:rPr lang="ro-RO" altLang="en-US" sz="2000" b="1" dirty="0">
                <a:sym typeface="Wingdings" panose="05000000000000000000" pitchFamily="2" charset="2"/>
              </a:rPr>
              <a:t>PMX</a:t>
            </a:r>
            <a:r>
              <a:rPr lang="en-US" altLang="en-US" sz="2000" b="1" dirty="0">
                <a:sym typeface="Wingdings" panose="05000000000000000000" pitchFamily="2" charset="2"/>
              </a:rPr>
              <a:t> </a:t>
            </a:r>
            <a:r>
              <a:rPr lang="en-US" altLang="en-US" sz="2000" dirty="0">
                <a:sym typeface="Wingdings" panose="05000000000000000000" pitchFamily="2" charset="2"/>
              </a:rPr>
              <a:t>(</a:t>
            </a:r>
            <a:r>
              <a:rPr lang="ro-RO" altLang="en-US" sz="2000" dirty="0">
                <a:sym typeface="Wingdings" panose="05000000000000000000" pitchFamily="2" charset="2"/>
              </a:rPr>
              <a:t>Partially Mapped Crossover</a:t>
            </a:r>
            <a:r>
              <a:rPr lang="en-US" altLang="en-US" sz="2000" dirty="0">
                <a:sym typeface="Wingdings" panose="05000000000000000000" pitchFamily="2" charset="2"/>
              </a:rPr>
              <a:t>)</a:t>
            </a:r>
            <a:endParaRPr lang="ro-RO" altLang="en-US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PROBLEMA COMIS VOIAJORULUI - TSP</a:t>
            </a:r>
          </a:p>
        </p:txBody>
      </p:sp>
    </p:spTree>
    <p:extLst>
      <p:ext uri="{BB962C8B-B14F-4D97-AF65-F5344CB8AC3E}">
        <p14:creationId xmlns:p14="http://schemas.microsoft.com/office/powerpoint/2010/main" val="307419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28073"/>
            <a:ext cx="10515600" cy="554889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o-RO" sz="2000" dirty="0"/>
          </a:p>
          <a:p>
            <a:pPr marL="0" indent="0">
              <a:buNone/>
            </a:pPr>
            <a:r>
              <a:rPr lang="en-US" sz="2000" b="1" dirty="0"/>
              <a:t>V</a:t>
            </a:r>
            <a:r>
              <a:rPr lang="ro-RO" sz="2000" b="1" dirty="0"/>
              <a:t>I</a:t>
            </a:r>
            <a:r>
              <a:rPr lang="en-US" sz="2000" b="1" dirty="0"/>
              <a:t>I. </a:t>
            </a:r>
            <a:r>
              <a:rPr lang="ro-RO" sz="2000" b="1" dirty="0"/>
              <a:t>Selecția părinților  </a:t>
            </a:r>
            <a:endParaRPr lang="en-US" sz="2000" b="1" dirty="0"/>
          </a:p>
          <a:p>
            <a:pPr lvl="1" algn="just">
              <a:buFontTx/>
              <a:buChar char="-"/>
            </a:pPr>
            <a:r>
              <a:rPr lang="ro-RO" altLang="en-US" sz="2000" dirty="0"/>
              <a:t>Numărul părinților – bazat pe model (dim)</a:t>
            </a:r>
          </a:p>
          <a:p>
            <a:pPr lvl="1" algn="just">
              <a:buFontTx/>
              <a:buChar char="-"/>
            </a:pPr>
            <a:r>
              <a:rPr lang="ro-RO" sz="2000" dirty="0"/>
              <a:t>Funcția fitness este </a:t>
            </a:r>
            <a:r>
              <a:rPr lang="ro-RO" sz="2000" dirty="0">
                <a:solidFill>
                  <a:srgbClr val="FF0000"/>
                </a:solidFill>
              </a:rPr>
              <a:t>pozitivă</a:t>
            </a:r>
            <a:r>
              <a:rPr lang="ro-RO" sz="2000" dirty="0"/>
              <a:t> </a:t>
            </a:r>
            <a:r>
              <a:rPr lang="ro-RO" sz="2000" dirty="0">
                <a:sym typeface="Wingdings" panose="05000000000000000000" pitchFamily="2" charset="2"/>
              </a:rPr>
              <a:t>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poate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fi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utilizat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ă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orice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probabilitate de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selec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ție </a:t>
            </a:r>
            <a:r>
              <a:rPr lang="ro-RO" sz="2000" dirty="0">
                <a:sym typeface="Wingdings" panose="05000000000000000000" pitchFamily="2" charset="2"/>
              </a:rPr>
              <a:t>(de tip FPS sau rang) simulată cu mecanismul SUS (de preferat) sau ruletă</a:t>
            </a:r>
          </a:p>
          <a:p>
            <a:pPr lvl="1" algn="just"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Alegerile făcute – </a:t>
            </a:r>
            <a:r>
              <a:rPr lang="ro-RO" sz="2000" b="1" dirty="0">
                <a:sym typeface="Wingdings" panose="05000000000000000000" pitchFamily="2" charset="2"/>
              </a:rPr>
              <a:t>FPS cu sigma scalare și SUS</a:t>
            </a:r>
          </a:p>
          <a:p>
            <a:pPr lvl="1" algn="just">
              <a:buFontTx/>
              <a:buChar char="-"/>
            </a:pPr>
            <a:endParaRPr lang="ro-RO" sz="2000" b="1" dirty="0">
              <a:sym typeface="Wingdings" panose="05000000000000000000" pitchFamily="2" charset="2"/>
            </a:endParaRPr>
          </a:p>
          <a:p>
            <a:pPr lvl="1" algn="just">
              <a:buFontTx/>
              <a:buChar char="-"/>
            </a:pPr>
            <a:endParaRPr lang="ro-RO" sz="20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b="1" dirty="0"/>
              <a:t>V</a:t>
            </a:r>
            <a:r>
              <a:rPr lang="ro-RO" sz="2000" b="1" dirty="0"/>
              <a:t>II</a:t>
            </a:r>
            <a:r>
              <a:rPr lang="en-US" sz="2000" b="1" dirty="0"/>
              <a:t>I. </a:t>
            </a:r>
            <a:r>
              <a:rPr lang="ro-RO" sz="2000" b="1" dirty="0"/>
              <a:t>Înlocuirea populație curente (selecția generației următoare)</a:t>
            </a:r>
          </a:p>
          <a:p>
            <a:pPr lvl="1" algn="just">
              <a:buFontTx/>
              <a:buChar char="-"/>
            </a:pPr>
            <a:r>
              <a:rPr lang="ro-RO" altLang="en-US" sz="2000" dirty="0"/>
              <a:t>Mecanismul de înlocuire – bazat pe model </a:t>
            </a:r>
          </a:p>
          <a:p>
            <a:pPr lvl="1" algn="just">
              <a:buFontTx/>
              <a:buChar char="-"/>
            </a:pPr>
            <a:r>
              <a:rPr lang="ro-RO" altLang="en-US" sz="2000" dirty="0"/>
              <a:t>Sunt propagați toți copiii, cu excepția situației în care cel mai bun individ </a:t>
            </a:r>
            <a:r>
              <a:rPr lang="en-US" altLang="en-US" sz="2000" dirty="0"/>
              <a:t>“</a:t>
            </a:r>
            <a:r>
              <a:rPr lang="en-US" altLang="en-US" sz="2000" dirty="0" err="1"/>
              <a:t>vechi</a:t>
            </a:r>
            <a:r>
              <a:rPr lang="en-US" altLang="en-US" sz="2000" dirty="0"/>
              <a:t>” (</a:t>
            </a:r>
            <a:r>
              <a:rPr lang="ro-RO" altLang="en-US" sz="2000" dirty="0"/>
              <a:t>din generația curentă) este mai bun decât toți indivizii noi </a:t>
            </a:r>
            <a:r>
              <a:rPr lang="ro-RO" altLang="en-US" sz="2000" dirty="0"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b="1" dirty="0">
                <a:sym typeface="Wingdings" panose="05000000000000000000" pitchFamily="2" charset="2"/>
              </a:rPr>
              <a:t>elitism</a:t>
            </a:r>
          </a:p>
          <a:p>
            <a:pPr marL="457200" lvl="1" indent="0" algn="just">
              <a:buNone/>
            </a:pPr>
            <a:endParaRPr lang="en-US" sz="2000" b="1" dirty="0">
              <a:sym typeface="Wingdings" panose="05000000000000000000" pitchFamily="2" charset="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PROBLEMA COMIS VOIAJORULUI - TSP</a:t>
            </a:r>
          </a:p>
        </p:txBody>
      </p:sp>
    </p:spTree>
    <p:extLst>
      <p:ext uri="{BB962C8B-B14F-4D97-AF65-F5344CB8AC3E}">
        <p14:creationId xmlns:p14="http://schemas.microsoft.com/office/powerpoint/2010/main" val="372496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7527"/>
            <a:ext cx="10515600" cy="51794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IX. Condi</a:t>
            </a:r>
            <a:r>
              <a:rPr lang="ro-RO" sz="2000" b="1" dirty="0"/>
              <a:t>ția de continuare a căutării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Nu am depășit NMAX  cicluri evolutive (iterații)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Populația are măcar 2 indivizi cu calități diferite  (variabilitatea nu este nulă)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Pe parcursul ultimelor K cicluri evolutive s-a schimbat măcar o dată calitatea cea mai bună 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În rezolvare, k =NMAX/3</a:t>
            </a:r>
            <a:endParaRPr lang="en-US" altLang="en-US" sz="2000" dirty="0">
              <a:sym typeface="Wingdings" panose="05000000000000000000" pitchFamily="2" charset="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3636" y="212436"/>
            <a:ext cx="1032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PROBLEMA COMIS VOIAJORULUI - TSP</a:t>
            </a:r>
          </a:p>
        </p:txBody>
      </p:sp>
    </p:spTree>
    <p:extLst>
      <p:ext uri="{BB962C8B-B14F-4D97-AF65-F5344CB8AC3E}">
        <p14:creationId xmlns:p14="http://schemas.microsoft.com/office/powerpoint/2010/main" val="2532451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621</Words>
  <Application>Microsoft Office PowerPoint</Application>
  <PresentationFormat>Widescreen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Vera</dc:creator>
  <cp:lastModifiedBy>Catalina</cp:lastModifiedBy>
  <cp:revision>24</cp:revision>
  <dcterms:created xsi:type="dcterms:W3CDTF">2020-03-19T11:04:16Z</dcterms:created>
  <dcterms:modified xsi:type="dcterms:W3CDTF">2026-04-09T07:14:28Z</dcterms:modified>
</cp:coreProperties>
</file>